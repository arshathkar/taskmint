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66" r:id="rId2"/>
    <p:sldId id="257" r:id="rId3"/>
    <p:sldId id="258" r:id="rId4"/>
    <p:sldId id="268" r:id="rId5"/>
    <p:sldId id="269" r:id="rId6"/>
    <p:sldId id="260" r:id="rId7"/>
    <p:sldId id="270" r:id="rId8"/>
    <p:sldId id="273" r:id="rId9"/>
    <p:sldId id="271" r:id="rId10"/>
    <p:sldId id="272" r:id="rId11"/>
    <p:sldId id="274" r:id="rId12"/>
    <p:sldId id="275" r:id="rId13"/>
    <p:sldId id="276" r:id="rId14"/>
    <p:sldId id="277" r:id="rId15"/>
    <p:sldId id="278" r:id="rId16"/>
    <p:sldId id="265" r:id="rId17"/>
  </p:sldIdLst>
  <p:sldSz cx="12192000" cy="6858000"/>
  <p:notesSz cx="6858000" cy="9144000"/>
  <p:embeddedFontLst>
    <p:embeddedFont>
      <p:font typeface="Arial Narrow" panose="020B0606020202030204" pitchFamily="34"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jASStqOgP2U49tSyxZ68rTzgJHZ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812BEC-D67D-446D-BE6E-132BB6EC6444}">
  <a:tblStyle styleId="{70812BEC-D67D-446D-BE6E-132BB6EC644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7D58CF-0465-484B-BF5B-7850D73DC892}"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IN"/>
        </a:p>
      </dgm:t>
    </dgm:pt>
    <dgm:pt modelId="{433C0C90-C7AA-4A52-BFED-D3459206C6E0}">
      <dgm:prSet phldrT="[Text]" custT="1"/>
      <dgm:spPr/>
      <dgm:t>
        <a:bodyPr/>
        <a:lstStyle/>
        <a:p>
          <a:pPr>
            <a:buNone/>
          </a:pPr>
          <a:r>
            <a:rPr lang="en-US" sz="1400" b="1" i="0" dirty="0">
              <a:latin typeface="Times New Roman" panose="02020603050405020304" pitchFamily="18" charset="0"/>
              <a:cs typeface="Times New Roman" panose="02020603050405020304" pitchFamily="18" charset="0"/>
            </a:rPr>
            <a:t>Step 1: Order Received</a:t>
          </a:r>
          <a:r>
            <a:rPr lang="en-US" sz="1400" b="0" i="0" dirty="0">
              <a:latin typeface="Times New Roman" panose="02020603050405020304" pitchFamily="18" charset="0"/>
              <a:cs typeface="Times New Roman" panose="02020603050405020304" pitchFamily="18" charset="0"/>
            </a:rPr>
            <a:t> → Customer places order via phone/WhatsApp/walk-in → Seller enters order details in app</a:t>
          </a:r>
          <a:endParaRPr lang="en-IN" sz="1400" dirty="0">
            <a:latin typeface="Times New Roman" panose="02020603050405020304" pitchFamily="18" charset="0"/>
            <a:cs typeface="Times New Roman" panose="02020603050405020304" pitchFamily="18" charset="0"/>
          </a:endParaRPr>
        </a:p>
      </dgm:t>
    </dgm:pt>
    <dgm:pt modelId="{2262D92E-DBC4-4D30-947C-224885BA7CA6}" type="parTrans" cxnId="{98AC6655-089E-4F0B-AFDB-4A44565C6E59}">
      <dgm:prSet/>
      <dgm:spPr/>
      <dgm:t>
        <a:bodyPr/>
        <a:lstStyle/>
        <a:p>
          <a:endParaRPr lang="en-IN"/>
        </a:p>
      </dgm:t>
    </dgm:pt>
    <dgm:pt modelId="{4257DFDE-0654-4454-9042-D6CE3CC12D91}" type="sibTrans" cxnId="{98AC6655-089E-4F0B-AFDB-4A44565C6E59}">
      <dgm:prSet/>
      <dgm:spPr/>
      <dgm:t>
        <a:bodyPr/>
        <a:lstStyle/>
        <a:p>
          <a:endParaRPr lang="en-IN"/>
        </a:p>
      </dgm:t>
    </dgm:pt>
    <dgm:pt modelId="{F97F20D4-1AF7-4A72-B030-2B691840ED14}">
      <dgm:prSet phldrT="[Text]" custT="1"/>
      <dgm:spPr/>
      <dgm:t>
        <a:bodyPr/>
        <a:lstStyle/>
        <a:p>
          <a:pPr>
            <a:buNone/>
          </a:pPr>
          <a:r>
            <a:rPr lang="en-US" sz="1400" b="1" i="0" dirty="0">
              <a:latin typeface="Times New Roman" panose="02020603050405020304" pitchFamily="18" charset="0"/>
              <a:cs typeface="Times New Roman" panose="02020603050405020304" pitchFamily="18" charset="0"/>
            </a:rPr>
            <a:t>Step 2: Auto Processing</a:t>
          </a:r>
          <a:r>
            <a:rPr lang="en-US" sz="1400" b="0" i="0" dirty="0">
              <a:latin typeface="Times New Roman" panose="02020603050405020304" pitchFamily="18" charset="0"/>
              <a:cs typeface="Times New Roman" panose="02020603050405020304" pitchFamily="18" charset="0"/>
            </a:rPr>
            <a:t> → Inventory automatically updated </a:t>
          </a:r>
        </a:p>
        <a:p>
          <a:pPr>
            <a:buNone/>
          </a:pPr>
          <a:r>
            <a:rPr lang="en-US" sz="1400" b="0" i="0" dirty="0">
              <a:latin typeface="Times New Roman" panose="02020603050405020304" pitchFamily="18" charset="0"/>
              <a:cs typeface="Times New Roman" panose="02020603050405020304" pitchFamily="18" charset="0"/>
            </a:rPr>
            <a:t>→ Stock deducted from available quantity </a:t>
          </a:r>
        </a:p>
        <a:p>
          <a:pPr>
            <a:buNone/>
          </a:pPr>
          <a:r>
            <a:rPr lang="en-US" sz="1400" b="0" i="0" dirty="0">
              <a:latin typeface="Times New Roman" panose="02020603050405020304" pitchFamily="18" charset="0"/>
              <a:cs typeface="Times New Roman" panose="02020603050405020304" pitchFamily="18" charset="0"/>
            </a:rPr>
            <a:t>→ Low-stock alert triggered if needed</a:t>
          </a:r>
          <a:endParaRPr lang="en-IN" sz="1400" dirty="0">
            <a:latin typeface="Times New Roman" panose="02020603050405020304" pitchFamily="18" charset="0"/>
            <a:cs typeface="Times New Roman" panose="02020603050405020304" pitchFamily="18" charset="0"/>
          </a:endParaRPr>
        </a:p>
      </dgm:t>
    </dgm:pt>
    <dgm:pt modelId="{7B77FAAD-8A59-4449-A2F4-3421DF7B4A89}" type="parTrans" cxnId="{86711817-CF0D-4DB4-A879-E4C474A6CB96}">
      <dgm:prSet/>
      <dgm:spPr/>
      <dgm:t>
        <a:bodyPr/>
        <a:lstStyle/>
        <a:p>
          <a:endParaRPr lang="en-IN"/>
        </a:p>
      </dgm:t>
    </dgm:pt>
    <dgm:pt modelId="{3E389674-6CAD-4F84-9492-CBF19CB55F95}" type="sibTrans" cxnId="{86711817-CF0D-4DB4-A879-E4C474A6CB96}">
      <dgm:prSet/>
      <dgm:spPr/>
      <dgm:t>
        <a:bodyPr/>
        <a:lstStyle/>
        <a:p>
          <a:endParaRPr lang="en-IN"/>
        </a:p>
      </dgm:t>
    </dgm:pt>
    <dgm:pt modelId="{158EDC50-9F7D-499A-A7A4-D00FD3E41B95}">
      <dgm:prSet phldrT="[Text]" custT="1"/>
      <dgm:spPr/>
      <dgm:t>
        <a:bodyPr/>
        <a:lstStyle/>
        <a:p>
          <a:pPr>
            <a:buNone/>
          </a:pPr>
          <a:r>
            <a:rPr lang="en-US" sz="1400" b="1" i="0" dirty="0">
              <a:latin typeface="Times New Roman" panose="02020603050405020304" pitchFamily="18" charset="0"/>
              <a:cs typeface="Times New Roman" panose="02020603050405020304" pitchFamily="18" charset="0"/>
            </a:rPr>
            <a:t>Step 3: Invoice &amp; Payment</a:t>
          </a:r>
        </a:p>
        <a:p>
          <a:pPr>
            <a:buNone/>
          </a:pPr>
          <a:r>
            <a:rPr lang="en-US" sz="1400" b="0" i="0" dirty="0">
              <a:latin typeface="Times New Roman" panose="02020603050405020304" pitchFamily="18" charset="0"/>
              <a:cs typeface="Times New Roman" panose="02020603050405020304" pitchFamily="18" charset="0"/>
            </a:rPr>
            <a:t> → GST invoice auto-generated (PDF)</a:t>
          </a:r>
          <a:endParaRPr lang="en-IN" sz="1400" dirty="0">
            <a:latin typeface="Times New Roman" panose="02020603050405020304" pitchFamily="18" charset="0"/>
            <a:cs typeface="Times New Roman" panose="02020603050405020304" pitchFamily="18" charset="0"/>
          </a:endParaRPr>
        </a:p>
      </dgm:t>
    </dgm:pt>
    <dgm:pt modelId="{45412611-513E-4166-82E2-165F528FE692}" type="parTrans" cxnId="{F2BFFE59-3EB5-4D78-B713-30D5F6AA3826}">
      <dgm:prSet/>
      <dgm:spPr/>
      <dgm:t>
        <a:bodyPr/>
        <a:lstStyle/>
        <a:p>
          <a:endParaRPr lang="en-IN"/>
        </a:p>
      </dgm:t>
    </dgm:pt>
    <dgm:pt modelId="{F3583A17-720F-4EE0-85FC-FC301C95E2E7}" type="sibTrans" cxnId="{F2BFFE59-3EB5-4D78-B713-30D5F6AA3826}">
      <dgm:prSet/>
      <dgm:spPr/>
      <dgm:t>
        <a:bodyPr/>
        <a:lstStyle/>
        <a:p>
          <a:endParaRPr lang="en-IN"/>
        </a:p>
      </dgm:t>
    </dgm:pt>
    <dgm:pt modelId="{DC2263AF-941A-4F42-8760-C4FECB6F79BC}">
      <dgm:prSet phldrT="[Text]" custT="1"/>
      <dgm:spPr/>
      <dgm:t>
        <a:bodyPr/>
        <a:lstStyle/>
        <a:p>
          <a:pPr>
            <a:buNone/>
          </a:pPr>
          <a:r>
            <a:rPr lang="en-US" sz="1400" b="1" i="0" dirty="0">
              <a:latin typeface="Times New Roman" panose="02020603050405020304" pitchFamily="18" charset="0"/>
              <a:cs typeface="Times New Roman" panose="02020603050405020304" pitchFamily="18" charset="0"/>
            </a:rPr>
            <a:t>Step 4: Analytics &amp; Follow-up</a:t>
          </a:r>
          <a:r>
            <a:rPr lang="en-US" sz="1400" b="0" i="0" dirty="0">
              <a:latin typeface="Times New Roman" panose="02020603050405020304" pitchFamily="18" charset="0"/>
              <a:cs typeface="Times New Roman" panose="02020603050405020304" pitchFamily="18" charset="0"/>
            </a:rPr>
            <a:t> </a:t>
          </a:r>
        </a:p>
        <a:p>
          <a:pPr>
            <a:buNone/>
          </a:pPr>
          <a:r>
            <a:rPr lang="en-US" sz="1400" b="0" i="0" dirty="0">
              <a:latin typeface="Times New Roman" panose="02020603050405020304" pitchFamily="18" charset="0"/>
              <a:cs typeface="Times New Roman" panose="02020603050405020304" pitchFamily="18" charset="0"/>
            </a:rPr>
            <a:t>→ Sales data updated in dashboard </a:t>
          </a:r>
        </a:p>
        <a:p>
          <a:pPr>
            <a:buNone/>
          </a:pPr>
          <a:r>
            <a:rPr lang="en-US" sz="1400" b="0" i="0" dirty="0">
              <a:latin typeface="Times New Roman" panose="02020603050405020304" pitchFamily="18" charset="0"/>
              <a:cs typeface="Times New Roman" panose="02020603050405020304" pitchFamily="18" charset="0"/>
            </a:rPr>
            <a:t>→ Customer added to follow-up list</a:t>
          </a:r>
        </a:p>
        <a:p>
          <a:pPr>
            <a:buNone/>
          </a:pPr>
          <a:r>
            <a:rPr lang="en-US" sz="1400" b="0" i="0" dirty="0">
              <a:latin typeface="Times New Roman" panose="02020603050405020304" pitchFamily="18" charset="0"/>
              <a:cs typeface="Times New Roman" panose="02020603050405020304" pitchFamily="18" charset="0"/>
            </a:rPr>
            <a:t> → Business insights refreshed</a:t>
          </a:r>
          <a:endParaRPr lang="en-IN" sz="1400" dirty="0">
            <a:latin typeface="Times New Roman" panose="02020603050405020304" pitchFamily="18" charset="0"/>
            <a:cs typeface="Times New Roman" panose="02020603050405020304" pitchFamily="18" charset="0"/>
          </a:endParaRPr>
        </a:p>
      </dgm:t>
    </dgm:pt>
    <dgm:pt modelId="{B7112D61-6579-44FA-90C3-3D1F5789AAED}" type="parTrans" cxnId="{4593A1D0-9BB1-4EE4-A8DF-0E72E5A978C0}">
      <dgm:prSet/>
      <dgm:spPr/>
      <dgm:t>
        <a:bodyPr/>
        <a:lstStyle/>
        <a:p>
          <a:endParaRPr lang="en-IN"/>
        </a:p>
      </dgm:t>
    </dgm:pt>
    <dgm:pt modelId="{5C18C178-3BB1-461A-B561-5C5342BBEEF8}" type="sibTrans" cxnId="{4593A1D0-9BB1-4EE4-A8DF-0E72E5A978C0}">
      <dgm:prSet/>
      <dgm:spPr/>
      <dgm:t>
        <a:bodyPr/>
        <a:lstStyle/>
        <a:p>
          <a:endParaRPr lang="en-IN"/>
        </a:p>
      </dgm:t>
    </dgm:pt>
    <dgm:pt modelId="{DA1AC11E-9F4A-4639-B866-E1C94438DA71}" type="pres">
      <dgm:prSet presAssocID="{4E7D58CF-0465-484B-BF5B-7850D73DC892}" presName="cycle" presStyleCnt="0">
        <dgm:presLayoutVars>
          <dgm:dir/>
          <dgm:resizeHandles val="exact"/>
        </dgm:presLayoutVars>
      </dgm:prSet>
      <dgm:spPr/>
    </dgm:pt>
    <dgm:pt modelId="{19B8893C-B54F-47C9-814E-D1B70A212FEC}" type="pres">
      <dgm:prSet presAssocID="{433C0C90-C7AA-4A52-BFED-D3459206C6E0}" presName="node" presStyleLbl="node1" presStyleIdx="0" presStyleCnt="4" custScaleX="165529" custRadScaleRad="55265" custRadScaleInc="-39688">
        <dgm:presLayoutVars>
          <dgm:bulletEnabled val="1"/>
        </dgm:presLayoutVars>
      </dgm:prSet>
      <dgm:spPr/>
    </dgm:pt>
    <dgm:pt modelId="{3CE51F31-0025-4203-B4FA-A6EF053B0E67}" type="pres">
      <dgm:prSet presAssocID="{433C0C90-C7AA-4A52-BFED-D3459206C6E0}" presName="spNode" presStyleCnt="0"/>
      <dgm:spPr/>
    </dgm:pt>
    <dgm:pt modelId="{75089CCE-99D4-4F5B-A5D9-A3B4E78ABFA9}" type="pres">
      <dgm:prSet presAssocID="{4257DFDE-0654-4454-9042-D6CE3CC12D91}" presName="sibTrans" presStyleLbl="sibTrans1D1" presStyleIdx="0" presStyleCnt="4"/>
      <dgm:spPr/>
    </dgm:pt>
    <dgm:pt modelId="{CEC5BFDF-5B8C-4AC3-8828-BD9BFD81BF2A}" type="pres">
      <dgm:prSet presAssocID="{F97F20D4-1AF7-4A72-B030-2B691840ED14}" presName="node" presStyleLbl="node1" presStyleIdx="1" presStyleCnt="4" custScaleX="161244" custRadScaleRad="111371" custRadScaleInc="41568">
        <dgm:presLayoutVars>
          <dgm:bulletEnabled val="1"/>
        </dgm:presLayoutVars>
      </dgm:prSet>
      <dgm:spPr/>
    </dgm:pt>
    <dgm:pt modelId="{0A57EE75-9F44-4CC9-BD4B-FFCB8F47AB8F}" type="pres">
      <dgm:prSet presAssocID="{F97F20D4-1AF7-4A72-B030-2B691840ED14}" presName="spNode" presStyleCnt="0"/>
      <dgm:spPr/>
    </dgm:pt>
    <dgm:pt modelId="{75D258BD-4CDA-48E8-92E9-645A8EC9B1FC}" type="pres">
      <dgm:prSet presAssocID="{3E389674-6CAD-4F84-9492-CBF19CB55F95}" presName="sibTrans" presStyleLbl="sibTrans1D1" presStyleIdx="1" presStyleCnt="4"/>
      <dgm:spPr/>
    </dgm:pt>
    <dgm:pt modelId="{60FBFE2B-ED34-486D-B12D-30F15924C6CB}" type="pres">
      <dgm:prSet presAssocID="{158EDC50-9F7D-499A-A7A4-D00FD3E41B95}" presName="node" presStyleLbl="node1" presStyleIdx="2" presStyleCnt="4" custScaleX="171111" custScaleY="101266" custRadScaleRad="102578" custRadScaleInc="29342">
        <dgm:presLayoutVars>
          <dgm:bulletEnabled val="1"/>
        </dgm:presLayoutVars>
      </dgm:prSet>
      <dgm:spPr/>
    </dgm:pt>
    <dgm:pt modelId="{F5030CE3-CD31-4DCC-A9AF-8C650CAE01E9}" type="pres">
      <dgm:prSet presAssocID="{158EDC50-9F7D-499A-A7A4-D00FD3E41B95}" presName="spNode" presStyleCnt="0"/>
      <dgm:spPr/>
    </dgm:pt>
    <dgm:pt modelId="{A677D5A4-5FAA-4E2B-8433-D906E2AD0D79}" type="pres">
      <dgm:prSet presAssocID="{F3583A17-720F-4EE0-85FC-FC301C95E2E7}" presName="sibTrans" presStyleLbl="sibTrans1D1" presStyleIdx="2" presStyleCnt="4"/>
      <dgm:spPr/>
    </dgm:pt>
    <dgm:pt modelId="{85BC9FA5-F79E-4962-90BE-AE77929AC8EC}" type="pres">
      <dgm:prSet presAssocID="{DC2263AF-941A-4F42-8760-C4FECB6F79BC}" presName="node" presStyleLbl="node1" presStyleIdx="3" presStyleCnt="4" custScaleX="165251" custScaleY="103233" custRadScaleRad="140689" custRadScaleInc="-36838">
        <dgm:presLayoutVars>
          <dgm:bulletEnabled val="1"/>
        </dgm:presLayoutVars>
      </dgm:prSet>
      <dgm:spPr/>
    </dgm:pt>
    <dgm:pt modelId="{07F2E406-03A4-483A-90D3-7B54BC99649C}" type="pres">
      <dgm:prSet presAssocID="{DC2263AF-941A-4F42-8760-C4FECB6F79BC}" presName="spNode" presStyleCnt="0"/>
      <dgm:spPr/>
    </dgm:pt>
    <dgm:pt modelId="{A35ABF0A-80CC-4A1C-9894-288B4D3138E4}" type="pres">
      <dgm:prSet presAssocID="{5C18C178-3BB1-461A-B561-5C5342BBEEF8}" presName="sibTrans" presStyleLbl="sibTrans1D1" presStyleIdx="3" presStyleCnt="4"/>
      <dgm:spPr/>
    </dgm:pt>
  </dgm:ptLst>
  <dgm:cxnLst>
    <dgm:cxn modelId="{86711817-CF0D-4DB4-A879-E4C474A6CB96}" srcId="{4E7D58CF-0465-484B-BF5B-7850D73DC892}" destId="{F97F20D4-1AF7-4A72-B030-2B691840ED14}" srcOrd="1" destOrd="0" parTransId="{7B77FAAD-8A59-4449-A2F4-3421DF7B4A89}" sibTransId="{3E389674-6CAD-4F84-9492-CBF19CB55F95}"/>
    <dgm:cxn modelId="{809A2E31-DD3C-4FF4-A2FB-2966540E5AFA}" type="presOf" srcId="{3E389674-6CAD-4F84-9492-CBF19CB55F95}" destId="{75D258BD-4CDA-48E8-92E9-645A8EC9B1FC}" srcOrd="0" destOrd="0" presId="urn:microsoft.com/office/officeart/2005/8/layout/cycle5"/>
    <dgm:cxn modelId="{8F4A6769-A863-48EF-954E-264D253BBABD}" type="presOf" srcId="{DC2263AF-941A-4F42-8760-C4FECB6F79BC}" destId="{85BC9FA5-F79E-4962-90BE-AE77929AC8EC}" srcOrd="0" destOrd="0" presId="urn:microsoft.com/office/officeart/2005/8/layout/cycle5"/>
    <dgm:cxn modelId="{98AC6655-089E-4F0B-AFDB-4A44565C6E59}" srcId="{4E7D58CF-0465-484B-BF5B-7850D73DC892}" destId="{433C0C90-C7AA-4A52-BFED-D3459206C6E0}" srcOrd="0" destOrd="0" parTransId="{2262D92E-DBC4-4D30-947C-224885BA7CA6}" sibTransId="{4257DFDE-0654-4454-9042-D6CE3CC12D91}"/>
    <dgm:cxn modelId="{F2BFFE59-3EB5-4D78-B713-30D5F6AA3826}" srcId="{4E7D58CF-0465-484B-BF5B-7850D73DC892}" destId="{158EDC50-9F7D-499A-A7A4-D00FD3E41B95}" srcOrd="2" destOrd="0" parTransId="{45412611-513E-4166-82E2-165F528FE692}" sibTransId="{F3583A17-720F-4EE0-85FC-FC301C95E2E7}"/>
    <dgm:cxn modelId="{DEAA4D7B-7A08-4393-B92D-76B269297866}" type="presOf" srcId="{5C18C178-3BB1-461A-B561-5C5342BBEEF8}" destId="{A35ABF0A-80CC-4A1C-9894-288B4D3138E4}" srcOrd="0" destOrd="0" presId="urn:microsoft.com/office/officeart/2005/8/layout/cycle5"/>
    <dgm:cxn modelId="{2B293B90-45FC-4531-8F0D-161253BCE145}" type="presOf" srcId="{433C0C90-C7AA-4A52-BFED-D3459206C6E0}" destId="{19B8893C-B54F-47C9-814E-D1B70A212FEC}" srcOrd="0" destOrd="0" presId="urn:microsoft.com/office/officeart/2005/8/layout/cycle5"/>
    <dgm:cxn modelId="{EE26E9A6-2361-4445-8F88-1986D2E35220}" type="presOf" srcId="{158EDC50-9F7D-499A-A7A4-D00FD3E41B95}" destId="{60FBFE2B-ED34-486D-B12D-30F15924C6CB}" srcOrd="0" destOrd="0" presId="urn:microsoft.com/office/officeart/2005/8/layout/cycle5"/>
    <dgm:cxn modelId="{102BAEA8-7109-4CFB-A14D-7AE4FFDF2021}" type="presOf" srcId="{F3583A17-720F-4EE0-85FC-FC301C95E2E7}" destId="{A677D5A4-5FAA-4E2B-8433-D906E2AD0D79}" srcOrd="0" destOrd="0" presId="urn:microsoft.com/office/officeart/2005/8/layout/cycle5"/>
    <dgm:cxn modelId="{C19667A9-D841-4AFA-B2B9-C435AFBB62CC}" type="presOf" srcId="{4257DFDE-0654-4454-9042-D6CE3CC12D91}" destId="{75089CCE-99D4-4F5B-A5D9-A3B4E78ABFA9}" srcOrd="0" destOrd="0" presId="urn:microsoft.com/office/officeart/2005/8/layout/cycle5"/>
    <dgm:cxn modelId="{5353F8CB-8000-4757-B33B-FED0E869BE96}" type="presOf" srcId="{F97F20D4-1AF7-4A72-B030-2B691840ED14}" destId="{CEC5BFDF-5B8C-4AC3-8828-BD9BFD81BF2A}" srcOrd="0" destOrd="0" presId="urn:microsoft.com/office/officeart/2005/8/layout/cycle5"/>
    <dgm:cxn modelId="{329C89CF-6FBE-41FD-92D1-C91FAD17E222}" type="presOf" srcId="{4E7D58CF-0465-484B-BF5B-7850D73DC892}" destId="{DA1AC11E-9F4A-4639-B866-E1C94438DA71}" srcOrd="0" destOrd="0" presId="urn:microsoft.com/office/officeart/2005/8/layout/cycle5"/>
    <dgm:cxn modelId="{4593A1D0-9BB1-4EE4-A8DF-0E72E5A978C0}" srcId="{4E7D58CF-0465-484B-BF5B-7850D73DC892}" destId="{DC2263AF-941A-4F42-8760-C4FECB6F79BC}" srcOrd="3" destOrd="0" parTransId="{B7112D61-6579-44FA-90C3-3D1F5789AAED}" sibTransId="{5C18C178-3BB1-461A-B561-5C5342BBEEF8}"/>
    <dgm:cxn modelId="{5B0ECAEB-81DA-4AD5-9497-3DCC9742B3D3}" type="presParOf" srcId="{DA1AC11E-9F4A-4639-B866-E1C94438DA71}" destId="{19B8893C-B54F-47C9-814E-D1B70A212FEC}" srcOrd="0" destOrd="0" presId="urn:microsoft.com/office/officeart/2005/8/layout/cycle5"/>
    <dgm:cxn modelId="{93F07939-11A2-42C3-B399-D22E7667D5EE}" type="presParOf" srcId="{DA1AC11E-9F4A-4639-B866-E1C94438DA71}" destId="{3CE51F31-0025-4203-B4FA-A6EF053B0E67}" srcOrd="1" destOrd="0" presId="urn:microsoft.com/office/officeart/2005/8/layout/cycle5"/>
    <dgm:cxn modelId="{336FF241-424B-4A1B-AF15-CEFAF3A4F5C1}" type="presParOf" srcId="{DA1AC11E-9F4A-4639-B866-E1C94438DA71}" destId="{75089CCE-99D4-4F5B-A5D9-A3B4E78ABFA9}" srcOrd="2" destOrd="0" presId="urn:microsoft.com/office/officeart/2005/8/layout/cycle5"/>
    <dgm:cxn modelId="{2210787D-05D6-423C-80DC-2F271804ED34}" type="presParOf" srcId="{DA1AC11E-9F4A-4639-B866-E1C94438DA71}" destId="{CEC5BFDF-5B8C-4AC3-8828-BD9BFD81BF2A}" srcOrd="3" destOrd="0" presId="urn:microsoft.com/office/officeart/2005/8/layout/cycle5"/>
    <dgm:cxn modelId="{178DA302-D22C-4629-A92C-BED38E475583}" type="presParOf" srcId="{DA1AC11E-9F4A-4639-B866-E1C94438DA71}" destId="{0A57EE75-9F44-4CC9-BD4B-FFCB8F47AB8F}" srcOrd="4" destOrd="0" presId="urn:microsoft.com/office/officeart/2005/8/layout/cycle5"/>
    <dgm:cxn modelId="{D43F400C-553B-4735-B780-BB84A4932D46}" type="presParOf" srcId="{DA1AC11E-9F4A-4639-B866-E1C94438DA71}" destId="{75D258BD-4CDA-48E8-92E9-645A8EC9B1FC}" srcOrd="5" destOrd="0" presId="urn:microsoft.com/office/officeart/2005/8/layout/cycle5"/>
    <dgm:cxn modelId="{8D96B110-6A6A-4A11-8DFC-6F2865145FD4}" type="presParOf" srcId="{DA1AC11E-9F4A-4639-B866-E1C94438DA71}" destId="{60FBFE2B-ED34-486D-B12D-30F15924C6CB}" srcOrd="6" destOrd="0" presId="urn:microsoft.com/office/officeart/2005/8/layout/cycle5"/>
    <dgm:cxn modelId="{2237AF07-FB74-48D2-BC56-9E930F8F7D7D}" type="presParOf" srcId="{DA1AC11E-9F4A-4639-B866-E1C94438DA71}" destId="{F5030CE3-CD31-4DCC-A9AF-8C650CAE01E9}" srcOrd="7" destOrd="0" presId="urn:microsoft.com/office/officeart/2005/8/layout/cycle5"/>
    <dgm:cxn modelId="{6F40F52C-346C-4E2C-81D0-B1AEFC2DA0A2}" type="presParOf" srcId="{DA1AC11E-9F4A-4639-B866-E1C94438DA71}" destId="{A677D5A4-5FAA-4E2B-8433-D906E2AD0D79}" srcOrd="8" destOrd="0" presId="urn:microsoft.com/office/officeart/2005/8/layout/cycle5"/>
    <dgm:cxn modelId="{E3015104-B890-480D-B1B6-776D744434D6}" type="presParOf" srcId="{DA1AC11E-9F4A-4639-B866-E1C94438DA71}" destId="{85BC9FA5-F79E-4962-90BE-AE77929AC8EC}" srcOrd="9" destOrd="0" presId="urn:microsoft.com/office/officeart/2005/8/layout/cycle5"/>
    <dgm:cxn modelId="{A4BFAD08-3301-400E-BF68-802F92922D13}" type="presParOf" srcId="{DA1AC11E-9F4A-4639-B866-E1C94438DA71}" destId="{07F2E406-03A4-483A-90D3-7B54BC99649C}" srcOrd="10" destOrd="0" presId="urn:microsoft.com/office/officeart/2005/8/layout/cycle5"/>
    <dgm:cxn modelId="{431D4364-5E03-4C7D-8E6E-EBD655DE4997}" type="presParOf" srcId="{DA1AC11E-9F4A-4639-B866-E1C94438DA71}" destId="{A35ABF0A-80CC-4A1C-9894-288B4D3138E4}"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8893C-B54F-47C9-814E-D1B70A212FEC}">
      <dsp:nvSpPr>
        <dsp:cNvPr id="0" name=""/>
        <dsp:cNvSpPr/>
      </dsp:nvSpPr>
      <dsp:spPr>
        <a:xfrm>
          <a:off x="2746017" y="913790"/>
          <a:ext cx="3081392" cy="121000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Times New Roman" panose="02020603050405020304" pitchFamily="18" charset="0"/>
              <a:cs typeface="Times New Roman" panose="02020603050405020304" pitchFamily="18" charset="0"/>
            </a:rPr>
            <a:t>Step 1: Order Received</a:t>
          </a:r>
          <a:r>
            <a:rPr lang="en-US" sz="1400" b="0" i="0" kern="1200" dirty="0">
              <a:latin typeface="Times New Roman" panose="02020603050405020304" pitchFamily="18" charset="0"/>
              <a:cs typeface="Times New Roman" panose="02020603050405020304" pitchFamily="18" charset="0"/>
            </a:rPr>
            <a:t> → Customer places order via phone/WhatsApp/walk-in → Seller enters order details in app</a:t>
          </a:r>
          <a:endParaRPr lang="en-IN" sz="1400" kern="1200" dirty="0">
            <a:latin typeface="Times New Roman" panose="02020603050405020304" pitchFamily="18" charset="0"/>
            <a:cs typeface="Times New Roman" panose="02020603050405020304" pitchFamily="18" charset="0"/>
          </a:endParaRPr>
        </a:p>
      </dsp:txBody>
      <dsp:txXfrm>
        <a:off x="2805084" y="972857"/>
        <a:ext cx="2963258" cy="1091868"/>
      </dsp:txXfrm>
    </dsp:sp>
    <dsp:sp modelId="{75089CCE-99D4-4F5B-A5D9-A3B4E78ABFA9}">
      <dsp:nvSpPr>
        <dsp:cNvPr id="0" name=""/>
        <dsp:cNvSpPr/>
      </dsp:nvSpPr>
      <dsp:spPr>
        <a:xfrm>
          <a:off x="2414602" y="1954302"/>
          <a:ext cx="3994662" cy="3994662"/>
        </a:xfrm>
        <a:custGeom>
          <a:avLst/>
          <a:gdLst/>
          <a:ahLst/>
          <a:cxnLst/>
          <a:rect l="0" t="0" r="0" b="0"/>
          <a:pathLst>
            <a:path>
              <a:moveTo>
                <a:pt x="2918421" y="225065"/>
              </a:moveTo>
              <a:arcTo wR="1997331" hR="1997331" stAng="17847721" swAng="668647"/>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EC5BFDF-5B8C-4AC3-8828-BD9BFD81BF2A}">
      <dsp:nvSpPr>
        <dsp:cNvPr id="0" name=""/>
        <dsp:cNvSpPr/>
      </dsp:nvSpPr>
      <dsp:spPr>
        <a:xfrm>
          <a:off x="5185603" y="2474204"/>
          <a:ext cx="3001625" cy="121000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Times New Roman" panose="02020603050405020304" pitchFamily="18" charset="0"/>
              <a:cs typeface="Times New Roman" panose="02020603050405020304" pitchFamily="18" charset="0"/>
            </a:rPr>
            <a:t>Step 2: Auto Processing</a:t>
          </a:r>
          <a:r>
            <a:rPr lang="en-US" sz="1400" b="0" i="0" kern="1200" dirty="0">
              <a:latin typeface="Times New Roman" panose="02020603050405020304" pitchFamily="18" charset="0"/>
              <a:cs typeface="Times New Roman" panose="02020603050405020304" pitchFamily="18" charset="0"/>
            </a:rPr>
            <a:t> → Inventory automatically updated </a:t>
          </a:r>
        </a:p>
        <a:p>
          <a:pPr marL="0" lvl="0" indent="0" algn="ctr" defTabSz="622300">
            <a:lnSpc>
              <a:spcPct val="90000"/>
            </a:lnSpc>
            <a:spcBef>
              <a:spcPct val="0"/>
            </a:spcBef>
            <a:spcAft>
              <a:spcPct val="35000"/>
            </a:spcAft>
            <a:buNone/>
          </a:pPr>
          <a:r>
            <a:rPr lang="en-US" sz="1400" b="0" i="0" kern="1200" dirty="0">
              <a:latin typeface="Times New Roman" panose="02020603050405020304" pitchFamily="18" charset="0"/>
              <a:cs typeface="Times New Roman" panose="02020603050405020304" pitchFamily="18" charset="0"/>
            </a:rPr>
            <a:t>→ Stock deducted from available quantity </a:t>
          </a:r>
        </a:p>
        <a:p>
          <a:pPr marL="0" lvl="0" indent="0" algn="ctr" defTabSz="622300">
            <a:lnSpc>
              <a:spcPct val="90000"/>
            </a:lnSpc>
            <a:spcBef>
              <a:spcPct val="0"/>
            </a:spcBef>
            <a:spcAft>
              <a:spcPct val="35000"/>
            </a:spcAft>
            <a:buNone/>
          </a:pPr>
          <a:r>
            <a:rPr lang="en-US" sz="1400" b="0" i="0" kern="1200" dirty="0">
              <a:latin typeface="Times New Roman" panose="02020603050405020304" pitchFamily="18" charset="0"/>
              <a:cs typeface="Times New Roman" panose="02020603050405020304" pitchFamily="18" charset="0"/>
            </a:rPr>
            <a:t>→ Low-stock alert triggered if needed</a:t>
          </a:r>
          <a:endParaRPr lang="en-IN" sz="1400" kern="1200" dirty="0">
            <a:latin typeface="Times New Roman" panose="02020603050405020304" pitchFamily="18" charset="0"/>
            <a:cs typeface="Times New Roman" panose="02020603050405020304" pitchFamily="18" charset="0"/>
          </a:endParaRPr>
        </a:p>
      </dsp:txBody>
      <dsp:txXfrm>
        <a:off x="5244670" y="2533271"/>
        <a:ext cx="2883491" cy="1091868"/>
      </dsp:txXfrm>
    </dsp:sp>
    <dsp:sp modelId="{75D258BD-4CDA-48E8-92E9-645A8EC9B1FC}">
      <dsp:nvSpPr>
        <dsp:cNvPr id="0" name=""/>
        <dsp:cNvSpPr/>
      </dsp:nvSpPr>
      <dsp:spPr>
        <a:xfrm>
          <a:off x="2980007" y="344322"/>
          <a:ext cx="3994662" cy="3994662"/>
        </a:xfrm>
        <a:custGeom>
          <a:avLst/>
          <a:gdLst/>
          <a:ahLst/>
          <a:cxnLst/>
          <a:rect l="0" t="0" r="0" b="0"/>
          <a:pathLst>
            <a:path>
              <a:moveTo>
                <a:pt x="3361281" y="3456431"/>
              </a:moveTo>
              <a:arcTo wR="1997331" hR="1997331" stAng="2815824" swAng="855214"/>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60FBFE2B-ED34-486D-B12D-30F15924C6CB}">
      <dsp:nvSpPr>
        <dsp:cNvPr id="0" name=""/>
        <dsp:cNvSpPr/>
      </dsp:nvSpPr>
      <dsp:spPr>
        <a:xfrm>
          <a:off x="2608263" y="3983540"/>
          <a:ext cx="3185303" cy="122532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Times New Roman" panose="02020603050405020304" pitchFamily="18" charset="0"/>
              <a:cs typeface="Times New Roman" panose="02020603050405020304" pitchFamily="18" charset="0"/>
            </a:rPr>
            <a:t>Step 3: Invoice &amp; Payment</a:t>
          </a:r>
        </a:p>
        <a:p>
          <a:pPr marL="0" lvl="0" indent="0" algn="ctr" defTabSz="622300">
            <a:lnSpc>
              <a:spcPct val="90000"/>
            </a:lnSpc>
            <a:spcBef>
              <a:spcPct val="0"/>
            </a:spcBef>
            <a:spcAft>
              <a:spcPct val="35000"/>
            </a:spcAft>
            <a:buNone/>
          </a:pPr>
          <a:r>
            <a:rPr lang="en-US" sz="1400" b="0" i="0" kern="1200" dirty="0">
              <a:latin typeface="Times New Roman" panose="02020603050405020304" pitchFamily="18" charset="0"/>
              <a:cs typeface="Times New Roman" panose="02020603050405020304" pitchFamily="18" charset="0"/>
            </a:rPr>
            <a:t> → GST invoice auto-generated (PDF)</a:t>
          </a:r>
          <a:endParaRPr lang="en-IN" sz="1400" kern="1200" dirty="0">
            <a:latin typeface="Times New Roman" panose="02020603050405020304" pitchFamily="18" charset="0"/>
            <a:cs typeface="Times New Roman" panose="02020603050405020304" pitchFamily="18" charset="0"/>
          </a:endParaRPr>
        </a:p>
      </dsp:txBody>
      <dsp:txXfrm>
        <a:off x="2668078" y="4043355"/>
        <a:ext cx="3065673" cy="1105691"/>
      </dsp:txXfrm>
    </dsp:sp>
    <dsp:sp modelId="{A677D5A4-5FAA-4E2B-8433-D906E2AD0D79}">
      <dsp:nvSpPr>
        <dsp:cNvPr id="0" name=""/>
        <dsp:cNvSpPr/>
      </dsp:nvSpPr>
      <dsp:spPr>
        <a:xfrm>
          <a:off x="885403" y="-4822"/>
          <a:ext cx="3994662" cy="3994662"/>
        </a:xfrm>
        <a:custGeom>
          <a:avLst/>
          <a:gdLst/>
          <a:ahLst/>
          <a:cxnLst/>
          <a:rect l="0" t="0" r="0" b="0"/>
          <a:pathLst>
            <a:path>
              <a:moveTo>
                <a:pt x="1934592" y="3993677"/>
              </a:moveTo>
              <a:arcTo wR="1997331" hR="1997331" stAng="5508001" swAng="1168623"/>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85BC9FA5-F79E-4962-90BE-AE77929AC8EC}">
      <dsp:nvSpPr>
        <dsp:cNvPr id="0" name=""/>
        <dsp:cNvSpPr/>
      </dsp:nvSpPr>
      <dsp:spPr>
        <a:xfrm>
          <a:off x="218423" y="2512960"/>
          <a:ext cx="3076217" cy="124912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latin typeface="Times New Roman" panose="02020603050405020304" pitchFamily="18" charset="0"/>
              <a:cs typeface="Times New Roman" panose="02020603050405020304" pitchFamily="18" charset="0"/>
            </a:rPr>
            <a:t>Step 4: Analytics &amp; Follow-up</a:t>
          </a:r>
          <a:r>
            <a:rPr lang="en-US" sz="1400" b="0" i="0" kern="1200" dirty="0">
              <a:latin typeface="Times New Roman" panose="02020603050405020304" pitchFamily="18" charset="0"/>
              <a:cs typeface="Times New Roman" panose="02020603050405020304" pitchFamily="18" charset="0"/>
            </a:rPr>
            <a:t> </a:t>
          </a:r>
        </a:p>
        <a:p>
          <a:pPr marL="0" lvl="0" indent="0" algn="ctr" defTabSz="622300">
            <a:lnSpc>
              <a:spcPct val="90000"/>
            </a:lnSpc>
            <a:spcBef>
              <a:spcPct val="0"/>
            </a:spcBef>
            <a:spcAft>
              <a:spcPct val="35000"/>
            </a:spcAft>
            <a:buNone/>
          </a:pPr>
          <a:r>
            <a:rPr lang="en-US" sz="1400" b="0" i="0" kern="1200" dirty="0">
              <a:latin typeface="Times New Roman" panose="02020603050405020304" pitchFamily="18" charset="0"/>
              <a:cs typeface="Times New Roman" panose="02020603050405020304" pitchFamily="18" charset="0"/>
            </a:rPr>
            <a:t>→ Sales data updated in dashboard </a:t>
          </a:r>
        </a:p>
        <a:p>
          <a:pPr marL="0" lvl="0" indent="0" algn="ctr" defTabSz="622300">
            <a:lnSpc>
              <a:spcPct val="90000"/>
            </a:lnSpc>
            <a:spcBef>
              <a:spcPct val="0"/>
            </a:spcBef>
            <a:spcAft>
              <a:spcPct val="35000"/>
            </a:spcAft>
            <a:buNone/>
          </a:pPr>
          <a:r>
            <a:rPr lang="en-US" sz="1400" b="0" i="0" kern="1200" dirty="0">
              <a:latin typeface="Times New Roman" panose="02020603050405020304" pitchFamily="18" charset="0"/>
              <a:cs typeface="Times New Roman" panose="02020603050405020304" pitchFamily="18" charset="0"/>
            </a:rPr>
            <a:t>→ Customer added to follow-up list</a:t>
          </a:r>
        </a:p>
        <a:p>
          <a:pPr marL="0" lvl="0" indent="0" algn="ctr" defTabSz="622300">
            <a:lnSpc>
              <a:spcPct val="90000"/>
            </a:lnSpc>
            <a:spcBef>
              <a:spcPct val="0"/>
            </a:spcBef>
            <a:spcAft>
              <a:spcPct val="35000"/>
            </a:spcAft>
            <a:buNone/>
          </a:pPr>
          <a:r>
            <a:rPr lang="en-US" sz="1400" b="0" i="0" kern="1200" dirty="0">
              <a:latin typeface="Times New Roman" panose="02020603050405020304" pitchFamily="18" charset="0"/>
              <a:cs typeface="Times New Roman" panose="02020603050405020304" pitchFamily="18" charset="0"/>
            </a:rPr>
            <a:t> → Business insights refreshed</a:t>
          </a:r>
          <a:endParaRPr lang="en-IN" sz="1400" kern="1200" dirty="0">
            <a:latin typeface="Times New Roman" panose="02020603050405020304" pitchFamily="18" charset="0"/>
            <a:cs typeface="Times New Roman" panose="02020603050405020304" pitchFamily="18" charset="0"/>
          </a:endParaRPr>
        </a:p>
      </dsp:txBody>
      <dsp:txXfrm>
        <a:off x="279400" y="2573937"/>
        <a:ext cx="2954263" cy="1127167"/>
      </dsp:txXfrm>
    </dsp:sp>
    <dsp:sp modelId="{A35ABF0A-80CC-4A1C-9894-288B4D3138E4}">
      <dsp:nvSpPr>
        <dsp:cNvPr id="0" name=""/>
        <dsp:cNvSpPr/>
      </dsp:nvSpPr>
      <dsp:spPr>
        <a:xfrm>
          <a:off x="2098236" y="1975798"/>
          <a:ext cx="3994662" cy="3994662"/>
        </a:xfrm>
        <a:custGeom>
          <a:avLst/>
          <a:gdLst/>
          <a:ahLst/>
          <a:cxnLst/>
          <a:rect l="0" t="0" r="0" b="0"/>
          <a:pathLst>
            <a:path>
              <a:moveTo>
                <a:pt x="743579" y="442520"/>
              </a:moveTo>
              <a:arcTo wR="1997331" hR="1997331" stAng="13867101" swAng="752618"/>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a:extLst>
            <a:ext uri="{FF2B5EF4-FFF2-40B4-BE49-F238E27FC236}">
              <a16:creationId xmlns:a16="http://schemas.microsoft.com/office/drawing/2014/main" id="{BCFD5A6C-D562-7602-12B1-9E312BE81F33}"/>
            </a:ext>
          </a:extLst>
        </p:cNvPr>
        <p:cNvGrpSpPr/>
        <p:nvPr/>
      </p:nvGrpSpPr>
      <p:grpSpPr>
        <a:xfrm>
          <a:off x="0" y="0"/>
          <a:ext cx="0" cy="0"/>
          <a:chOff x="0" y="0"/>
          <a:chExt cx="0" cy="0"/>
        </a:xfrm>
      </p:grpSpPr>
      <p:sp>
        <p:nvSpPr>
          <p:cNvPr id="94" name="Google Shape;94;p2:notes">
            <a:extLst>
              <a:ext uri="{FF2B5EF4-FFF2-40B4-BE49-F238E27FC236}">
                <a16:creationId xmlns:a16="http://schemas.microsoft.com/office/drawing/2014/main" id="{4831025E-7EDD-1518-3701-FAA5204F99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a:extLst>
              <a:ext uri="{FF2B5EF4-FFF2-40B4-BE49-F238E27FC236}">
                <a16:creationId xmlns:a16="http://schemas.microsoft.com/office/drawing/2014/main" id="{350AF527-91BC-EC90-93AA-D2C8481F89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4624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3000298-D970-6F50-39F9-B3414C175BF0}"/>
            </a:ext>
          </a:extLst>
        </p:cNvPr>
        <p:cNvGrpSpPr/>
        <p:nvPr/>
      </p:nvGrpSpPr>
      <p:grpSpPr>
        <a:xfrm>
          <a:off x="0" y="0"/>
          <a:ext cx="0" cy="0"/>
          <a:chOff x="0" y="0"/>
          <a:chExt cx="0" cy="0"/>
        </a:xfrm>
      </p:grpSpPr>
      <p:sp>
        <p:nvSpPr>
          <p:cNvPr id="108" name="Google Shape;108;p3:notes">
            <a:extLst>
              <a:ext uri="{FF2B5EF4-FFF2-40B4-BE49-F238E27FC236}">
                <a16:creationId xmlns:a16="http://schemas.microsoft.com/office/drawing/2014/main" id="{68AC72D7-986C-0823-C72F-EA12164A6DF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3:notes">
            <a:extLst>
              <a:ext uri="{FF2B5EF4-FFF2-40B4-BE49-F238E27FC236}">
                <a16:creationId xmlns:a16="http://schemas.microsoft.com/office/drawing/2014/main" id="{92A0B25D-9DF8-D313-5043-2E6FFD3341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0614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01553E4A-5E47-975E-5514-D34B53D9C807}"/>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FEBDC9A6-EFC8-8A09-B34C-978E3362FDD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a:extLst>
              <a:ext uri="{FF2B5EF4-FFF2-40B4-BE49-F238E27FC236}">
                <a16:creationId xmlns:a16="http://schemas.microsoft.com/office/drawing/2014/main" id="{98B954E6-8E67-9A5C-3B64-BCA4CDD3BC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7268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56932DC1-E36D-51E6-7998-ADBA1470CF06}"/>
            </a:ext>
          </a:extLst>
        </p:cNvPr>
        <p:cNvGrpSpPr/>
        <p:nvPr/>
      </p:nvGrpSpPr>
      <p:grpSpPr>
        <a:xfrm>
          <a:off x="0" y="0"/>
          <a:ext cx="0" cy="0"/>
          <a:chOff x="0" y="0"/>
          <a:chExt cx="0" cy="0"/>
        </a:xfrm>
      </p:grpSpPr>
      <p:sp>
        <p:nvSpPr>
          <p:cNvPr id="160" name="Google Shape;160;p7:notes">
            <a:extLst>
              <a:ext uri="{FF2B5EF4-FFF2-40B4-BE49-F238E27FC236}">
                <a16:creationId xmlns:a16="http://schemas.microsoft.com/office/drawing/2014/main" id="{58123426-D53A-4012-22D5-D180FACBD4A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7:notes">
            <a:extLst>
              <a:ext uri="{FF2B5EF4-FFF2-40B4-BE49-F238E27FC236}">
                <a16:creationId xmlns:a16="http://schemas.microsoft.com/office/drawing/2014/main" id="{DEA16F18-2B44-916C-6EB5-ABDB133E73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1991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1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2" name="Google Shape;2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0"/>
          <p:cNvSpPr>
            <a:spLocks noGrp="1"/>
          </p:cNvSpPr>
          <p:nvPr>
            <p:ph type="pic" idx="2"/>
          </p:nvPr>
        </p:nvSpPr>
        <p:spPr>
          <a:xfrm>
            <a:off x="5183188" y="987425"/>
            <a:ext cx="6172200" cy="4873625"/>
          </a:xfrm>
          <a:prstGeom prst="rect">
            <a:avLst/>
          </a:prstGeom>
          <a:noFill/>
          <a:ln>
            <a:noFill/>
          </a:ln>
        </p:spPr>
      </p:sp>
      <p:sp>
        <p:nvSpPr>
          <p:cNvPr id="68" name="Google Shape;68;p2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a:extLst>
            <a:ext uri="{FF2B5EF4-FFF2-40B4-BE49-F238E27FC236}">
              <a16:creationId xmlns:a16="http://schemas.microsoft.com/office/drawing/2014/main" id="{1EA6CA79-CABE-9409-67A1-D5B8F9802755}"/>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09ACF37A-D9D0-AA92-17A0-EDD184EF7352}"/>
              </a:ext>
            </a:extLst>
          </p:cNvPr>
          <p:cNvSpPr/>
          <p:nvPr/>
        </p:nvSpPr>
        <p:spPr>
          <a:xfrm>
            <a:off x="434975" y="420688"/>
            <a:ext cx="1106488" cy="59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 name="Google Shape;98;p2">
            <a:extLst>
              <a:ext uri="{FF2B5EF4-FFF2-40B4-BE49-F238E27FC236}">
                <a16:creationId xmlns:a16="http://schemas.microsoft.com/office/drawing/2014/main" id="{E73AF2E1-B005-DB2C-BE07-B877EBCD1F84}"/>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2">
            <a:extLst>
              <a:ext uri="{FF2B5EF4-FFF2-40B4-BE49-F238E27FC236}">
                <a16:creationId xmlns:a16="http://schemas.microsoft.com/office/drawing/2014/main" id="{C33728C4-5712-CBE6-8864-3F6DAB2E230A}"/>
              </a:ext>
            </a:extLst>
          </p:cNvPr>
          <p:cNvSpPr/>
          <p:nvPr/>
        </p:nvSpPr>
        <p:spPr>
          <a:xfrm>
            <a:off x="704682" y="127578"/>
            <a:ext cx="2727176"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sym typeface="Arial Narrow"/>
              </a:rPr>
              <a:t>What is MSME?</a:t>
            </a:r>
            <a:endParaRPr dirty="0"/>
          </a:p>
        </p:txBody>
      </p:sp>
      <p:sp>
        <p:nvSpPr>
          <p:cNvPr id="2" name="TextBox 1">
            <a:extLst>
              <a:ext uri="{FF2B5EF4-FFF2-40B4-BE49-F238E27FC236}">
                <a16:creationId xmlns:a16="http://schemas.microsoft.com/office/drawing/2014/main" id="{94E30BD6-6B38-BD85-5614-900F735B65C5}"/>
              </a:ext>
            </a:extLst>
          </p:cNvPr>
          <p:cNvSpPr txBox="1"/>
          <p:nvPr/>
        </p:nvSpPr>
        <p:spPr>
          <a:xfrm>
            <a:off x="434975" y="827909"/>
            <a:ext cx="10965451" cy="923330"/>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MSME = Micro, Small &amp; Medium Enterprises</a:t>
            </a: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Definition:</a:t>
            </a:r>
            <a:r>
              <a:rPr lang="en-US" sz="1800" dirty="0">
                <a:latin typeface="Times New Roman" panose="02020603050405020304" pitchFamily="18" charset="0"/>
                <a:cs typeface="Times New Roman" panose="02020603050405020304" pitchFamily="18" charset="0"/>
              </a:rPr>
              <a:t> Businesses that operate on a smaller scale with limited investment in plant, machinery, and annual turnover.</a:t>
            </a:r>
          </a:p>
        </p:txBody>
      </p:sp>
      <p:sp>
        <p:nvSpPr>
          <p:cNvPr id="5" name="TextBox 4">
            <a:extLst>
              <a:ext uri="{FF2B5EF4-FFF2-40B4-BE49-F238E27FC236}">
                <a16:creationId xmlns:a16="http://schemas.microsoft.com/office/drawing/2014/main" id="{65EC041B-DFDC-0ADC-28B5-2435656BD198}"/>
              </a:ext>
            </a:extLst>
          </p:cNvPr>
          <p:cNvSpPr txBox="1"/>
          <p:nvPr/>
        </p:nvSpPr>
        <p:spPr>
          <a:xfrm>
            <a:off x="434975" y="1772440"/>
            <a:ext cx="10149374" cy="923330"/>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MSMEs in Numbers:</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63 million+</a:t>
            </a:r>
            <a:r>
              <a:rPr lang="en-US" sz="1800" dirty="0">
                <a:latin typeface="Times New Roman" panose="02020603050405020304" pitchFamily="18" charset="0"/>
                <a:cs typeface="Times New Roman" panose="02020603050405020304" pitchFamily="18" charset="0"/>
              </a:rPr>
              <a:t> MSMEs in India 👥 </a:t>
            </a:r>
            <a:r>
              <a:rPr lang="en-US" sz="1800" b="1" dirty="0">
                <a:latin typeface="Times New Roman" panose="02020603050405020304" pitchFamily="18" charset="0"/>
                <a:cs typeface="Times New Roman" panose="02020603050405020304" pitchFamily="18" charset="0"/>
              </a:rPr>
              <a:t>110 million+</a:t>
            </a:r>
            <a:r>
              <a:rPr lang="en-US" sz="1800" dirty="0">
                <a:latin typeface="Times New Roman" panose="02020603050405020304" pitchFamily="18" charset="0"/>
                <a:cs typeface="Times New Roman" panose="02020603050405020304" pitchFamily="18" charset="0"/>
              </a:rPr>
              <a:t> people employed (2nd largest employer </a:t>
            </a:r>
          </a:p>
          <a:p>
            <a:r>
              <a:rPr lang="en-US" sz="1800" dirty="0">
                <a:latin typeface="Times New Roman" panose="02020603050405020304" pitchFamily="18" charset="0"/>
                <a:cs typeface="Times New Roman" panose="02020603050405020304" pitchFamily="18" charset="0"/>
              </a:rPr>
              <a:t>after agriculture) 💰 </a:t>
            </a:r>
            <a:r>
              <a:rPr lang="en-US" sz="1800" b="1" dirty="0">
                <a:latin typeface="Times New Roman" panose="02020603050405020304" pitchFamily="18" charset="0"/>
                <a:cs typeface="Times New Roman" panose="02020603050405020304" pitchFamily="18" charset="0"/>
              </a:rPr>
              <a:t>30%</a:t>
            </a:r>
            <a:r>
              <a:rPr lang="en-US" sz="1800" dirty="0">
                <a:latin typeface="Times New Roman" panose="02020603050405020304" pitchFamily="18" charset="0"/>
                <a:cs typeface="Times New Roman" panose="02020603050405020304" pitchFamily="18" charset="0"/>
              </a:rPr>
              <a:t> of India's GDP 🌍 </a:t>
            </a:r>
            <a:r>
              <a:rPr lang="en-US" sz="1800" b="1" dirty="0">
                <a:latin typeface="Times New Roman" panose="02020603050405020304" pitchFamily="18" charset="0"/>
                <a:cs typeface="Times New Roman" panose="02020603050405020304" pitchFamily="18" charset="0"/>
              </a:rPr>
              <a:t>45%</a:t>
            </a:r>
            <a:r>
              <a:rPr lang="en-US" sz="1800" dirty="0">
                <a:latin typeface="Times New Roman" panose="02020603050405020304" pitchFamily="18" charset="0"/>
                <a:cs typeface="Times New Roman" panose="02020603050405020304" pitchFamily="18" charset="0"/>
              </a:rPr>
              <a:t> of India's total exports</a:t>
            </a:r>
          </a:p>
        </p:txBody>
      </p:sp>
      <p:sp>
        <p:nvSpPr>
          <p:cNvPr id="7" name="TextBox 6">
            <a:extLst>
              <a:ext uri="{FF2B5EF4-FFF2-40B4-BE49-F238E27FC236}">
                <a16:creationId xmlns:a16="http://schemas.microsoft.com/office/drawing/2014/main" id="{A895EE64-3BED-B988-FAC7-E1C955285669}"/>
              </a:ext>
            </a:extLst>
          </p:cNvPr>
          <p:cNvSpPr txBox="1"/>
          <p:nvPr/>
        </p:nvSpPr>
        <p:spPr>
          <a:xfrm>
            <a:off x="434975" y="4008386"/>
            <a:ext cx="9662160"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Classification in India </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9F6ADA1-0CC2-0F10-CB2D-80F203046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952" y="4537295"/>
            <a:ext cx="10965451" cy="1799881"/>
          </a:xfrm>
          <a:prstGeom prst="rect">
            <a:avLst/>
          </a:prstGeom>
        </p:spPr>
      </p:pic>
      <p:pic>
        <p:nvPicPr>
          <p:cNvPr id="9" name="Picture 8">
            <a:extLst>
              <a:ext uri="{FF2B5EF4-FFF2-40B4-BE49-F238E27FC236}">
                <a16:creationId xmlns:a16="http://schemas.microsoft.com/office/drawing/2014/main" id="{852DDA08-0506-A790-3C68-560CA4C02A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58981" y="1712173"/>
            <a:ext cx="2629997" cy="2490415"/>
          </a:xfrm>
          <a:prstGeom prst="rect">
            <a:avLst/>
          </a:prstGeom>
        </p:spPr>
      </p:pic>
      <p:pic>
        <p:nvPicPr>
          <p:cNvPr id="10" name="Picture 9">
            <a:extLst>
              <a:ext uri="{FF2B5EF4-FFF2-40B4-BE49-F238E27FC236}">
                <a16:creationId xmlns:a16="http://schemas.microsoft.com/office/drawing/2014/main" id="{75DB47DD-011E-E57C-3BFB-77C968D0E1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3184" y="2347026"/>
            <a:ext cx="2919095" cy="2425686"/>
          </a:xfrm>
          <a:prstGeom prst="rect">
            <a:avLst/>
          </a:prstGeom>
        </p:spPr>
      </p:pic>
    </p:spTree>
    <p:extLst>
      <p:ext uri="{BB962C8B-B14F-4D97-AF65-F5344CB8AC3E}">
        <p14:creationId xmlns:p14="http://schemas.microsoft.com/office/powerpoint/2010/main" val="30695562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p:nvPr/>
        </p:nvSpPr>
        <p:spPr>
          <a:xfrm>
            <a:off x="434975" y="420688"/>
            <a:ext cx="1106488" cy="59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 name="Google Shape;98;p2"/>
          <p:cNvSpPr/>
          <p:nvPr/>
        </p:nvSpPr>
        <p:spPr>
          <a:xfrm>
            <a:off x="0" y="17462"/>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99" name="Google Shape;99;p2"/>
          <p:cNvSpPr/>
          <p:nvPr/>
        </p:nvSpPr>
        <p:spPr>
          <a:xfrm>
            <a:off x="704682" y="127578"/>
            <a:ext cx="2727176"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ea typeface="Arial Narrow"/>
                <a:cs typeface="Arial Narrow"/>
                <a:sym typeface="Arial Narrow"/>
              </a:rPr>
              <a:t>Problem Identified </a:t>
            </a:r>
            <a:endParaRPr dirty="0"/>
          </a:p>
        </p:txBody>
      </p:sp>
      <p:sp>
        <p:nvSpPr>
          <p:cNvPr id="16" name="TextBox 15">
            <a:extLst>
              <a:ext uri="{FF2B5EF4-FFF2-40B4-BE49-F238E27FC236}">
                <a16:creationId xmlns:a16="http://schemas.microsoft.com/office/drawing/2014/main" id="{F6706F5C-52A6-0483-D2A7-1DEF2EC17A77}"/>
              </a:ext>
            </a:extLst>
          </p:cNvPr>
          <p:cNvSpPr txBox="1"/>
          <p:nvPr/>
        </p:nvSpPr>
        <p:spPr>
          <a:xfrm>
            <a:off x="434974" y="1110053"/>
            <a:ext cx="10881954" cy="646331"/>
          </a:xfrm>
          <a:prstGeom prst="rect">
            <a:avLst/>
          </a:prstGeom>
          <a:noFill/>
        </p:spPr>
        <p:txBody>
          <a:bodyPr wrap="square" rtlCol="0">
            <a:spAutoFit/>
          </a:bodyPr>
          <a:lstStyle/>
          <a:p>
            <a:pPr algn="just">
              <a:buNone/>
            </a:pPr>
            <a:r>
              <a:rPr lang="en-US" sz="1800" b="1" dirty="0">
                <a:latin typeface="Times New Roman" panose="02020603050405020304" pitchFamily="18" charset="0"/>
                <a:cs typeface="Times New Roman" panose="02020603050405020304" pitchFamily="18" charset="0"/>
              </a:rPr>
              <a:t>After analyzing the current working methods of MSMEs and the limitations of existing digital tools, several key problems were identified:</a:t>
            </a:r>
          </a:p>
        </p:txBody>
      </p:sp>
      <p:sp>
        <p:nvSpPr>
          <p:cNvPr id="17" name="TextBox 16">
            <a:extLst>
              <a:ext uri="{FF2B5EF4-FFF2-40B4-BE49-F238E27FC236}">
                <a16:creationId xmlns:a16="http://schemas.microsoft.com/office/drawing/2014/main" id="{E5ACA14A-C024-D936-01D0-CDB4D8A42680}"/>
              </a:ext>
            </a:extLst>
          </p:cNvPr>
          <p:cNvSpPr txBox="1"/>
          <p:nvPr/>
        </p:nvSpPr>
        <p:spPr>
          <a:xfrm>
            <a:off x="404825" y="1829520"/>
            <a:ext cx="10872122" cy="646331"/>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Manual Record Keeping:</a:t>
            </a:r>
            <a:r>
              <a:rPr lang="en-US" sz="1800" dirty="0">
                <a:latin typeface="Times New Roman" panose="02020603050405020304" pitchFamily="18" charset="0"/>
                <a:cs typeface="Times New Roman" panose="02020603050405020304" pitchFamily="18" charset="0"/>
              </a:rPr>
              <a:t> Many small businesses still maintain records using notebooks or basic spreadsheets, which can lead to errors and data loss.</a:t>
            </a:r>
          </a:p>
        </p:txBody>
      </p:sp>
      <p:sp>
        <p:nvSpPr>
          <p:cNvPr id="18" name="TextBox 17">
            <a:extLst>
              <a:ext uri="{FF2B5EF4-FFF2-40B4-BE49-F238E27FC236}">
                <a16:creationId xmlns:a16="http://schemas.microsoft.com/office/drawing/2014/main" id="{F3D26D99-4B2F-ACED-BBF0-863E99D69CCB}"/>
              </a:ext>
            </a:extLst>
          </p:cNvPr>
          <p:cNvSpPr txBox="1"/>
          <p:nvPr/>
        </p:nvSpPr>
        <p:spPr>
          <a:xfrm>
            <a:off x="420226" y="2524684"/>
            <a:ext cx="10872122" cy="646331"/>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Lack of Digital Knowledge:</a:t>
            </a:r>
            <a:r>
              <a:rPr lang="en-US" sz="1800" dirty="0">
                <a:latin typeface="Times New Roman" panose="02020603050405020304" pitchFamily="18" charset="0"/>
                <a:cs typeface="Times New Roman" panose="02020603050405020304" pitchFamily="18" charset="0"/>
              </a:rPr>
              <a:t> Most MSME owners do not have technical skills to use complex software or build digital systems for their businesses</a:t>
            </a:r>
            <a:endParaRPr lang="en-IN" sz="18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9FDF0039-85A7-52AC-6862-E4C11603C875}"/>
              </a:ext>
            </a:extLst>
          </p:cNvPr>
          <p:cNvSpPr txBox="1"/>
          <p:nvPr/>
        </p:nvSpPr>
        <p:spPr>
          <a:xfrm>
            <a:off x="389750" y="3218010"/>
            <a:ext cx="10902272" cy="923330"/>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High Cost of Software:</a:t>
            </a:r>
            <a:r>
              <a:rPr lang="en-US" sz="1800" dirty="0">
                <a:latin typeface="Times New Roman" panose="02020603050405020304" pitchFamily="18" charset="0"/>
                <a:cs typeface="Times New Roman" panose="02020603050405020304" pitchFamily="18" charset="0"/>
              </a:rPr>
              <a:t> Many advanced business management tools are expensive and difficult for small businesses to afford.</a:t>
            </a:r>
          </a:p>
          <a:p>
            <a:pPr algn="just"/>
            <a:endParaRPr lang="en-IN" sz="18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4DF52AB2-ECD5-A296-2143-4BD72BC7B052}"/>
              </a:ext>
            </a:extLst>
          </p:cNvPr>
          <p:cNvSpPr txBox="1"/>
          <p:nvPr/>
        </p:nvSpPr>
        <p:spPr>
          <a:xfrm>
            <a:off x="434974" y="3891324"/>
            <a:ext cx="10842627" cy="646331"/>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Limited Customization:</a:t>
            </a:r>
            <a:r>
              <a:rPr lang="en-US" sz="1800" dirty="0">
                <a:latin typeface="Times New Roman" panose="02020603050405020304" pitchFamily="18" charset="0"/>
                <a:cs typeface="Times New Roman" panose="02020603050405020304" pitchFamily="18" charset="0"/>
              </a:rPr>
              <a:t> Existing solutions provide fixed features, making it difficult for businesses to adapt the software to their specific needs.</a:t>
            </a:r>
          </a:p>
        </p:txBody>
      </p:sp>
      <p:sp>
        <p:nvSpPr>
          <p:cNvPr id="21" name="TextBox 20">
            <a:extLst>
              <a:ext uri="{FF2B5EF4-FFF2-40B4-BE49-F238E27FC236}">
                <a16:creationId xmlns:a16="http://schemas.microsoft.com/office/drawing/2014/main" id="{75BE53A0-82DC-5202-2BFE-DD6EF3BBBCB1}"/>
              </a:ext>
            </a:extLst>
          </p:cNvPr>
          <p:cNvSpPr txBox="1"/>
          <p:nvPr/>
        </p:nvSpPr>
        <p:spPr>
          <a:xfrm>
            <a:off x="444806" y="4600624"/>
            <a:ext cx="10881954" cy="923330"/>
          </a:xfrm>
          <a:prstGeom prst="rect">
            <a:avLst/>
          </a:prstGeom>
          <a:noFill/>
        </p:spPr>
        <p:txBody>
          <a:bodyPr wrap="square" rtlCol="0">
            <a:spAutoFit/>
          </a:bodyPr>
          <a:lstStyle/>
          <a:p>
            <a:pPr marL="285750" indent="-285750"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Multiple Tools for Different Tasks:</a:t>
            </a:r>
            <a:r>
              <a:rPr lang="en-US" sz="1800" dirty="0">
                <a:latin typeface="Times New Roman" panose="02020603050405020304" pitchFamily="18" charset="0"/>
                <a:cs typeface="Times New Roman" panose="02020603050405020304" pitchFamily="18" charset="0"/>
              </a:rPr>
              <a:t> Businesses often need separate tools for billing, inventory, and customer management, which makes the process complicated and inefficient.</a:t>
            </a:r>
          </a:p>
          <a:p>
            <a:endParaRPr lang="en-IN" sz="18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9E16043D-0D35-CDAD-9BB0-33D64E8DADBD}"/>
              </a:ext>
            </a:extLst>
          </p:cNvPr>
          <p:cNvSpPr txBox="1"/>
          <p:nvPr/>
        </p:nvSpPr>
        <p:spPr>
          <a:xfrm>
            <a:off x="434974" y="5296114"/>
            <a:ext cx="10872122" cy="923330"/>
          </a:xfrm>
          <a:prstGeom prst="rect">
            <a:avLst/>
          </a:prstGeom>
          <a:noFill/>
        </p:spPr>
        <p:txBody>
          <a:bodyPr wrap="square" rtlCol="0">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Poor Data Insights:</a:t>
            </a:r>
            <a:r>
              <a:rPr lang="en-US" sz="1800" dirty="0">
                <a:latin typeface="Times New Roman" panose="02020603050405020304" pitchFamily="18" charset="0"/>
                <a:cs typeface="Times New Roman" panose="02020603050405020304" pitchFamily="18" charset="0"/>
              </a:rPr>
              <a:t> Without proper digital tools, business owners cannot easily analyze sales, inventory trends, or customer behavior.</a:t>
            </a:r>
          </a:p>
          <a:p>
            <a:pPr algn="just"/>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3"/>
          <p:cNvSpPr/>
          <p:nvPr/>
        </p:nvSpPr>
        <p:spPr>
          <a:xfrm>
            <a:off x="434975" y="420688"/>
            <a:ext cx="1106488" cy="59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3"/>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3"/>
          <p:cNvSpPr/>
          <p:nvPr/>
        </p:nvSpPr>
        <p:spPr>
          <a:xfrm>
            <a:off x="704681" y="127578"/>
            <a:ext cx="3941210"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Arial Narrow"/>
                <a:ea typeface="Arial Narrow"/>
                <a:cs typeface="Arial Narrow"/>
                <a:sym typeface="Arial Narrow"/>
              </a:rPr>
              <a:t>Existing Solution/ Survey</a:t>
            </a:r>
            <a:endParaRPr sz="2800" b="1">
              <a:solidFill>
                <a:schemeClr val="lt1"/>
              </a:solidFill>
              <a:latin typeface="Arial Narrow"/>
              <a:ea typeface="Arial Narrow"/>
              <a:cs typeface="Arial Narrow"/>
              <a:sym typeface="Arial Narrow"/>
            </a:endParaRPr>
          </a:p>
        </p:txBody>
      </p:sp>
      <p:sp>
        <p:nvSpPr>
          <p:cNvPr id="7" name="TextBox 6">
            <a:extLst>
              <a:ext uri="{FF2B5EF4-FFF2-40B4-BE49-F238E27FC236}">
                <a16:creationId xmlns:a16="http://schemas.microsoft.com/office/drawing/2014/main" id="{C42C3441-D852-2AF3-8A67-F545AE73387C}"/>
              </a:ext>
            </a:extLst>
          </p:cNvPr>
          <p:cNvSpPr txBox="1"/>
          <p:nvPr/>
        </p:nvSpPr>
        <p:spPr>
          <a:xfrm>
            <a:off x="559710" y="1529332"/>
            <a:ext cx="7325762" cy="1754326"/>
          </a:xfrm>
          <a:prstGeom prst="rect">
            <a:avLst/>
          </a:prstGeom>
          <a:noFill/>
        </p:spPr>
        <p:txBody>
          <a:bodyPr wrap="square">
            <a:spAutoFit/>
          </a:bodyPr>
          <a:lstStyle/>
          <a:p>
            <a:pPr>
              <a:buNone/>
            </a:pPr>
            <a:r>
              <a:rPr lang="en-US" sz="1800" dirty="0">
                <a:latin typeface="Times New Roman" panose="02020603050405020304" pitchFamily="18" charset="0"/>
                <a:cs typeface="Times New Roman" panose="02020603050405020304" pitchFamily="18" charset="0"/>
              </a:rPr>
              <a:t>Several digital tools are already available to help businesses manage operations such as accounting, billing, inventory management, and customer records. Many MSMEs use software like </a:t>
            </a:r>
            <a:r>
              <a:rPr lang="en-US" sz="1800" b="1" dirty="0" err="1">
                <a:latin typeface="Times New Roman" panose="02020603050405020304" pitchFamily="18" charset="0"/>
                <a:cs typeface="Times New Roman" panose="02020603050405020304" pitchFamily="18" charset="0"/>
              </a:rPr>
              <a:t>TallyPrime</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Zoho Books</a:t>
            </a:r>
            <a:r>
              <a:rPr lang="en-US" sz="1800"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Vyapar</a:t>
            </a:r>
            <a:r>
              <a:rPr lang="en-US" sz="1800" dirty="0">
                <a:latin typeface="Times New Roman" panose="02020603050405020304" pitchFamily="18" charset="0"/>
                <a:cs typeface="Times New Roman" panose="02020603050405020304" pitchFamily="18" charset="0"/>
              </a:rPr>
              <a:t>, and </a:t>
            </a:r>
            <a:r>
              <a:rPr lang="en-US" sz="1800" b="1" dirty="0" err="1">
                <a:latin typeface="Times New Roman" panose="02020603050405020304" pitchFamily="18" charset="0"/>
                <a:cs typeface="Times New Roman" panose="02020603050405020304" pitchFamily="18" charset="0"/>
              </a:rPr>
              <a:t>ERPNext</a:t>
            </a:r>
            <a:r>
              <a:rPr lang="en-US" sz="1800" dirty="0">
                <a:latin typeface="Times New Roman" panose="02020603050405020304" pitchFamily="18" charset="0"/>
                <a:cs typeface="Times New Roman" panose="02020603050405020304" pitchFamily="18" charset="0"/>
              </a:rPr>
              <a:t>.</a:t>
            </a:r>
          </a:p>
          <a:p>
            <a:pPr>
              <a:buNone/>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8DA6BDA-C4ED-BEEF-7669-FE716D24BF4D}"/>
              </a:ext>
            </a:extLst>
          </p:cNvPr>
          <p:cNvSpPr txBox="1"/>
          <p:nvPr/>
        </p:nvSpPr>
        <p:spPr>
          <a:xfrm>
            <a:off x="559709" y="920136"/>
            <a:ext cx="6100916" cy="461665"/>
          </a:xfrm>
          <a:prstGeom prst="rect">
            <a:avLst/>
          </a:prstGeom>
          <a:noFill/>
        </p:spPr>
        <p:txBody>
          <a:bodyPr wrap="square">
            <a:spAutoFit/>
          </a:bodyPr>
          <a:lstStyle/>
          <a:p>
            <a:r>
              <a:rPr lang="en-IN" sz="2400" b="1" dirty="0">
                <a:solidFill>
                  <a:schemeClr val="accent5">
                    <a:lumMod val="50000"/>
                  </a:schemeClr>
                </a:solidFill>
                <a:latin typeface="Cambria" panose="02040503050406030204" pitchFamily="18" charset="0"/>
                <a:ea typeface="Cambria" panose="02040503050406030204" pitchFamily="18" charset="0"/>
                <a:cs typeface="Mongolian Baiti" panose="03000500000000000000" pitchFamily="66" charset="0"/>
              </a:rPr>
              <a:t>Existing</a:t>
            </a:r>
            <a:r>
              <a:rPr lang="en-IN" sz="2400" b="1" dirty="0">
                <a:solidFill>
                  <a:schemeClr val="accent5">
                    <a:lumMod val="50000"/>
                  </a:schemeClr>
                </a:solidFill>
                <a:latin typeface="Cambria" panose="02040503050406030204" pitchFamily="18" charset="0"/>
                <a:ea typeface="Cambria" panose="02040503050406030204" pitchFamily="18" charset="0"/>
                <a:cs typeface="Times New Roman" panose="02020603050405020304" pitchFamily="18" charset="0"/>
              </a:rPr>
              <a:t> Solutions</a:t>
            </a:r>
          </a:p>
        </p:txBody>
      </p:sp>
      <p:pic>
        <p:nvPicPr>
          <p:cNvPr id="10" name="Picture 9">
            <a:extLst>
              <a:ext uri="{FF2B5EF4-FFF2-40B4-BE49-F238E27FC236}">
                <a16:creationId xmlns:a16="http://schemas.microsoft.com/office/drawing/2014/main" id="{EB88EC70-2EF1-16ED-BDE7-3D2131390C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8890" y="1390499"/>
            <a:ext cx="3883400" cy="3169415"/>
          </a:xfrm>
          <a:prstGeom prst="rect">
            <a:avLst/>
          </a:prstGeom>
        </p:spPr>
      </p:pic>
      <p:sp>
        <p:nvSpPr>
          <p:cNvPr id="11" name="TextBox 10">
            <a:extLst>
              <a:ext uri="{FF2B5EF4-FFF2-40B4-BE49-F238E27FC236}">
                <a16:creationId xmlns:a16="http://schemas.microsoft.com/office/drawing/2014/main" id="{342F0188-4AB9-F019-CDF7-14FE76283FD6}"/>
              </a:ext>
            </a:extLst>
          </p:cNvPr>
          <p:cNvSpPr txBox="1"/>
          <p:nvPr/>
        </p:nvSpPr>
        <p:spPr>
          <a:xfrm>
            <a:off x="588423" y="4620400"/>
            <a:ext cx="10807165" cy="646331"/>
          </a:xfrm>
          <a:prstGeom prst="rect">
            <a:avLst/>
          </a:prstGeom>
          <a:noFill/>
        </p:spPr>
        <p:txBody>
          <a:bodyPr wrap="square" rtlCol="0">
            <a:spAutoFit/>
          </a:bodyPr>
          <a:lstStyle/>
          <a:p>
            <a:pPr>
              <a:buNone/>
            </a:pPr>
            <a:r>
              <a:rPr lang="en-US" sz="1800" dirty="0">
                <a:latin typeface="Times New Roman" panose="02020603050405020304" pitchFamily="18" charset="0"/>
                <a:cs typeface="Times New Roman" panose="02020603050405020304" pitchFamily="18" charset="0"/>
              </a:rPr>
              <a:t>Such tools help businesses reduce manual work and maintain better financial records. Some cloud-based solutions also allow access from multiple devices and provide basic analytics for monitoring business performance.</a:t>
            </a:r>
          </a:p>
        </p:txBody>
      </p:sp>
      <p:sp>
        <p:nvSpPr>
          <p:cNvPr id="12" name="TextBox 11">
            <a:extLst>
              <a:ext uri="{FF2B5EF4-FFF2-40B4-BE49-F238E27FC236}">
                <a16:creationId xmlns:a16="http://schemas.microsoft.com/office/drawing/2014/main" id="{34B90A50-0DAF-422E-6DBF-48D37BD363DC}"/>
              </a:ext>
            </a:extLst>
          </p:cNvPr>
          <p:cNvSpPr txBox="1"/>
          <p:nvPr/>
        </p:nvSpPr>
        <p:spPr>
          <a:xfrm>
            <a:off x="519598" y="2975207"/>
            <a:ext cx="4819319" cy="1477328"/>
          </a:xfrm>
          <a:prstGeom prst="rect">
            <a:avLst/>
          </a:prstGeom>
          <a:noFill/>
        </p:spPr>
        <p:txBody>
          <a:bodyPr wrap="square" rtlCol="0">
            <a:spAutoFit/>
          </a:bodyPr>
          <a:lstStyle/>
          <a:p>
            <a:pPr>
              <a:buNone/>
            </a:pPr>
            <a:r>
              <a:rPr lang="en-US" sz="1800" dirty="0">
                <a:latin typeface="Times New Roman" panose="02020603050405020304" pitchFamily="18" charset="0"/>
                <a:cs typeface="Times New Roman" panose="02020603050405020304" pitchFamily="18" charset="0"/>
              </a:rPr>
              <a:t>These platforms help automate tasks such as: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Invoice generation and billing</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Inventory tracking</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GST and financial record management</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Sales and purchase reporting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2905302C-2BAF-B5B9-43D3-7F5B55935D88}"/>
            </a:ext>
          </a:extLst>
        </p:cNvPr>
        <p:cNvGrpSpPr/>
        <p:nvPr/>
      </p:nvGrpSpPr>
      <p:grpSpPr>
        <a:xfrm>
          <a:off x="0" y="0"/>
          <a:ext cx="0" cy="0"/>
          <a:chOff x="0" y="0"/>
          <a:chExt cx="0" cy="0"/>
        </a:xfrm>
      </p:grpSpPr>
      <p:sp>
        <p:nvSpPr>
          <p:cNvPr id="111" name="Google Shape;111;p3">
            <a:extLst>
              <a:ext uri="{FF2B5EF4-FFF2-40B4-BE49-F238E27FC236}">
                <a16:creationId xmlns:a16="http://schemas.microsoft.com/office/drawing/2014/main" id="{9F16393C-4C6F-909E-422A-2ED93A1462D3}"/>
              </a:ext>
            </a:extLst>
          </p:cNvPr>
          <p:cNvSpPr/>
          <p:nvPr/>
        </p:nvSpPr>
        <p:spPr>
          <a:xfrm>
            <a:off x="434975" y="420688"/>
            <a:ext cx="1106488" cy="59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2" name="Google Shape;112;p3">
            <a:extLst>
              <a:ext uri="{FF2B5EF4-FFF2-40B4-BE49-F238E27FC236}">
                <a16:creationId xmlns:a16="http://schemas.microsoft.com/office/drawing/2014/main" id="{D109871E-8331-7DCD-1214-208CB2518C93}"/>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13" name="Google Shape;113;p3">
            <a:extLst>
              <a:ext uri="{FF2B5EF4-FFF2-40B4-BE49-F238E27FC236}">
                <a16:creationId xmlns:a16="http://schemas.microsoft.com/office/drawing/2014/main" id="{937046D8-179B-B9AB-CE72-23BC0D89F46A}"/>
              </a:ext>
            </a:extLst>
          </p:cNvPr>
          <p:cNvSpPr/>
          <p:nvPr/>
        </p:nvSpPr>
        <p:spPr>
          <a:xfrm>
            <a:off x="704681" y="127578"/>
            <a:ext cx="3941210"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ea typeface="Arial Narrow"/>
                <a:cs typeface="Arial Narrow"/>
                <a:sym typeface="Arial Narrow"/>
              </a:rPr>
              <a:t>Existing Solution/ Survey</a:t>
            </a:r>
            <a:endParaRPr sz="2800" b="1" dirty="0">
              <a:solidFill>
                <a:schemeClr val="lt1"/>
              </a:solidFill>
              <a:latin typeface="Arial Narrow"/>
              <a:ea typeface="Arial Narrow"/>
              <a:cs typeface="Arial Narrow"/>
              <a:sym typeface="Arial Narrow"/>
            </a:endParaRPr>
          </a:p>
        </p:txBody>
      </p:sp>
      <p:sp>
        <p:nvSpPr>
          <p:cNvPr id="2" name="TextBox 2">
            <a:extLst>
              <a:ext uri="{FF2B5EF4-FFF2-40B4-BE49-F238E27FC236}">
                <a16:creationId xmlns:a16="http://schemas.microsoft.com/office/drawing/2014/main" id="{010037F8-1792-DAB4-2204-3F6024D2063A}"/>
              </a:ext>
            </a:extLst>
          </p:cNvPr>
          <p:cNvSpPr txBox="1"/>
          <p:nvPr/>
        </p:nvSpPr>
        <p:spPr>
          <a:xfrm>
            <a:off x="404457" y="679884"/>
            <a:ext cx="7655548" cy="630814"/>
          </a:xfrm>
          <a:prstGeom prst="rect">
            <a:avLst/>
          </a:prstGeom>
        </p:spPr>
        <p:txBody>
          <a:bodyPr wrap="square" lIns="0" tIns="0" rIns="0" bIns="0" rtlCol="0" anchor="t">
            <a:spAutoFit/>
          </a:bodyPr>
          <a:lstStyle/>
          <a:p>
            <a:pPr algn="l">
              <a:lnSpc>
                <a:spcPts val="5940"/>
              </a:lnSpc>
            </a:pPr>
            <a:r>
              <a:rPr lang="en-US" sz="2000" b="1" dirty="0">
                <a:solidFill>
                  <a:srgbClr val="28568A"/>
                </a:solidFill>
                <a:latin typeface="Cambria" panose="02040503050406030204" pitchFamily="18" charset="0"/>
                <a:ea typeface="Cambria" panose="02040503050406030204" pitchFamily="18" charset="0"/>
                <a:cs typeface="Montserrat Bold"/>
                <a:sym typeface="Montserrat Bold"/>
              </a:rPr>
              <a:t>Comparison Between </a:t>
            </a:r>
            <a:r>
              <a:rPr lang="en-US" sz="2000" b="1" dirty="0" err="1">
                <a:solidFill>
                  <a:srgbClr val="28568A"/>
                </a:solidFill>
                <a:latin typeface="Cambria" panose="02040503050406030204" pitchFamily="18" charset="0"/>
                <a:ea typeface="Cambria" panose="02040503050406030204" pitchFamily="18" charset="0"/>
                <a:cs typeface="Montserrat Bold"/>
                <a:sym typeface="Montserrat Bold"/>
              </a:rPr>
              <a:t>TaskMint</a:t>
            </a:r>
            <a:r>
              <a:rPr lang="en-US" sz="2000" b="1" dirty="0">
                <a:solidFill>
                  <a:srgbClr val="28568A"/>
                </a:solidFill>
                <a:latin typeface="Cambria" panose="02040503050406030204" pitchFamily="18" charset="0"/>
                <a:ea typeface="Cambria" panose="02040503050406030204" pitchFamily="18" charset="0"/>
                <a:cs typeface="Montserrat Bold"/>
                <a:sym typeface="Montserrat Bold"/>
              </a:rPr>
              <a:t> vs Tally vs Zoho Books</a:t>
            </a:r>
          </a:p>
        </p:txBody>
      </p:sp>
      <p:graphicFrame>
        <p:nvGraphicFramePr>
          <p:cNvPr id="4" name="Table 3">
            <a:extLst>
              <a:ext uri="{FF2B5EF4-FFF2-40B4-BE49-F238E27FC236}">
                <a16:creationId xmlns:a16="http://schemas.microsoft.com/office/drawing/2014/main" id="{D2E1A9B2-A152-5551-BA50-9454AE427450}"/>
              </a:ext>
            </a:extLst>
          </p:cNvPr>
          <p:cNvGraphicFramePr>
            <a:graphicFrameLocks noGrp="1"/>
          </p:cNvGraphicFramePr>
          <p:nvPr>
            <p:extLst>
              <p:ext uri="{D42A27DB-BD31-4B8C-83A1-F6EECF244321}">
                <p14:modId xmlns:p14="http://schemas.microsoft.com/office/powerpoint/2010/main" val="11049206"/>
              </p:ext>
            </p:extLst>
          </p:nvPr>
        </p:nvGraphicFramePr>
        <p:xfrm>
          <a:off x="434975" y="1532799"/>
          <a:ext cx="11349032" cy="4638868"/>
        </p:xfrm>
        <a:graphic>
          <a:graphicData uri="http://schemas.openxmlformats.org/drawingml/2006/table">
            <a:tbl>
              <a:tblPr>
                <a:tableStyleId>{3C2FFA5D-87B4-456A-9821-1D502468CF0F}</a:tableStyleId>
              </a:tblPr>
              <a:tblGrid>
                <a:gridCol w="2837258">
                  <a:extLst>
                    <a:ext uri="{9D8B030D-6E8A-4147-A177-3AD203B41FA5}">
                      <a16:colId xmlns:a16="http://schemas.microsoft.com/office/drawing/2014/main" val="2203702457"/>
                    </a:ext>
                  </a:extLst>
                </a:gridCol>
                <a:gridCol w="2837258">
                  <a:extLst>
                    <a:ext uri="{9D8B030D-6E8A-4147-A177-3AD203B41FA5}">
                      <a16:colId xmlns:a16="http://schemas.microsoft.com/office/drawing/2014/main" val="3067093396"/>
                    </a:ext>
                  </a:extLst>
                </a:gridCol>
                <a:gridCol w="2837258">
                  <a:extLst>
                    <a:ext uri="{9D8B030D-6E8A-4147-A177-3AD203B41FA5}">
                      <a16:colId xmlns:a16="http://schemas.microsoft.com/office/drawing/2014/main" val="1020156686"/>
                    </a:ext>
                  </a:extLst>
                </a:gridCol>
                <a:gridCol w="2837258">
                  <a:extLst>
                    <a:ext uri="{9D8B030D-6E8A-4147-A177-3AD203B41FA5}">
                      <a16:colId xmlns:a16="http://schemas.microsoft.com/office/drawing/2014/main" val="796159815"/>
                    </a:ext>
                  </a:extLst>
                </a:gridCol>
              </a:tblGrid>
              <a:tr h="361191">
                <a:tc>
                  <a:txBody>
                    <a:bodyPr/>
                    <a:lstStyle/>
                    <a:p>
                      <a:pPr>
                        <a:buNone/>
                      </a:pPr>
                      <a:r>
                        <a:rPr lang="en-IN" sz="1400" dirty="0">
                          <a:latin typeface="Times New Roman" panose="02020603050405020304" pitchFamily="18" charset="0"/>
                          <a:cs typeface="Times New Roman" panose="02020603050405020304" pitchFamily="18" charset="0"/>
                        </a:rPr>
                        <a:t>Feature</a:t>
                      </a:r>
                    </a:p>
                  </a:txBody>
                  <a:tcPr marL="48666" marR="48666" marT="24333" marB="24333" anchor="ctr"/>
                </a:tc>
                <a:tc>
                  <a:txBody>
                    <a:bodyPr/>
                    <a:lstStyle/>
                    <a:p>
                      <a:pPr>
                        <a:buNone/>
                      </a:pPr>
                      <a:r>
                        <a:rPr lang="en-IN" sz="1400" b="1">
                          <a:latin typeface="Times New Roman" panose="02020603050405020304" pitchFamily="18" charset="0"/>
                          <a:cs typeface="Times New Roman" panose="02020603050405020304" pitchFamily="18" charset="0"/>
                        </a:rPr>
                        <a:t>TaskMint (Your App)</a:t>
                      </a:r>
                      <a:endParaRPr lang="en-IN" sz="140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b="1">
                          <a:latin typeface="Times New Roman" panose="02020603050405020304" pitchFamily="18" charset="0"/>
                          <a:cs typeface="Times New Roman" panose="02020603050405020304" pitchFamily="18" charset="0"/>
                        </a:rPr>
                        <a:t>Tally</a:t>
                      </a:r>
                      <a:endParaRPr lang="en-IN" sz="140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b="1">
                          <a:latin typeface="Times New Roman" panose="02020603050405020304" pitchFamily="18" charset="0"/>
                          <a:cs typeface="Times New Roman" panose="02020603050405020304" pitchFamily="18" charset="0"/>
                        </a:rPr>
                        <a:t>Zoho Books</a:t>
                      </a:r>
                      <a:endParaRPr lang="en-IN" sz="1400">
                        <a:latin typeface="Times New Roman" panose="02020603050405020304" pitchFamily="18" charset="0"/>
                        <a:cs typeface="Times New Roman" panose="02020603050405020304" pitchFamily="18" charset="0"/>
                      </a:endParaRPr>
                    </a:p>
                  </a:txBody>
                  <a:tcPr marL="48666" marR="48666" marT="24333" marB="24333" anchor="ctr"/>
                </a:tc>
                <a:extLst>
                  <a:ext uri="{0D108BD9-81ED-4DB2-BD59-A6C34878D82A}">
                    <a16:rowId xmlns:a16="http://schemas.microsoft.com/office/drawing/2014/main" val="3287827796"/>
                  </a:ext>
                </a:extLst>
              </a:tr>
              <a:tr h="361191">
                <a:tc>
                  <a:txBody>
                    <a:bodyPr/>
                    <a:lstStyle/>
                    <a:p>
                      <a:pPr>
                        <a:buNone/>
                      </a:pPr>
                      <a:r>
                        <a:rPr lang="en-IN" sz="1400" b="1" dirty="0">
                          <a:latin typeface="Times New Roman" panose="02020603050405020304" pitchFamily="18" charset="0"/>
                          <a:cs typeface="Times New Roman" panose="02020603050405020304" pitchFamily="18" charset="0"/>
                        </a:rPr>
                        <a:t>Target Users</a:t>
                      </a:r>
                      <a:endParaRPr lang="en-IN" sz="1400" dirty="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Micro &amp; Small MSMEs</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Accountants, medium businesses</a:t>
                      </a: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Small &amp; growing businesses</a:t>
                      </a:r>
                    </a:p>
                  </a:txBody>
                  <a:tcPr marL="48666" marR="48666" marT="24333" marB="24333" anchor="ctr"/>
                </a:tc>
                <a:extLst>
                  <a:ext uri="{0D108BD9-81ED-4DB2-BD59-A6C34878D82A}">
                    <a16:rowId xmlns:a16="http://schemas.microsoft.com/office/drawing/2014/main" val="273125556"/>
                  </a:ext>
                </a:extLst>
              </a:tr>
              <a:tr h="361191">
                <a:tc>
                  <a:txBody>
                    <a:bodyPr/>
                    <a:lstStyle/>
                    <a:p>
                      <a:pPr>
                        <a:buNone/>
                      </a:pPr>
                      <a:r>
                        <a:rPr lang="en-IN" sz="1400" b="1" dirty="0">
                          <a:latin typeface="Times New Roman" panose="02020603050405020304" pitchFamily="18" charset="0"/>
                          <a:cs typeface="Times New Roman" panose="02020603050405020304" pitchFamily="18" charset="0"/>
                        </a:rPr>
                        <a:t>Platform Type</a:t>
                      </a:r>
                      <a:endParaRPr lang="en-IN" sz="1400" dirty="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Low-code, customizable app</a:t>
                      </a: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Desktop software</a:t>
                      </a: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Cloud-based SaaS</a:t>
                      </a:r>
                    </a:p>
                  </a:txBody>
                  <a:tcPr marL="48666" marR="48666" marT="24333" marB="24333" anchor="ctr"/>
                </a:tc>
                <a:extLst>
                  <a:ext uri="{0D108BD9-81ED-4DB2-BD59-A6C34878D82A}">
                    <a16:rowId xmlns:a16="http://schemas.microsoft.com/office/drawing/2014/main" val="851690053"/>
                  </a:ext>
                </a:extLst>
              </a:tr>
              <a:tr h="361191">
                <a:tc>
                  <a:txBody>
                    <a:bodyPr/>
                    <a:lstStyle/>
                    <a:p>
                      <a:pPr>
                        <a:buNone/>
                      </a:pPr>
                      <a:r>
                        <a:rPr lang="en-IN" sz="1400" b="1" dirty="0">
                          <a:latin typeface="Times New Roman" panose="02020603050405020304" pitchFamily="18" charset="0"/>
                          <a:cs typeface="Times New Roman" panose="02020603050405020304" pitchFamily="18" charset="0"/>
                        </a:rPr>
                        <a:t>Ease of Use</a:t>
                      </a:r>
                      <a:endParaRPr lang="en-IN" sz="1400" dirty="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Simple UI for non-technical users</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Requires accounting knowledge</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Moderate learning curve</a:t>
                      </a:r>
                    </a:p>
                  </a:txBody>
                  <a:tcPr marL="48666" marR="48666" marT="24333" marB="24333" anchor="ctr"/>
                </a:tc>
                <a:extLst>
                  <a:ext uri="{0D108BD9-81ED-4DB2-BD59-A6C34878D82A}">
                    <a16:rowId xmlns:a16="http://schemas.microsoft.com/office/drawing/2014/main" val="3624985398"/>
                  </a:ext>
                </a:extLst>
              </a:tr>
              <a:tr h="361191">
                <a:tc>
                  <a:txBody>
                    <a:bodyPr/>
                    <a:lstStyle/>
                    <a:p>
                      <a:pPr>
                        <a:buNone/>
                      </a:pPr>
                      <a:r>
                        <a:rPr lang="en-IN" sz="1400" b="1" dirty="0">
                          <a:latin typeface="Times New Roman" panose="02020603050405020304" pitchFamily="18" charset="0"/>
                          <a:cs typeface="Times New Roman" panose="02020603050405020304" pitchFamily="18" charset="0"/>
                        </a:rPr>
                        <a:t>Order Tracking</a:t>
                      </a:r>
                      <a:endParaRPr lang="en-IN" sz="1400" dirty="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Real-time &amp; integrated</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Limited</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Basic</a:t>
                      </a:r>
                    </a:p>
                  </a:txBody>
                  <a:tcPr marL="48666" marR="48666" marT="24333" marB="24333" anchor="ctr"/>
                </a:tc>
                <a:extLst>
                  <a:ext uri="{0D108BD9-81ED-4DB2-BD59-A6C34878D82A}">
                    <a16:rowId xmlns:a16="http://schemas.microsoft.com/office/drawing/2014/main" val="562879408"/>
                  </a:ext>
                </a:extLst>
              </a:tr>
              <a:tr h="361191">
                <a:tc>
                  <a:txBody>
                    <a:bodyPr/>
                    <a:lstStyle/>
                    <a:p>
                      <a:pPr>
                        <a:buNone/>
                      </a:pPr>
                      <a:r>
                        <a:rPr lang="en-IN" sz="1400" b="1">
                          <a:latin typeface="Times New Roman" panose="02020603050405020304" pitchFamily="18" charset="0"/>
                          <a:cs typeface="Times New Roman" panose="02020603050405020304" pitchFamily="18" charset="0"/>
                        </a:rPr>
                        <a:t>Inventory Management</a:t>
                      </a:r>
                      <a:endParaRPr lang="en-IN" sz="140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Simple + Visual</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Advanced</a:t>
                      </a: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 Advanced</a:t>
                      </a:r>
                    </a:p>
                  </a:txBody>
                  <a:tcPr marL="48666" marR="48666" marT="24333" marB="24333" anchor="ctr"/>
                </a:tc>
                <a:extLst>
                  <a:ext uri="{0D108BD9-81ED-4DB2-BD59-A6C34878D82A}">
                    <a16:rowId xmlns:a16="http://schemas.microsoft.com/office/drawing/2014/main" val="1366850964"/>
                  </a:ext>
                </a:extLst>
              </a:tr>
              <a:tr h="331281">
                <a:tc>
                  <a:txBody>
                    <a:bodyPr/>
                    <a:lstStyle/>
                    <a:p>
                      <a:pPr>
                        <a:buNone/>
                      </a:pPr>
                      <a:r>
                        <a:rPr lang="en-IN" sz="1400" b="1">
                          <a:latin typeface="Times New Roman" panose="02020603050405020304" pitchFamily="18" charset="0"/>
                          <a:cs typeface="Times New Roman" panose="02020603050405020304" pitchFamily="18" charset="0"/>
                        </a:rPr>
                        <a:t>Invoicing &amp; GST</a:t>
                      </a:r>
                      <a:endParaRPr lang="en-IN" sz="140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Basic GST billing</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Strong GST support</a:t>
                      </a: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 Strong GST support</a:t>
                      </a:r>
                    </a:p>
                  </a:txBody>
                  <a:tcPr marL="48666" marR="48666" marT="24333" marB="24333" anchor="ctr"/>
                </a:tc>
                <a:extLst>
                  <a:ext uri="{0D108BD9-81ED-4DB2-BD59-A6C34878D82A}">
                    <a16:rowId xmlns:a16="http://schemas.microsoft.com/office/drawing/2014/main" val="3772005431"/>
                  </a:ext>
                </a:extLst>
              </a:tr>
              <a:tr h="528434">
                <a:tc>
                  <a:txBody>
                    <a:bodyPr/>
                    <a:lstStyle/>
                    <a:p>
                      <a:pPr>
                        <a:buNone/>
                      </a:pPr>
                      <a:r>
                        <a:rPr lang="en-IN" sz="1400" b="1">
                          <a:latin typeface="Times New Roman" panose="02020603050405020304" pitchFamily="18" charset="0"/>
                          <a:cs typeface="Times New Roman" panose="02020603050405020304" pitchFamily="18" charset="0"/>
                        </a:rPr>
                        <a:t>Customer Follow-up</a:t>
                      </a:r>
                      <a:endParaRPr lang="en-IN" sz="140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Built-in reminders &amp; CRM-lite</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Not focused</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Limited CRM</a:t>
                      </a:r>
                    </a:p>
                  </a:txBody>
                  <a:tcPr marL="48666" marR="48666" marT="24333" marB="24333" anchor="ctr"/>
                </a:tc>
                <a:extLst>
                  <a:ext uri="{0D108BD9-81ED-4DB2-BD59-A6C34878D82A}">
                    <a16:rowId xmlns:a16="http://schemas.microsoft.com/office/drawing/2014/main" val="865083589"/>
                  </a:ext>
                </a:extLst>
              </a:tr>
              <a:tr h="361191">
                <a:tc>
                  <a:txBody>
                    <a:bodyPr/>
                    <a:lstStyle/>
                    <a:p>
                      <a:pPr>
                        <a:buNone/>
                      </a:pPr>
                      <a:r>
                        <a:rPr lang="en-IN" sz="1400" b="1">
                          <a:latin typeface="Times New Roman" panose="02020603050405020304" pitchFamily="18" charset="0"/>
                          <a:cs typeface="Times New Roman" panose="02020603050405020304" pitchFamily="18" charset="0"/>
                        </a:rPr>
                        <a:t>Analytics Dashboard</a:t>
                      </a:r>
                      <a:endParaRPr lang="en-IN" sz="140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 Simple visual insights</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Accounting reports</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Detailed financial reports</a:t>
                      </a:r>
                    </a:p>
                  </a:txBody>
                  <a:tcPr marL="48666" marR="48666" marT="24333" marB="24333" anchor="ctr"/>
                </a:tc>
                <a:extLst>
                  <a:ext uri="{0D108BD9-81ED-4DB2-BD59-A6C34878D82A}">
                    <a16:rowId xmlns:a16="http://schemas.microsoft.com/office/drawing/2014/main" val="3982387193"/>
                  </a:ext>
                </a:extLst>
              </a:tr>
              <a:tr h="528434">
                <a:tc>
                  <a:txBody>
                    <a:bodyPr/>
                    <a:lstStyle/>
                    <a:p>
                      <a:pPr>
                        <a:buNone/>
                      </a:pPr>
                      <a:r>
                        <a:rPr lang="en-IN" sz="1400" b="1">
                          <a:latin typeface="Times New Roman" panose="02020603050405020304" pitchFamily="18" charset="0"/>
                          <a:cs typeface="Times New Roman" panose="02020603050405020304" pitchFamily="18" charset="0"/>
                        </a:rPr>
                        <a:t>Customization</a:t>
                      </a:r>
                      <a:endParaRPr lang="en-IN" sz="140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 Easily customizable (Low-code)</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Limited</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Limited to settings</a:t>
                      </a:r>
                    </a:p>
                  </a:txBody>
                  <a:tcPr marL="48666" marR="48666" marT="24333" marB="24333" anchor="ctr"/>
                </a:tc>
                <a:extLst>
                  <a:ext uri="{0D108BD9-81ED-4DB2-BD59-A6C34878D82A}">
                    <a16:rowId xmlns:a16="http://schemas.microsoft.com/office/drawing/2014/main" val="3455992063"/>
                  </a:ext>
                </a:extLst>
              </a:tr>
              <a:tr h="361191">
                <a:tc>
                  <a:txBody>
                    <a:bodyPr/>
                    <a:lstStyle/>
                    <a:p>
                      <a:pPr>
                        <a:buNone/>
                      </a:pPr>
                      <a:r>
                        <a:rPr lang="en-IN" sz="1400" b="1" dirty="0">
                          <a:latin typeface="Times New Roman" panose="02020603050405020304" pitchFamily="18" charset="0"/>
                          <a:cs typeface="Times New Roman" panose="02020603050405020304" pitchFamily="18" charset="0"/>
                        </a:rPr>
                        <a:t>Cost</a:t>
                      </a:r>
                      <a:endParaRPr lang="en-IN" sz="1400" dirty="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Affordable for micro businesses</a:t>
                      </a:r>
                    </a:p>
                  </a:txBody>
                  <a:tcPr marL="48666" marR="48666" marT="24333" marB="24333" anchor="ctr"/>
                </a:tc>
                <a:tc>
                  <a:txBody>
                    <a:bodyPr/>
                    <a:lstStyle/>
                    <a:p>
                      <a:pPr>
                        <a:buNone/>
                      </a:pPr>
                      <a:r>
                        <a:rPr lang="en-IN" sz="1400">
                          <a:latin typeface="Times New Roman" panose="02020603050405020304" pitchFamily="18" charset="0"/>
                          <a:cs typeface="Times New Roman" panose="02020603050405020304" pitchFamily="18" charset="0"/>
                        </a:rPr>
                        <a:t>Moderate</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Monthly subscription</a:t>
                      </a:r>
                    </a:p>
                  </a:txBody>
                  <a:tcPr marL="48666" marR="48666" marT="24333" marB="24333" anchor="ctr"/>
                </a:tc>
                <a:extLst>
                  <a:ext uri="{0D108BD9-81ED-4DB2-BD59-A6C34878D82A}">
                    <a16:rowId xmlns:a16="http://schemas.microsoft.com/office/drawing/2014/main" val="2136613552"/>
                  </a:ext>
                </a:extLst>
              </a:tr>
              <a:tr h="361191">
                <a:tc>
                  <a:txBody>
                    <a:bodyPr/>
                    <a:lstStyle/>
                    <a:p>
                      <a:pPr>
                        <a:buNone/>
                      </a:pPr>
                      <a:r>
                        <a:rPr lang="en-IN" sz="1400" b="1" dirty="0">
                          <a:latin typeface="Times New Roman" panose="02020603050405020304" pitchFamily="18" charset="0"/>
                          <a:cs typeface="Times New Roman" panose="02020603050405020304" pitchFamily="18" charset="0"/>
                        </a:rPr>
                        <a:t>IT Knowledge Required</a:t>
                      </a:r>
                      <a:endParaRPr lang="en-IN" sz="1400" dirty="0">
                        <a:latin typeface="Times New Roman" panose="02020603050405020304" pitchFamily="18" charset="0"/>
                        <a:cs typeface="Times New Roman" panose="02020603050405020304" pitchFamily="18" charset="0"/>
                      </a:endParaRP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No</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Yes</a:t>
                      </a:r>
                    </a:p>
                  </a:txBody>
                  <a:tcPr marL="48666" marR="48666" marT="24333" marB="24333" anchor="ctr"/>
                </a:tc>
                <a:tc>
                  <a:txBody>
                    <a:bodyPr/>
                    <a:lstStyle/>
                    <a:p>
                      <a:pPr>
                        <a:buNone/>
                      </a:pPr>
                      <a:r>
                        <a:rPr lang="en-IN" sz="1400" dirty="0">
                          <a:latin typeface="Times New Roman" panose="02020603050405020304" pitchFamily="18" charset="0"/>
                          <a:cs typeface="Times New Roman" panose="02020603050405020304" pitchFamily="18" charset="0"/>
                        </a:rPr>
                        <a:t>⚠️ Basic</a:t>
                      </a:r>
                    </a:p>
                  </a:txBody>
                  <a:tcPr marL="48666" marR="48666" marT="24333" marB="24333" anchor="ctr"/>
                </a:tc>
                <a:extLst>
                  <a:ext uri="{0D108BD9-81ED-4DB2-BD59-A6C34878D82A}">
                    <a16:rowId xmlns:a16="http://schemas.microsoft.com/office/drawing/2014/main" val="4290009053"/>
                  </a:ext>
                </a:extLst>
              </a:tr>
            </a:tbl>
          </a:graphicData>
        </a:graphic>
      </p:graphicFrame>
    </p:spTree>
    <p:extLst>
      <p:ext uri="{BB962C8B-B14F-4D97-AF65-F5344CB8AC3E}">
        <p14:creationId xmlns:p14="http://schemas.microsoft.com/office/powerpoint/2010/main" val="4167551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742797" y="1985186"/>
            <a:ext cx="752420" cy="1012133"/>
          </a:xfrm>
          <a:custGeom>
            <a:avLst/>
            <a:gdLst/>
            <a:ahLst/>
            <a:cxnLst/>
            <a:rect l="0" t="0" r="0" b="0"/>
            <a:pathLst>
              <a:path w="752420" h="1012133">
                <a:moveTo>
                  <a:pt x="519407" y="947106"/>
                </a:moveTo>
                <a:lnTo>
                  <a:pt x="682921" y="1012133"/>
                </a:lnTo>
                <a:lnTo>
                  <a:pt x="734691" y="843963"/>
                </a:lnTo>
                <a:lnTo>
                  <a:pt x="674774" y="872672"/>
                </a:lnTo>
                <a:lnTo>
                  <a:pt x="570030" y="654036"/>
                </a:lnTo>
                <a:cubicBezTo>
                  <a:pt x="702390" y="562503"/>
                  <a:pt x="752420" y="385852"/>
                  <a:pt x="680662" y="236096"/>
                </a:cubicBezTo>
                <a:cubicBezTo>
                  <a:pt x="601136" y="70091"/>
                  <a:pt x="402091" y="0"/>
                  <a:pt x="236086" y="79534"/>
                </a:cubicBezTo>
                <a:cubicBezTo>
                  <a:pt x="70091" y="159069"/>
                  <a:pt x="0" y="358106"/>
                  <a:pt x="79534" y="524110"/>
                </a:cubicBezTo>
                <a:cubicBezTo>
                  <a:pt x="151182" y="673663"/>
                  <a:pt x="319834" y="745366"/>
                  <a:pt x="473932" y="699956"/>
                </a:cubicBezTo>
                <a:lnTo>
                  <a:pt x="578732" y="918684"/>
                </a:lnTo>
                <a:lnTo>
                  <a:pt x="519407" y="947106"/>
                </a:lnTo>
                <a:close/>
              </a:path>
            </a:pathLst>
          </a:custGeom>
          <a:noFill/>
          <a:ln w="13886">
            <a:solidFill>
              <a:srgbClr val="E0CB15"/>
            </a:solidFill>
          </a:ln>
        </p:spPr>
        <p:txBody>
          <a:bodyPr rtlCol="0" anchor="ctr"/>
          <a:lstStyle/>
          <a:p>
            <a:pPr algn="ctr"/>
            <a:endParaRPr sz="1800"/>
          </a:p>
        </p:txBody>
      </p:sp>
      <p:sp>
        <p:nvSpPr>
          <p:cNvPr id="4" name="Rounded Rectangle 3"/>
          <p:cNvSpPr/>
          <p:nvPr/>
        </p:nvSpPr>
        <p:spPr>
          <a:xfrm>
            <a:off x="6913312" y="3051914"/>
            <a:ext cx="1049017" cy="728202"/>
          </a:xfrm>
          <a:custGeom>
            <a:avLst/>
            <a:gdLst/>
            <a:ahLst/>
            <a:cxnLst/>
            <a:rect l="0" t="0" r="0" b="0"/>
            <a:pathLst>
              <a:path w="1049017" h="728202">
                <a:moveTo>
                  <a:pt x="896187" y="611015"/>
                </a:moveTo>
                <a:lnTo>
                  <a:pt x="1049017" y="523805"/>
                </a:lnTo>
                <a:lnTo>
                  <a:pt x="949892" y="378418"/>
                </a:lnTo>
                <a:lnTo>
                  <a:pt x="934941" y="443159"/>
                </a:lnTo>
                <a:lnTo>
                  <a:pt x="698724" y="388620"/>
                </a:lnTo>
                <a:cubicBezTo>
                  <a:pt x="709769" y="228069"/>
                  <a:pt x="602923" y="78757"/>
                  <a:pt x="441122" y="41410"/>
                </a:cubicBezTo>
                <a:cubicBezTo>
                  <a:pt x="261768" y="0"/>
                  <a:pt x="82812" y="111826"/>
                  <a:pt x="41401" y="291180"/>
                </a:cubicBezTo>
                <a:cubicBezTo>
                  <a:pt x="0" y="470525"/>
                  <a:pt x="111826" y="649491"/>
                  <a:pt x="291180" y="690892"/>
                </a:cubicBezTo>
                <a:cubicBezTo>
                  <a:pt x="452759" y="728202"/>
                  <a:pt x="614014" y="641131"/>
                  <a:pt x="674663" y="492365"/>
                </a:cubicBezTo>
                <a:lnTo>
                  <a:pt x="910990" y="546922"/>
                </a:lnTo>
                <a:lnTo>
                  <a:pt x="896187" y="611015"/>
                </a:lnTo>
                <a:close/>
              </a:path>
            </a:pathLst>
          </a:custGeom>
          <a:noFill/>
          <a:ln w="13886">
            <a:solidFill>
              <a:srgbClr val="7F64EA"/>
            </a:solidFill>
          </a:ln>
        </p:spPr>
        <p:txBody>
          <a:bodyPr rtlCol="0" anchor="ctr"/>
          <a:lstStyle/>
          <a:p>
            <a:pPr algn="ctr"/>
            <a:endParaRPr sz="1800"/>
          </a:p>
        </p:txBody>
      </p:sp>
      <p:sp>
        <p:nvSpPr>
          <p:cNvPr id="5" name="Rounded Rectangle 4"/>
          <p:cNvSpPr/>
          <p:nvPr/>
        </p:nvSpPr>
        <p:spPr>
          <a:xfrm>
            <a:off x="7200504" y="4285479"/>
            <a:ext cx="924757" cy="824077"/>
          </a:xfrm>
          <a:custGeom>
            <a:avLst/>
            <a:gdLst/>
            <a:ahLst/>
            <a:cxnLst/>
            <a:rect l="0" t="0" r="0" b="0"/>
            <a:pathLst>
              <a:path w="924757" h="824077">
                <a:moveTo>
                  <a:pt x="897576" y="187084"/>
                </a:moveTo>
                <a:lnTo>
                  <a:pt x="924757" y="13229"/>
                </a:lnTo>
                <a:lnTo>
                  <a:pt x="749300" y="0"/>
                </a:lnTo>
                <a:lnTo>
                  <a:pt x="790563" y="52066"/>
                </a:lnTo>
                <a:lnTo>
                  <a:pt x="600572" y="202656"/>
                </a:lnTo>
                <a:cubicBezTo>
                  <a:pt x="481987" y="93857"/>
                  <a:pt x="298642" y="84210"/>
                  <a:pt x="168503" y="187353"/>
                </a:cubicBezTo>
                <a:cubicBezTo>
                  <a:pt x="24255" y="301688"/>
                  <a:pt x="0" y="511316"/>
                  <a:pt x="114326" y="655573"/>
                </a:cubicBezTo>
                <a:cubicBezTo>
                  <a:pt x="228661" y="799821"/>
                  <a:pt x="438289" y="824077"/>
                  <a:pt x="582546" y="709741"/>
                </a:cubicBezTo>
                <a:cubicBezTo>
                  <a:pt x="712500" y="606737"/>
                  <a:pt x="745070" y="426393"/>
                  <a:pt x="666646" y="286181"/>
                </a:cubicBezTo>
                <a:lnTo>
                  <a:pt x="856720" y="135527"/>
                </a:lnTo>
                <a:lnTo>
                  <a:pt x="897576" y="187084"/>
                </a:lnTo>
                <a:close/>
              </a:path>
            </a:pathLst>
          </a:custGeom>
          <a:noFill/>
          <a:ln w="13886">
            <a:solidFill>
              <a:srgbClr val="DE8431"/>
            </a:solidFill>
          </a:ln>
        </p:spPr>
        <p:txBody>
          <a:bodyPr rtlCol="0" anchor="ctr"/>
          <a:lstStyle/>
          <a:p>
            <a:pPr algn="ctr"/>
            <a:endParaRPr sz="1800"/>
          </a:p>
        </p:txBody>
      </p:sp>
      <p:sp>
        <p:nvSpPr>
          <p:cNvPr id="6" name="Rounded Rectangle 5"/>
          <p:cNvSpPr/>
          <p:nvPr/>
        </p:nvSpPr>
        <p:spPr>
          <a:xfrm>
            <a:off x="8461649" y="4622440"/>
            <a:ext cx="666571" cy="1034121"/>
          </a:xfrm>
          <a:custGeom>
            <a:avLst/>
            <a:gdLst/>
            <a:ahLst/>
            <a:cxnLst/>
            <a:rect l="0" t="0" r="0" b="0"/>
            <a:pathLst>
              <a:path w="666571" h="1034121">
                <a:moveTo>
                  <a:pt x="452648" y="129296"/>
                </a:moveTo>
                <a:lnTo>
                  <a:pt x="333285" y="0"/>
                </a:lnTo>
                <a:lnTo>
                  <a:pt x="213932" y="129296"/>
                </a:lnTo>
                <a:lnTo>
                  <a:pt x="280367" y="129296"/>
                </a:lnTo>
                <a:lnTo>
                  <a:pt x="280367" y="371724"/>
                </a:lnTo>
                <a:cubicBezTo>
                  <a:pt x="121445" y="397082"/>
                  <a:pt x="0" y="534775"/>
                  <a:pt x="0" y="700835"/>
                </a:cubicBezTo>
                <a:cubicBezTo>
                  <a:pt x="0" y="884902"/>
                  <a:pt x="149219" y="1034121"/>
                  <a:pt x="333285" y="1034121"/>
                </a:cubicBezTo>
                <a:cubicBezTo>
                  <a:pt x="517352" y="1034121"/>
                  <a:pt x="666571" y="884902"/>
                  <a:pt x="666571" y="700835"/>
                </a:cubicBezTo>
                <a:cubicBezTo>
                  <a:pt x="666571" y="535007"/>
                  <a:pt x="545459" y="397462"/>
                  <a:pt x="386870" y="371826"/>
                </a:cubicBezTo>
                <a:lnTo>
                  <a:pt x="386870" y="129296"/>
                </a:lnTo>
                <a:lnTo>
                  <a:pt x="452648" y="129296"/>
                </a:lnTo>
                <a:close/>
              </a:path>
            </a:pathLst>
          </a:custGeom>
          <a:noFill/>
          <a:ln w="13886">
            <a:solidFill>
              <a:srgbClr val="E55753"/>
            </a:solidFill>
          </a:ln>
        </p:spPr>
        <p:txBody>
          <a:bodyPr rtlCol="0" anchor="ctr"/>
          <a:lstStyle/>
          <a:p>
            <a:pPr algn="ctr"/>
            <a:endParaRPr sz="1800"/>
          </a:p>
        </p:txBody>
      </p:sp>
      <p:sp>
        <p:nvSpPr>
          <p:cNvPr id="7" name="Rounded Rectangle 6"/>
          <p:cNvSpPr/>
          <p:nvPr/>
        </p:nvSpPr>
        <p:spPr>
          <a:xfrm>
            <a:off x="9462746" y="4288422"/>
            <a:ext cx="923017" cy="825160"/>
          </a:xfrm>
          <a:custGeom>
            <a:avLst/>
            <a:gdLst/>
            <a:ahLst/>
            <a:cxnLst/>
            <a:rect l="0" t="0" r="0" b="0"/>
            <a:pathLst>
              <a:path w="923017" h="825160">
                <a:moveTo>
                  <a:pt x="175512" y="0"/>
                </a:moveTo>
                <a:lnTo>
                  <a:pt x="0" y="12618"/>
                </a:lnTo>
                <a:lnTo>
                  <a:pt x="26579" y="186566"/>
                </a:lnTo>
                <a:lnTo>
                  <a:pt x="68027" y="134638"/>
                </a:lnTo>
                <a:lnTo>
                  <a:pt x="257491" y="285894"/>
                </a:lnTo>
                <a:cubicBezTo>
                  <a:pt x="178159" y="425902"/>
                  <a:pt x="210007" y="606728"/>
                  <a:pt x="339785" y="710325"/>
                </a:cubicBezTo>
                <a:cubicBezTo>
                  <a:pt x="483634" y="825160"/>
                  <a:pt x="693345" y="801636"/>
                  <a:pt x="808181" y="657786"/>
                </a:cubicBezTo>
                <a:cubicBezTo>
                  <a:pt x="923017" y="513936"/>
                  <a:pt x="899492" y="304225"/>
                  <a:pt x="755642" y="189389"/>
                </a:cubicBezTo>
                <a:cubicBezTo>
                  <a:pt x="626040" y="85932"/>
                  <a:pt x="442992" y="94773"/>
                  <a:pt x="324018" y="202721"/>
                </a:cubicBezTo>
                <a:lnTo>
                  <a:pt x="134471" y="51409"/>
                </a:lnTo>
                <a:lnTo>
                  <a:pt x="175512" y="0"/>
                </a:lnTo>
                <a:close/>
              </a:path>
            </a:pathLst>
          </a:custGeom>
          <a:noFill/>
          <a:ln w="13886">
            <a:solidFill>
              <a:srgbClr val="1EABDA"/>
            </a:solidFill>
          </a:ln>
        </p:spPr>
        <p:txBody>
          <a:bodyPr rtlCol="0" anchor="ctr"/>
          <a:lstStyle/>
          <a:p>
            <a:pPr algn="ctr"/>
            <a:endParaRPr sz="1800"/>
          </a:p>
        </p:txBody>
      </p:sp>
      <p:sp>
        <p:nvSpPr>
          <p:cNvPr id="8" name="Rounded Rectangle 7"/>
          <p:cNvSpPr/>
          <p:nvPr/>
        </p:nvSpPr>
        <p:spPr>
          <a:xfrm>
            <a:off x="9628206" y="3057570"/>
            <a:ext cx="1049193" cy="727581"/>
          </a:xfrm>
          <a:custGeom>
            <a:avLst/>
            <a:gdLst/>
            <a:ahLst/>
            <a:cxnLst/>
            <a:rect l="0" t="0" r="0" b="0"/>
            <a:pathLst>
              <a:path w="1049193" h="727581">
                <a:moveTo>
                  <a:pt x="99633" y="376020"/>
                </a:moveTo>
                <a:lnTo>
                  <a:pt x="0" y="521055"/>
                </a:lnTo>
                <a:lnTo>
                  <a:pt x="152524" y="608802"/>
                </a:lnTo>
                <a:lnTo>
                  <a:pt x="137804" y="544015"/>
                </a:lnTo>
                <a:lnTo>
                  <a:pt x="374206" y="490300"/>
                </a:lnTo>
                <a:cubicBezTo>
                  <a:pt x="434142" y="639659"/>
                  <a:pt x="595322" y="727581"/>
                  <a:pt x="757253" y="690790"/>
                </a:cubicBezTo>
                <a:cubicBezTo>
                  <a:pt x="936746" y="650009"/>
                  <a:pt x="1049193" y="471442"/>
                  <a:pt x="1008412" y="291949"/>
                </a:cubicBezTo>
                <a:cubicBezTo>
                  <a:pt x="967640" y="112456"/>
                  <a:pt x="789063" y="0"/>
                  <a:pt x="609570" y="40781"/>
                </a:cubicBezTo>
                <a:cubicBezTo>
                  <a:pt x="447862" y="77526"/>
                  <a:pt x="340571" y="226097"/>
                  <a:pt x="350718" y="386426"/>
                </a:cubicBezTo>
                <a:lnTo>
                  <a:pt x="114205" y="440159"/>
                </a:lnTo>
                <a:lnTo>
                  <a:pt x="99633" y="376020"/>
                </a:lnTo>
                <a:close/>
              </a:path>
            </a:pathLst>
          </a:custGeom>
          <a:noFill/>
          <a:ln w="13886">
            <a:solidFill>
              <a:srgbClr val="92BD39"/>
            </a:solidFill>
          </a:ln>
        </p:spPr>
        <p:txBody>
          <a:bodyPr rtlCol="0" anchor="ctr"/>
          <a:lstStyle/>
          <a:p>
            <a:pPr algn="ctr"/>
            <a:endParaRPr sz="1800"/>
          </a:p>
        </p:txBody>
      </p:sp>
      <p:sp>
        <p:nvSpPr>
          <p:cNvPr id="9" name="Rounded Rectangle 8"/>
          <p:cNvSpPr/>
          <p:nvPr/>
        </p:nvSpPr>
        <p:spPr>
          <a:xfrm>
            <a:off x="9099622" y="1987462"/>
            <a:ext cx="752411" cy="1011152"/>
          </a:xfrm>
          <a:custGeom>
            <a:avLst/>
            <a:gdLst/>
            <a:ahLst/>
            <a:cxnLst/>
            <a:rect l="0" t="0" r="0" b="0"/>
            <a:pathLst>
              <a:path w="752411" h="1011152">
                <a:moveTo>
                  <a:pt x="16025" y="842796"/>
                </a:moveTo>
                <a:lnTo>
                  <a:pt x="67212" y="1011152"/>
                </a:lnTo>
                <a:lnTo>
                  <a:pt x="230948" y="946689"/>
                </a:lnTo>
                <a:lnTo>
                  <a:pt x="171133" y="917777"/>
                </a:lnTo>
                <a:lnTo>
                  <a:pt x="276645" y="699511"/>
                </a:lnTo>
                <a:cubicBezTo>
                  <a:pt x="430762" y="745847"/>
                  <a:pt x="600025" y="674737"/>
                  <a:pt x="672302" y="525230"/>
                </a:cubicBezTo>
                <a:cubicBezTo>
                  <a:pt x="752411" y="359513"/>
                  <a:pt x="683014" y="160227"/>
                  <a:pt x="517296" y="80118"/>
                </a:cubicBezTo>
                <a:cubicBezTo>
                  <a:pt x="351579" y="0"/>
                  <a:pt x="152293" y="69397"/>
                  <a:pt x="72174" y="235124"/>
                </a:cubicBezTo>
                <a:cubicBezTo>
                  <a:pt x="0" y="384417"/>
                  <a:pt x="49178" y="560966"/>
                  <a:pt x="180807" y="653064"/>
                </a:cubicBezTo>
                <a:lnTo>
                  <a:pt x="75248" y="871422"/>
                </a:lnTo>
                <a:lnTo>
                  <a:pt x="16025" y="842796"/>
                </a:lnTo>
                <a:close/>
              </a:path>
            </a:pathLst>
          </a:custGeom>
          <a:noFill/>
          <a:ln w="13886">
            <a:solidFill>
              <a:srgbClr val="3CC583"/>
            </a:solidFill>
          </a:ln>
        </p:spPr>
        <p:txBody>
          <a:bodyPr rtlCol="0" anchor="ctr"/>
          <a:lstStyle/>
          <a:p>
            <a:pPr algn="ctr"/>
            <a:endParaRPr sz="1800"/>
          </a:p>
        </p:txBody>
      </p:sp>
      <p:sp>
        <p:nvSpPr>
          <p:cNvPr id="10" name="Rounded Rectangle 9"/>
          <p:cNvSpPr/>
          <p:nvPr/>
        </p:nvSpPr>
        <p:spPr>
          <a:xfrm>
            <a:off x="8128363" y="3101351"/>
            <a:ext cx="1333143" cy="1333143"/>
          </a:xfrm>
          <a:custGeom>
            <a:avLst/>
            <a:gdLst/>
            <a:ahLst/>
            <a:cxnLst/>
            <a:rect l="0" t="0" r="0" b="0"/>
            <a:pathLst>
              <a:path w="1333143" h="1333143">
                <a:moveTo>
                  <a:pt x="0" y="666571"/>
                </a:moveTo>
                <a:cubicBezTo>
                  <a:pt x="0" y="1034709"/>
                  <a:pt x="298434" y="1333143"/>
                  <a:pt x="666571" y="1333143"/>
                </a:cubicBezTo>
                <a:cubicBezTo>
                  <a:pt x="1034709" y="1333143"/>
                  <a:pt x="1333143" y="1034709"/>
                  <a:pt x="1333143" y="666571"/>
                </a:cubicBezTo>
                <a:cubicBezTo>
                  <a:pt x="1333143" y="298434"/>
                  <a:pt x="1034709" y="0"/>
                  <a:pt x="666571" y="0"/>
                </a:cubicBezTo>
                <a:cubicBezTo>
                  <a:pt x="298434" y="0"/>
                  <a:pt x="0" y="298434"/>
                  <a:pt x="0" y="666571"/>
                </a:cubicBezTo>
                <a:close/>
              </a:path>
            </a:pathLst>
          </a:custGeom>
          <a:noFill/>
          <a:ln w="13886">
            <a:solidFill>
              <a:srgbClr val="484848"/>
            </a:solidFill>
          </a:ln>
        </p:spPr>
        <p:txBody>
          <a:bodyPr rtlCol="0" anchor="ctr"/>
          <a:lstStyle/>
          <a:p>
            <a:pPr algn="ctr"/>
            <a:endParaRPr sz="1800"/>
          </a:p>
        </p:txBody>
      </p:sp>
      <p:sp>
        <p:nvSpPr>
          <p:cNvPr id="11" name="Rounded Rectangle 10"/>
          <p:cNvSpPr/>
          <p:nvPr/>
        </p:nvSpPr>
        <p:spPr>
          <a:xfrm>
            <a:off x="7066532" y="3205132"/>
            <a:ext cx="425865" cy="425865"/>
          </a:xfrm>
          <a:custGeom>
            <a:avLst/>
            <a:gdLst/>
            <a:ahLst/>
            <a:cxnLst/>
            <a:rect l="0" t="0" r="0" b="0"/>
            <a:pathLst>
              <a:path w="425865" h="425865">
                <a:moveTo>
                  <a:pt x="240539" y="0"/>
                </a:moveTo>
                <a:cubicBezTo>
                  <a:pt x="235670" y="128648"/>
                  <a:pt x="129833" y="222190"/>
                  <a:pt x="0" y="222190"/>
                </a:cubicBezTo>
                <a:moveTo>
                  <a:pt x="203674" y="37031"/>
                </a:moveTo>
                <a:lnTo>
                  <a:pt x="240706" y="0"/>
                </a:lnTo>
                <a:lnTo>
                  <a:pt x="277738" y="37031"/>
                </a:lnTo>
                <a:moveTo>
                  <a:pt x="411959" y="45400"/>
                </a:moveTo>
                <a:cubicBezTo>
                  <a:pt x="414963" y="44017"/>
                  <a:pt x="418477" y="44342"/>
                  <a:pt x="421177" y="46251"/>
                </a:cubicBezTo>
                <a:cubicBezTo>
                  <a:pt x="423877" y="48161"/>
                  <a:pt x="425353" y="51365"/>
                  <a:pt x="425050" y="54658"/>
                </a:cubicBezTo>
                <a:cubicBezTo>
                  <a:pt x="422143" y="90172"/>
                  <a:pt x="408719" y="171790"/>
                  <a:pt x="347080" y="171790"/>
                </a:cubicBezTo>
                <a:cubicBezTo>
                  <a:pt x="317351" y="171242"/>
                  <a:pt x="293537" y="146986"/>
                  <a:pt x="293537" y="117251"/>
                </a:cubicBezTo>
                <a:cubicBezTo>
                  <a:pt x="293537" y="87517"/>
                  <a:pt x="317351" y="63261"/>
                  <a:pt x="347080" y="62713"/>
                </a:cubicBezTo>
                <a:cubicBezTo>
                  <a:pt x="369647" y="61343"/>
                  <a:pt x="391710" y="55456"/>
                  <a:pt x="411959" y="45400"/>
                </a:cubicBezTo>
                <a:close/>
                <a:moveTo>
                  <a:pt x="369891" y="105040"/>
                </a:moveTo>
                <a:cubicBezTo>
                  <a:pt x="339077" y="117011"/>
                  <a:pt x="315117" y="141973"/>
                  <a:pt x="304419" y="173253"/>
                </a:cubicBezTo>
                <a:cubicBezTo>
                  <a:pt x="302063" y="180059"/>
                  <a:pt x="300867" y="187213"/>
                  <a:pt x="300883" y="194416"/>
                </a:cubicBezTo>
                <a:lnTo>
                  <a:pt x="300883" y="425865"/>
                </a:lnTo>
                <a:moveTo>
                  <a:pt x="0" y="425865"/>
                </a:moveTo>
                <a:lnTo>
                  <a:pt x="425865" y="425865"/>
                </a:lnTo>
                <a:moveTo>
                  <a:pt x="4628" y="379575"/>
                </a:moveTo>
                <a:cubicBezTo>
                  <a:pt x="4628" y="379575"/>
                  <a:pt x="41660" y="379575"/>
                  <a:pt x="41660" y="425865"/>
                </a:cubicBezTo>
                <a:cubicBezTo>
                  <a:pt x="41660" y="425865"/>
                  <a:pt x="41660" y="379575"/>
                  <a:pt x="78692" y="379575"/>
                </a:cubicBezTo>
                <a:moveTo>
                  <a:pt x="171271" y="388833"/>
                </a:moveTo>
                <a:cubicBezTo>
                  <a:pt x="176773" y="372873"/>
                  <a:pt x="191441" y="361872"/>
                  <a:pt x="208303" y="361059"/>
                </a:cubicBezTo>
                <a:moveTo>
                  <a:pt x="162014" y="304845"/>
                </a:moveTo>
                <a:cubicBezTo>
                  <a:pt x="172860" y="315690"/>
                  <a:pt x="172863" y="333275"/>
                  <a:pt x="162019" y="344123"/>
                </a:cubicBezTo>
                <a:cubicBezTo>
                  <a:pt x="151176" y="354971"/>
                  <a:pt x="133592" y="354977"/>
                  <a:pt x="122741" y="344136"/>
                </a:cubicBezTo>
                <a:cubicBezTo>
                  <a:pt x="113221" y="329059"/>
                  <a:pt x="106089" y="312602"/>
                  <a:pt x="101596" y="295346"/>
                </a:cubicBezTo>
                <a:cubicBezTo>
                  <a:pt x="100548" y="292049"/>
                  <a:pt x="101426" y="288442"/>
                  <a:pt x="103873" y="285995"/>
                </a:cubicBezTo>
                <a:cubicBezTo>
                  <a:pt x="106319" y="283548"/>
                  <a:pt x="109926" y="282670"/>
                  <a:pt x="113224" y="283718"/>
                </a:cubicBezTo>
                <a:cubicBezTo>
                  <a:pt x="130476" y="288214"/>
                  <a:pt x="146932" y="295340"/>
                  <a:pt x="162014" y="304845"/>
                </a:cubicBezTo>
                <a:close/>
                <a:moveTo>
                  <a:pt x="161088" y="345080"/>
                </a:moveTo>
                <a:cubicBezTo>
                  <a:pt x="167751" y="355350"/>
                  <a:pt x="171289" y="367333"/>
                  <a:pt x="171271" y="379575"/>
                </a:cubicBezTo>
                <a:lnTo>
                  <a:pt x="171271" y="425865"/>
                </a:lnTo>
                <a:moveTo>
                  <a:pt x="161773" y="217246"/>
                </a:moveTo>
                <a:cubicBezTo>
                  <a:pt x="158535" y="217748"/>
                  <a:pt x="155804" y="219923"/>
                  <a:pt x="154590" y="222966"/>
                </a:cubicBezTo>
                <a:cubicBezTo>
                  <a:pt x="153377" y="226010"/>
                  <a:pt x="153862" y="229467"/>
                  <a:pt x="155866" y="232059"/>
                </a:cubicBezTo>
                <a:cubicBezTo>
                  <a:pt x="174382" y="255667"/>
                  <a:pt x="216765" y="300568"/>
                  <a:pt x="256815" y="274942"/>
                </a:cubicBezTo>
                <a:cubicBezTo>
                  <a:pt x="277139" y="261993"/>
                  <a:pt x="283116" y="235018"/>
                  <a:pt x="270163" y="214696"/>
                </a:cubicBezTo>
                <a:cubicBezTo>
                  <a:pt x="257210" y="194374"/>
                  <a:pt x="230234" y="188403"/>
                  <a:pt x="209914" y="201360"/>
                </a:cubicBezTo>
                <a:cubicBezTo>
                  <a:pt x="195061" y="209753"/>
                  <a:pt x="178705" y="215151"/>
                  <a:pt x="161773" y="217246"/>
                </a:cubicBezTo>
                <a:close/>
                <a:moveTo>
                  <a:pt x="215895" y="237855"/>
                </a:moveTo>
                <a:cubicBezTo>
                  <a:pt x="241833" y="232688"/>
                  <a:pt x="268730" y="239226"/>
                  <a:pt x="289403" y="255722"/>
                </a:cubicBezTo>
                <a:cubicBezTo>
                  <a:pt x="293914" y="259305"/>
                  <a:pt x="297794" y="263617"/>
                  <a:pt x="300883" y="268480"/>
                </a:cubicBezTo>
              </a:path>
            </a:pathLst>
          </a:custGeom>
          <a:noFill/>
          <a:ln w="13886">
            <a:solidFill>
              <a:srgbClr val="7F64EA"/>
            </a:solidFill>
          </a:ln>
        </p:spPr>
        <p:txBody>
          <a:bodyPr rtlCol="0" anchor="ctr"/>
          <a:lstStyle/>
          <a:p>
            <a:pPr algn="ctr"/>
            <a:endParaRPr sz="1800"/>
          </a:p>
        </p:txBody>
      </p:sp>
      <p:sp>
        <p:nvSpPr>
          <p:cNvPr id="12" name="TextBox 11"/>
          <p:cNvSpPr txBox="1"/>
          <p:nvPr/>
        </p:nvSpPr>
        <p:spPr>
          <a:xfrm>
            <a:off x="9924403" y="1897855"/>
            <a:ext cx="726161" cy="430887"/>
          </a:xfrm>
          <a:prstGeom prst="rect">
            <a:avLst/>
          </a:prstGeom>
          <a:noFill/>
          <a:ln>
            <a:noFill/>
          </a:ln>
        </p:spPr>
        <p:txBody>
          <a:bodyPr wrap="none" lIns="0" tIns="0" rIns="0" bIns="0" anchor="t">
            <a:spAutoFit/>
          </a:bodyPr>
          <a:lstStyle/>
          <a:p>
            <a:pPr algn="l"/>
            <a:r>
              <a:rPr>
                <a:solidFill>
                  <a:srgbClr val="484848"/>
                </a:solidFill>
                <a:latin typeface="Roboto"/>
              </a:rPr>
              <a:t>Digital
Adoption</a:t>
            </a:r>
          </a:p>
        </p:txBody>
      </p:sp>
      <p:sp>
        <p:nvSpPr>
          <p:cNvPr id="13" name="Rounded Rectangle 12"/>
          <p:cNvSpPr/>
          <p:nvPr/>
        </p:nvSpPr>
        <p:spPr>
          <a:xfrm>
            <a:off x="9249676" y="2145450"/>
            <a:ext cx="435123" cy="435123"/>
          </a:xfrm>
          <a:custGeom>
            <a:avLst/>
            <a:gdLst/>
            <a:ahLst/>
            <a:cxnLst/>
            <a:rect l="0" t="0" r="0" b="0"/>
            <a:pathLst>
              <a:path w="435123" h="435123">
                <a:moveTo>
                  <a:pt x="0" y="0"/>
                </a:moveTo>
                <a:moveTo>
                  <a:pt x="435123" y="435123"/>
                </a:moveTo>
                <a:lnTo>
                  <a:pt x="392536" y="366059"/>
                </a:lnTo>
                <a:cubicBezTo>
                  <a:pt x="390133" y="362854"/>
                  <a:pt x="388833" y="358955"/>
                  <a:pt x="388833" y="354949"/>
                </a:cubicBezTo>
                <a:lnTo>
                  <a:pt x="388833" y="276627"/>
                </a:lnTo>
                <a:cubicBezTo>
                  <a:pt x="388833" y="250705"/>
                  <a:pt x="324028" y="185158"/>
                  <a:pt x="324028" y="185158"/>
                </a:cubicBezTo>
                <a:moveTo>
                  <a:pt x="61843" y="160532"/>
                </a:moveTo>
                <a:cubicBezTo>
                  <a:pt x="61841" y="174134"/>
                  <a:pt x="72867" y="185162"/>
                  <a:pt x="86469" y="185162"/>
                </a:cubicBezTo>
                <a:cubicBezTo>
                  <a:pt x="100071" y="185162"/>
                  <a:pt x="111097" y="174134"/>
                  <a:pt x="111095" y="160532"/>
                </a:cubicBezTo>
                <a:cubicBezTo>
                  <a:pt x="111097" y="146930"/>
                  <a:pt x="100071" y="135903"/>
                  <a:pt x="86469" y="135903"/>
                </a:cubicBezTo>
                <a:cubicBezTo>
                  <a:pt x="72867" y="135903"/>
                  <a:pt x="61841" y="146930"/>
                  <a:pt x="61843" y="160532"/>
                </a:cubicBezTo>
                <a:moveTo>
                  <a:pt x="142016" y="104985"/>
                </a:moveTo>
                <a:cubicBezTo>
                  <a:pt x="142014" y="118587"/>
                  <a:pt x="153041" y="129614"/>
                  <a:pt x="166642" y="129614"/>
                </a:cubicBezTo>
                <a:cubicBezTo>
                  <a:pt x="180244" y="129614"/>
                  <a:pt x="191271" y="118587"/>
                  <a:pt x="191269" y="104985"/>
                </a:cubicBezTo>
                <a:cubicBezTo>
                  <a:pt x="191271" y="91383"/>
                  <a:pt x="180244" y="80355"/>
                  <a:pt x="166642" y="80355"/>
                </a:cubicBezTo>
                <a:cubicBezTo>
                  <a:pt x="153041" y="80355"/>
                  <a:pt x="142014" y="91383"/>
                  <a:pt x="142016" y="104985"/>
                </a:cubicBezTo>
                <a:moveTo>
                  <a:pt x="222190" y="160532"/>
                </a:moveTo>
                <a:cubicBezTo>
                  <a:pt x="222188" y="174134"/>
                  <a:pt x="233214" y="185162"/>
                  <a:pt x="246816" y="185162"/>
                </a:cubicBezTo>
                <a:cubicBezTo>
                  <a:pt x="260418" y="185162"/>
                  <a:pt x="271444" y="174134"/>
                  <a:pt x="271442" y="160532"/>
                </a:cubicBezTo>
                <a:cubicBezTo>
                  <a:pt x="271444" y="146930"/>
                  <a:pt x="260418" y="135903"/>
                  <a:pt x="246816" y="135903"/>
                </a:cubicBezTo>
                <a:cubicBezTo>
                  <a:pt x="233214" y="135903"/>
                  <a:pt x="222188" y="146930"/>
                  <a:pt x="222190" y="160532"/>
                </a:cubicBezTo>
                <a:moveTo>
                  <a:pt x="0" y="0"/>
                </a:moveTo>
                <a:moveTo>
                  <a:pt x="144609" y="186454"/>
                </a:moveTo>
                <a:lnTo>
                  <a:pt x="122760" y="223486"/>
                </a:lnTo>
                <a:cubicBezTo>
                  <a:pt x="118896" y="231129"/>
                  <a:pt x="119281" y="240231"/>
                  <a:pt x="123776" y="247521"/>
                </a:cubicBezTo>
                <a:cubicBezTo>
                  <a:pt x="128270" y="254810"/>
                  <a:pt x="136230" y="259241"/>
                  <a:pt x="144794" y="259222"/>
                </a:cubicBezTo>
                <a:lnTo>
                  <a:pt x="188491" y="259222"/>
                </a:lnTo>
                <a:cubicBezTo>
                  <a:pt x="197055" y="259241"/>
                  <a:pt x="205014" y="254810"/>
                  <a:pt x="209509" y="247521"/>
                </a:cubicBezTo>
                <a:cubicBezTo>
                  <a:pt x="214004" y="240231"/>
                  <a:pt x="214389" y="231129"/>
                  <a:pt x="210525" y="223486"/>
                </a:cubicBezTo>
                <a:lnTo>
                  <a:pt x="188676" y="186454"/>
                </a:lnTo>
                <a:cubicBezTo>
                  <a:pt x="184508" y="178103"/>
                  <a:pt x="175976" y="172826"/>
                  <a:pt x="166642" y="172826"/>
                </a:cubicBezTo>
                <a:cubicBezTo>
                  <a:pt x="157309" y="172826"/>
                  <a:pt x="148777" y="178103"/>
                  <a:pt x="144609" y="186454"/>
                </a:cubicBezTo>
                <a:close/>
                <a:moveTo>
                  <a:pt x="286996" y="435123"/>
                </a:moveTo>
                <a:lnTo>
                  <a:pt x="46289" y="435123"/>
                </a:lnTo>
                <a:cubicBezTo>
                  <a:pt x="25837" y="435123"/>
                  <a:pt x="9257" y="418543"/>
                  <a:pt x="9257" y="398091"/>
                </a:cubicBezTo>
                <a:lnTo>
                  <a:pt x="9257" y="46289"/>
                </a:lnTo>
                <a:cubicBezTo>
                  <a:pt x="9257" y="25837"/>
                  <a:pt x="25837" y="9257"/>
                  <a:pt x="46289" y="9257"/>
                </a:cubicBezTo>
                <a:lnTo>
                  <a:pt x="286996" y="9257"/>
                </a:lnTo>
                <a:cubicBezTo>
                  <a:pt x="307448" y="9257"/>
                  <a:pt x="324028" y="25837"/>
                  <a:pt x="324028" y="46289"/>
                </a:cubicBezTo>
                <a:lnTo>
                  <a:pt x="324028" y="296254"/>
                </a:lnTo>
                <a:lnTo>
                  <a:pt x="282367" y="263851"/>
                </a:lnTo>
                <a:cubicBezTo>
                  <a:pt x="274659" y="256275"/>
                  <a:pt x="262301" y="256275"/>
                  <a:pt x="254593" y="263851"/>
                </a:cubicBezTo>
                <a:cubicBezTo>
                  <a:pt x="248421" y="272080"/>
                  <a:pt x="248421" y="283395"/>
                  <a:pt x="254593" y="291625"/>
                </a:cubicBezTo>
                <a:lnTo>
                  <a:pt x="305512" y="351801"/>
                </a:lnTo>
                <a:lnTo>
                  <a:pt x="305512" y="370317"/>
                </a:lnTo>
                <a:cubicBezTo>
                  <a:pt x="305512" y="388833"/>
                  <a:pt x="342543" y="435123"/>
                  <a:pt x="342543" y="435123"/>
                </a:cubicBezTo>
                <a:moveTo>
                  <a:pt x="9257" y="351801"/>
                </a:moveTo>
                <a:lnTo>
                  <a:pt x="253297" y="351801"/>
                </a:lnTo>
                <a:moveTo>
                  <a:pt x="171271" y="393462"/>
                </a:moveTo>
                <a:moveTo>
                  <a:pt x="166642" y="388833"/>
                </a:moveTo>
                <a:cubicBezTo>
                  <a:pt x="169199" y="388833"/>
                  <a:pt x="171271" y="390906"/>
                  <a:pt x="171271" y="393462"/>
                </a:cubicBezTo>
                <a:moveTo>
                  <a:pt x="162014" y="393462"/>
                </a:moveTo>
                <a:cubicBezTo>
                  <a:pt x="162014" y="390906"/>
                  <a:pt x="164086" y="388833"/>
                  <a:pt x="166642" y="388833"/>
                </a:cubicBezTo>
                <a:moveTo>
                  <a:pt x="162014" y="393462"/>
                </a:moveTo>
                <a:cubicBezTo>
                  <a:pt x="162014" y="396019"/>
                  <a:pt x="164086" y="398091"/>
                  <a:pt x="166642" y="398091"/>
                </a:cubicBezTo>
                <a:moveTo>
                  <a:pt x="166642" y="398091"/>
                </a:moveTo>
                <a:cubicBezTo>
                  <a:pt x="169199" y="398091"/>
                  <a:pt x="171271" y="396019"/>
                  <a:pt x="171271" y="393462"/>
                </a:cubicBezTo>
              </a:path>
            </a:pathLst>
          </a:custGeom>
          <a:noFill/>
          <a:ln w="13886">
            <a:solidFill>
              <a:srgbClr val="3CC583"/>
            </a:solidFill>
          </a:ln>
        </p:spPr>
        <p:txBody>
          <a:bodyPr rtlCol="0" anchor="ctr"/>
          <a:lstStyle/>
          <a:p>
            <a:pPr algn="ctr"/>
            <a:endParaRPr sz="1800"/>
          </a:p>
        </p:txBody>
      </p:sp>
      <p:sp>
        <p:nvSpPr>
          <p:cNvPr id="14" name="Rounded Rectangle 13"/>
          <p:cNvSpPr/>
          <p:nvPr/>
        </p:nvSpPr>
        <p:spPr>
          <a:xfrm>
            <a:off x="10089426" y="3201160"/>
            <a:ext cx="424448" cy="425502"/>
          </a:xfrm>
          <a:custGeom>
            <a:avLst/>
            <a:gdLst/>
            <a:ahLst/>
            <a:cxnLst/>
            <a:rect l="0" t="0" r="0" b="0"/>
            <a:pathLst>
              <a:path w="424448" h="425502">
                <a:moveTo>
                  <a:pt x="0" y="0"/>
                </a:moveTo>
                <a:moveTo>
                  <a:pt x="323037" y="18879"/>
                </a:moveTo>
                <a:lnTo>
                  <a:pt x="221929" y="69566"/>
                </a:lnTo>
                <a:lnTo>
                  <a:pt x="221929" y="191217"/>
                </a:lnTo>
                <a:lnTo>
                  <a:pt x="323037" y="241904"/>
                </a:lnTo>
                <a:lnTo>
                  <a:pt x="424147" y="191217"/>
                </a:lnTo>
                <a:lnTo>
                  <a:pt x="424147" y="69566"/>
                </a:lnTo>
                <a:close/>
                <a:moveTo>
                  <a:pt x="0" y="0"/>
                </a:moveTo>
                <a:moveTo>
                  <a:pt x="221833" y="71316"/>
                </a:moveTo>
                <a:lnTo>
                  <a:pt x="323385" y="123722"/>
                </a:lnTo>
                <a:lnTo>
                  <a:pt x="424448" y="71316"/>
                </a:lnTo>
                <a:moveTo>
                  <a:pt x="0" y="0"/>
                </a:moveTo>
                <a:moveTo>
                  <a:pt x="322909" y="241908"/>
                </a:moveTo>
                <a:lnTo>
                  <a:pt x="322909" y="123714"/>
                </a:lnTo>
                <a:moveTo>
                  <a:pt x="0" y="0"/>
                </a:moveTo>
                <a:moveTo>
                  <a:pt x="78002" y="196992"/>
                </a:moveTo>
                <a:lnTo>
                  <a:pt x="78002" y="425502"/>
                </a:lnTo>
                <a:moveTo>
                  <a:pt x="0" y="0"/>
                </a:moveTo>
                <a:moveTo>
                  <a:pt x="296889" y="292956"/>
                </a:moveTo>
                <a:lnTo>
                  <a:pt x="296889" y="425502"/>
                </a:lnTo>
                <a:moveTo>
                  <a:pt x="170481" y="196992"/>
                </a:moveTo>
                <a:lnTo>
                  <a:pt x="42783" y="196992"/>
                </a:lnTo>
                <a:cubicBezTo>
                  <a:pt x="30163" y="196992"/>
                  <a:pt x="19932" y="207224"/>
                  <a:pt x="19932" y="219844"/>
                </a:cubicBezTo>
                <a:lnTo>
                  <a:pt x="19932" y="402652"/>
                </a:lnTo>
                <a:cubicBezTo>
                  <a:pt x="19932" y="415272"/>
                  <a:pt x="30163" y="425502"/>
                  <a:pt x="42783" y="425502"/>
                </a:cubicBezTo>
                <a:lnTo>
                  <a:pt x="339846" y="425502"/>
                </a:lnTo>
                <a:cubicBezTo>
                  <a:pt x="352466" y="425502"/>
                  <a:pt x="362696" y="415272"/>
                  <a:pt x="362696" y="402652"/>
                </a:cubicBezTo>
                <a:lnTo>
                  <a:pt x="362696" y="292380"/>
                </a:lnTo>
              </a:path>
            </a:pathLst>
          </a:custGeom>
          <a:noFill/>
          <a:ln w="13886">
            <a:solidFill>
              <a:srgbClr val="92BD39"/>
            </a:solidFill>
          </a:ln>
        </p:spPr>
        <p:txBody>
          <a:bodyPr rtlCol="0" anchor="ctr"/>
          <a:lstStyle/>
          <a:p>
            <a:pPr algn="ctr"/>
            <a:endParaRPr sz="1800"/>
          </a:p>
        </p:txBody>
      </p:sp>
      <p:sp>
        <p:nvSpPr>
          <p:cNvPr id="15" name="TextBox 14"/>
          <p:cNvSpPr txBox="1"/>
          <p:nvPr/>
        </p:nvSpPr>
        <p:spPr>
          <a:xfrm>
            <a:off x="8366168" y="5786192"/>
            <a:ext cx="857607" cy="430887"/>
          </a:xfrm>
          <a:prstGeom prst="rect">
            <a:avLst/>
          </a:prstGeom>
          <a:noFill/>
          <a:ln>
            <a:noFill/>
          </a:ln>
        </p:spPr>
        <p:txBody>
          <a:bodyPr wrap="none" lIns="0" tIns="0" rIns="0" bIns="0" anchor="t">
            <a:spAutoFit/>
          </a:bodyPr>
          <a:lstStyle/>
          <a:p>
            <a:pPr algn="ctr"/>
            <a:r>
              <a:rPr>
                <a:solidFill>
                  <a:srgbClr val="484848"/>
                </a:solidFill>
                <a:latin typeface="Roboto"/>
              </a:rPr>
              <a:t>Paperwork
Reduction</a:t>
            </a:r>
          </a:p>
        </p:txBody>
      </p:sp>
      <p:sp>
        <p:nvSpPr>
          <p:cNvPr id="16" name="Rounded Rectangle 15"/>
          <p:cNvSpPr/>
          <p:nvPr/>
        </p:nvSpPr>
        <p:spPr>
          <a:xfrm>
            <a:off x="8489422" y="3448524"/>
            <a:ext cx="611024" cy="638798"/>
          </a:xfrm>
          <a:custGeom>
            <a:avLst/>
            <a:gdLst/>
            <a:ahLst/>
            <a:cxnLst/>
            <a:rect l="0" t="0" r="0" b="0"/>
            <a:pathLst>
              <a:path w="611024" h="638798">
                <a:moveTo>
                  <a:pt x="305567" y="0"/>
                </a:moveTo>
                <a:lnTo>
                  <a:pt x="305567" y="333285"/>
                </a:lnTo>
                <a:moveTo>
                  <a:pt x="152811" y="152756"/>
                </a:moveTo>
                <a:lnTo>
                  <a:pt x="305567" y="0"/>
                </a:lnTo>
                <a:lnTo>
                  <a:pt x="458323" y="152756"/>
                </a:lnTo>
                <a:moveTo>
                  <a:pt x="0" y="527702"/>
                </a:moveTo>
                <a:cubicBezTo>
                  <a:pt x="0" y="589059"/>
                  <a:pt x="49739" y="638798"/>
                  <a:pt x="111095" y="638798"/>
                </a:cubicBezTo>
                <a:lnTo>
                  <a:pt x="499928" y="638798"/>
                </a:lnTo>
                <a:cubicBezTo>
                  <a:pt x="561285" y="638798"/>
                  <a:pt x="611024" y="589059"/>
                  <a:pt x="611024" y="527702"/>
                </a:cubicBezTo>
                <a:cubicBezTo>
                  <a:pt x="611024" y="466346"/>
                  <a:pt x="561285" y="416607"/>
                  <a:pt x="499928" y="416607"/>
                </a:cubicBezTo>
                <a:lnTo>
                  <a:pt x="111095" y="416607"/>
                </a:lnTo>
                <a:cubicBezTo>
                  <a:pt x="49739" y="416607"/>
                  <a:pt x="0" y="466346"/>
                  <a:pt x="0" y="527702"/>
                </a:cubicBezTo>
                <a:close/>
                <a:moveTo>
                  <a:pt x="277738" y="527702"/>
                </a:moveTo>
                <a:lnTo>
                  <a:pt x="83321" y="527702"/>
                </a:lnTo>
                <a:moveTo>
                  <a:pt x="361059" y="527702"/>
                </a:moveTo>
                <a:cubicBezTo>
                  <a:pt x="361059" y="512363"/>
                  <a:pt x="373494" y="499928"/>
                  <a:pt x="388833" y="499928"/>
                </a:cubicBezTo>
                <a:cubicBezTo>
                  <a:pt x="404172" y="499928"/>
                  <a:pt x="416607" y="512363"/>
                  <a:pt x="416607" y="527702"/>
                </a:cubicBezTo>
                <a:cubicBezTo>
                  <a:pt x="416607" y="543041"/>
                  <a:pt x="404172" y="555476"/>
                  <a:pt x="388833" y="555476"/>
                </a:cubicBezTo>
                <a:cubicBezTo>
                  <a:pt x="373494" y="555476"/>
                  <a:pt x="361059" y="543041"/>
                  <a:pt x="361059" y="527702"/>
                </a:cubicBezTo>
                <a:close/>
                <a:moveTo>
                  <a:pt x="472155" y="527702"/>
                </a:moveTo>
                <a:cubicBezTo>
                  <a:pt x="472155" y="512363"/>
                  <a:pt x="484589" y="499928"/>
                  <a:pt x="499928" y="499928"/>
                </a:cubicBezTo>
                <a:cubicBezTo>
                  <a:pt x="515268" y="499928"/>
                  <a:pt x="527702" y="512363"/>
                  <a:pt x="527702" y="527702"/>
                </a:cubicBezTo>
                <a:cubicBezTo>
                  <a:pt x="527702" y="543041"/>
                  <a:pt x="515268" y="555476"/>
                  <a:pt x="499928" y="555476"/>
                </a:cubicBezTo>
                <a:cubicBezTo>
                  <a:pt x="484589" y="555476"/>
                  <a:pt x="472155" y="543041"/>
                  <a:pt x="472155" y="527702"/>
                </a:cubicBezTo>
                <a:close/>
              </a:path>
            </a:pathLst>
          </a:custGeom>
          <a:noFill/>
          <a:ln w="13886">
            <a:solidFill>
              <a:srgbClr val="484848"/>
            </a:solidFill>
          </a:ln>
        </p:spPr>
        <p:txBody>
          <a:bodyPr rtlCol="0" anchor="ctr"/>
          <a:lstStyle/>
          <a:p>
            <a:pPr algn="ctr"/>
            <a:endParaRPr sz="1800"/>
          </a:p>
        </p:txBody>
      </p:sp>
      <p:sp>
        <p:nvSpPr>
          <p:cNvPr id="17" name="TextBox 16"/>
          <p:cNvSpPr txBox="1"/>
          <p:nvPr/>
        </p:nvSpPr>
        <p:spPr>
          <a:xfrm>
            <a:off x="10757618" y="3119904"/>
            <a:ext cx="1158972" cy="430887"/>
          </a:xfrm>
          <a:prstGeom prst="rect">
            <a:avLst/>
          </a:prstGeom>
          <a:noFill/>
          <a:ln>
            <a:noFill/>
          </a:ln>
        </p:spPr>
        <p:txBody>
          <a:bodyPr wrap="none" lIns="0" tIns="0" rIns="0" bIns="0" anchor="t">
            <a:spAutoFit/>
          </a:bodyPr>
          <a:lstStyle/>
          <a:p>
            <a:pPr algn="l"/>
            <a:r>
              <a:rPr>
                <a:solidFill>
                  <a:srgbClr val="484848"/>
                </a:solidFill>
                <a:latin typeface="Roboto"/>
              </a:rPr>
              <a:t>Drag-and-Drop
Components</a:t>
            </a:r>
          </a:p>
        </p:txBody>
      </p:sp>
      <p:sp>
        <p:nvSpPr>
          <p:cNvPr id="18" name="TextBox 17"/>
          <p:cNvSpPr txBox="1"/>
          <p:nvPr/>
        </p:nvSpPr>
        <p:spPr>
          <a:xfrm>
            <a:off x="6687613" y="2120046"/>
            <a:ext cx="977833" cy="215444"/>
          </a:xfrm>
          <a:prstGeom prst="rect">
            <a:avLst/>
          </a:prstGeom>
          <a:noFill/>
          <a:ln>
            <a:noFill/>
          </a:ln>
        </p:spPr>
        <p:txBody>
          <a:bodyPr wrap="none" lIns="0" tIns="0" rIns="0" bIns="0" anchor="t">
            <a:spAutoFit/>
          </a:bodyPr>
          <a:lstStyle/>
          <a:p>
            <a:pPr algn="r"/>
            <a:r>
              <a:rPr>
                <a:solidFill>
                  <a:srgbClr val="484848"/>
                </a:solidFill>
                <a:latin typeface="Roboto"/>
              </a:rPr>
              <a:t>Affordability</a:t>
            </a:r>
          </a:p>
        </p:txBody>
      </p:sp>
      <p:sp>
        <p:nvSpPr>
          <p:cNvPr id="19" name="Rounded Rectangle 18"/>
          <p:cNvSpPr/>
          <p:nvPr/>
        </p:nvSpPr>
        <p:spPr>
          <a:xfrm>
            <a:off x="7909958" y="2152758"/>
            <a:ext cx="425957" cy="424629"/>
          </a:xfrm>
          <a:custGeom>
            <a:avLst/>
            <a:gdLst/>
            <a:ahLst/>
            <a:cxnLst/>
            <a:rect l="0" t="0" r="0" b="0"/>
            <a:pathLst>
              <a:path w="425957" h="424629">
                <a:moveTo>
                  <a:pt x="74" y="183923"/>
                </a:moveTo>
                <a:cubicBezTo>
                  <a:pt x="74" y="194149"/>
                  <a:pt x="41523" y="202439"/>
                  <a:pt x="92653" y="202439"/>
                </a:cubicBezTo>
                <a:cubicBezTo>
                  <a:pt x="143783" y="202439"/>
                  <a:pt x="185232" y="194149"/>
                  <a:pt x="185232" y="183923"/>
                </a:cubicBezTo>
                <a:cubicBezTo>
                  <a:pt x="185232" y="173697"/>
                  <a:pt x="143783" y="165407"/>
                  <a:pt x="92653" y="165407"/>
                </a:cubicBezTo>
                <a:cubicBezTo>
                  <a:pt x="41523" y="165407"/>
                  <a:pt x="74" y="173697"/>
                  <a:pt x="74" y="183923"/>
                </a:cubicBezTo>
                <a:close/>
                <a:moveTo>
                  <a:pt x="185158" y="183923"/>
                </a:moveTo>
                <a:lnTo>
                  <a:pt x="185158" y="239471"/>
                </a:lnTo>
                <a:cubicBezTo>
                  <a:pt x="185158" y="249710"/>
                  <a:pt x="143720" y="257986"/>
                  <a:pt x="92579" y="257986"/>
                </a:cubicBezTo>
                <a:cubicBezTo>
                  <a:pt x="41438" y="257986"/>
                  <a:pt x="0" y="249710"/>
                  <a:pt x="0" y="239471"/>
                </a:cubicBezTo>
                <a:lnTo>
                  <a:pt x="0" y="183923"/>
                </a:lnTo>
                <a:moveTo>
                  <a:pt x="185158" y="239471"/>
                </a:moveTo>
                <a:lnTo>
                  <a:pt x="185158" y="295018"/>
                </a:lnTo>
                <a:cubicBezTo>
                  <a:pt x="185158" y="305257"/>
                  <a:pt x="143720" y="313534"/>
                  <a:pt x="92579" y="313534"/>
                </a:cubicBezTo>
                <a:cubicBezTo>
                  <a:pt x="41438" y="313534"/>
                  <a:pt x="0" y="305257"/>
                  <a:pt x="0" y="295018"/>
                </a:cubicBezTo>
                <a:lnTo>
                  <a:pt x="0" y="239471"/>
                </a:lnTo>
                <a:moveTo>
                  <a:pt x="185158" y="295018"/>
                </a:moveTo>
                <a:lnTo>
                  <a:pt x="185158" y="350566"/>
                </a:lnTo>
                <a:cubicBezTo>
                  <a:pt x="185158" y="360805"/>
                  <a:pt x="143720" y="369082"/>
                  <a:pt x="92579" y="369082"/>
                </a:cubicBezTo>
                <a:cubicBezTo>
                  <a:pt x="41438" y="369082"/>
                  <a:pt x="0" y="360805"/>
                  <a:pt x="0" y="350566"/>
                </a:cubicBezTo>
                <a:lnTo>
                  <a:pt x="0" y="295018"/>
                </a:lnTo>
                <a:moveTo>
                  <a:pt x="185158" y="350566"/>
                </a:moveTo>
                <a:lnTo>
                  <a:pt x="185158" y="406114"/>
                </a:lnTo>
                <a:cubicBezTo>
                  <a:pt x="185158" y="416353"/>
                  <a:pt x="143720" y="424629"/>
                  <a:pt x="92579" y="424629"/>
                </a:cubicBezTo>
                <a:cubicBezTo>
                  <a:pt x="41438" y="424629"/>
                  <a:pt x="0" y="416353"/>
                  <a:pt x="0" y="406114"/>
                </a:cubicBezTo>
                <a:lnTo>
                  <a:pt x="0" y="350566"/>
                </a:lnTo>
                <a:moveTo>
                  <a:pt x="71860" y="119099"/>
                </a:moveTo>
                <a:cubicBezTo>
                  <a:pt x="96726" y="65477"/>
                  <a:pt x="159236" y="27371"/>
                  <a:pt x="232355" y="27371"/>
                </a:cubicBezTo>
                <a:cubicBezTo>
                  <a:pt x="251142" y="27373"/>
                  <a:pt x="269838" y="29990"/>
                  <a:pt x="287903" y="35148"/>
                </a:cubicBezTo>
                <a:cubicBezTo>
                  <a:pt x="299440" y="18754"/>
                  <a:pt x="316103" y="6664"/>
                  <a:pt x="335267" y="782"/>
                </a:cubicBezTo>
                <a:cubicBezTo>
                  <a:pt x="338058" y="0"/>
                  <a:pt x="341055" y="569"/>
                  <a:pt x="343364" y="2322"/>
                </a:cubicBezTo>
                <a:cubicBezTo>
                  <a:pt x="345673" y="4075"/>
                  <a:pt x="347028" y="6808"/>
                  <a:pt x="347024" y="9707"/>
                </a:cubicBezTo>
                <a:lnTo>
                  <a:pt x="347024" y="64495"/>
                </a:lnTo>
                <a:cubicBezTo>
                  <a:pt x="366657" y="81696"/>
                  <a:pt x="381496" y="103692"/>
                  <a:pt x="390092" y="128338"/>
                </a:cubicBezTo>
                <a:lnTo>
                  <a:pt x="407442" y="128338"/>
                </a:lnTo>
                <a:cubicBezTo>
                  <a:pt x="417668" y="128338"/>
                  <a:pt x="425957" y="136628"/>
                  <a:pt x="425957" y="146854"/>
                </a:cubicBezTo>
                <a:lnTo>
                  <a:pt x="425957" y="202402"/>
                </a:lnTo>
                <a:cubicBezTo>
                  <a:pt x="425957" y="212628"/>
                  <a:pt x="417668" y="220918"/>
                  <a:pt x="407442" y="220918"/>
                </a:cubicBezTo>
                <a:lnTo>
                  <a:pt x="390111" y="220918"/>
                </a:lnTo>
                <a:cubicBezTo>
                  <a:pt x="380361" y="245190"/>
                  <a:pt x="363560" y="265983"/>
                  <a:pt x="341877" y="280613"/>
                </a:cubicBezTo>
                <a:lnTo>
                  <a:pt x="356838" y="321181"/>
                </a:lnTo>
                <a:cubicBezTo>
                  <a:pt x="362318" y="336036"/>
                  <a:pt x="354717" y="352520"/>
                  <a:pt x="339861" y="357997"/>
                </a:cubicBezTo>
                <a:cubicBezTo>
                  <a:pt x="325005" y="363474"/>
                  <a:pt x="308522" y="355869"/>
                  <a:pt x="303049" y="341012"/>
                </a:cubicBezTo>
                <a:lnTo>
                  <a:pt x="289958" y="305554"/>
                </a:lnTo>
                <a:cubicBezTo>
                  <a:pt x="271276" y="311161"/>
                  <a:pt x="251879" y="314024"/>
                  <a:pt x="232374" y="314053"/>
                </a:cubicBezTo>
                <a:moveTo>
                  <a:pt x="310215" y="119117"/>
                </a:moveTo>
                <a:cubicBezTo>
                  <a:pt x="307658" y="119117"/>
                  <a:pt x="305586" y="121190"/>
                  <a:pt x="305586" y="123746"/>
                </a:cubicBezTo>
                <a:cubicBezTo>
                  <a:pt x="305586" y="126303"/>
                  <a:pt x="307658" y="128375"/>
                  <a:pt x="310215" y="128375"/>
                </a:cubicBezTo>
                <a:cubicBezTo>
                  <a:pt x="312771" y="128375"/>
                  <a:pt x="314844" y="126303"/>
                  <a:pt x="314844" y="123746"/>
                </a:cubicBezTo>
                <a:cubicBezTo>
                  <a:pt x="314844" y="121190"/>
                  <a:pt x="312771" y="119117"/>
                  <a:pt x="310215" y="119117"/>
                </a:cubicBezTo>
                <a:moveTo>
                  <a:pt x="138869" y="100601"/>
                </a:moveTo>
                <a:cubicBezTo>
                  <a:pt x="158059" y="79433"/>
                  <a:pt x="184483" y="66221"/>
                  <a:pt x="212932" y="63570"/>
                </a:cubicBezTo>
              </a:path>
            </a:pathLst>
          </a:custGeom>
          <a:noFill/>
          <a:ln w="13886">
            <a:solidFill>
              <a:srgbClr val="E0CB15"/>
            </a:solidFill>
          </a:ln>
        </p:spPr>
        <p:txBody>
          <a:bodyPr rtlCol="0" anchor="ctr"/>
          <a:lstStyle/>
          <a:p>
            <a:pPr algn="ctr"/>
            <a:endParaRPr sz="1800"/>
          </a:p>
        </p:txBody>
      </p:sp>
      <p:sp>
        <p:nvSpPr>
          <p:cNvPr id="20" name="Rounded Rectangle 19"/>
          <p:cNvSpPr/>
          <p:nvPr/>
        </p:nvSpPr>
        <p:spPr>
          <a:xfrm>
            <a:off x="7363092" y="4521094"/>
            <a:ext cx="425865" cy="425865"/>
          </a:xfrm>
          <a:custGeom>
            <a:avLst/>
            <a:gdLst/>
            <a:ahLst/>
            <a:cxnLst/>
            <a:rect l="0" t="0" r="0" b="0"/>
            <a:pathLst>
              <a:path w="425865" h="425865">
                <a:moveTo>
                  <a:pt x="240706" y="120353"/>
                </a:moveTo>
                <a:cubicBezTo>
                  <a:pt x="240706" y="156144"/>
                  <a:pt x="269720" y="185158"/>
                  <a:pt x="305512" y="185158"/>
                </a:cubicBezTo>
                <a:cubicBezTo>
                  <a:pt x="341303" y="185158"/>
                  <a:pt x="370317" y="156144"/>
                  <a:pt x="370317" y="120353"/>
                </a:cubicBezTo>
                <a:cubicBezTo>
                  <a:pt x="370317" y="84562"/>
                  <a:pt x="341303" y="55547"/>
                  <a:pt x="305512" y="55547"/>
                </a:cubicBezTo>
                <a:cubicBezTo>
                  <a:pt x="269720" y="55547"/>
                  <a:pt x="240706" y="84562"/>
                  <a:pt x="240706" y="120353"/>
                </a:cubicBezTo>
                <a:moveTo>
                  <a:pt x="55547" y="370317"/>
                </a:moveTo>
                <a:lnTo>
                  <a:pt x="96282" y="313233"/>
                </a:lnTo>
                <a:cubicBezTo>
                  <a:pt x="97729" y="311207"/>
                  <a:pt x="99931" y="309850"/>
                  <a:pt x="102390" y="309467"/>
                </a:cubicBezTo>
                <a:cubicBezTo>
                  <a:pt x="104850" y="309083"/>
                  <a:pt x="107360" y="309707"/>
                  <a:pt x="109354" y="311196"/>
                </a:cubicBezTo>
                <a:lnTo>
                  <a:pt x="131462" y="327731"/>
                </a:lnTo>
                <a:cubicBezTo>
                  <a:pt x="135553" y="330798"/>
                  <a:pt x="141356" y="329969"/>
                  <a:pt x="144423" y="325879"/>
                </a:cubicBezTo>
                <a:lnTo>
                  <a:pt x="194416" y="259222"/>
                </a:lnTo>
                <a:moveTo>
                  <a:pt x="369836" y="112483"/>
                </a:moveTo>
                <a:lnTo>
                  <a:pt x="305512" y="120353"/>
                </a:lnTo>
                <a:lnTo>
                  <a:pt x="319417" y="57047"/>
                </a:lnTo>
                <a:moveTo>
                  <a:pt x="268480" y="240706"/>
                </a:moveTo>
                <a:cubicBezTo>
                  <a:pt x="259222" y="240706"/>
                  <a:pt x="259222" y="249964"/>
                  <a:pt x="259222" y="249964"/>
                </a:cubicBezTo>
                <a:lnTo>
                  <a:pt x="259222" y="361059"/>
                </a:lnTo>
                <a:cubicBezTo>
                  <a:pt x="259222" y="370317"/>
                  <a:pt x="268480" y="370317"/>
                  <a:pt x="268480" y="370317"/>
                </a:cubicBezTo>
                <a:lnTo>
                  <a:pt x="361059" y="370317"/>
                </a:lnTo>
                <a:cubicBezTo>
                  <a:pt x="370317" y="370317"/>
                  <a:pt x="370317" y="361059"/>
                  <a:pt x="370317" y="361059"/>
                </a:cubicBezTo>
                <a:lnTo>
                  <a:pt x="370317" y="249964"/>
                </a:lnTo>
                <a:cubicBezTo>
                  <a:pt x="370317" y="240706"/>
                  <a:pt x="361059" y="240706"/>
                  <a:pt x="361059" y="240706"/>
                </a:cubicBezTo>
                <a:lnTo>
                  <a:pt x="268480" y="240706"/>
                </a:lnTo>
                <a:moveTo>
                  <a:pt x="296254" y="296254"/>
                </a:moveTo>
                <a:lnTo>
                  <a:pt x="333285" y="296254"/>
                </a:lnTo>
                <a:moveTo>
                  <a:pt x="296254" y="333285"/>
                </a:moveTo>
                <a:lnTo>
                  <a:pt x="314769" y="333285"/>
                </a:lnTo>
                <a:moveTo>
                  <a:pt x="64805" y="55547"/>
                </a:moveTo>
                <a:cubicBezTo>
                  <a:pt x="55547" y="55547"/>
                  <a:pt x="55547" y="64805"/>
                  <a:pt x="55547" y="64805"/>
                </a:cubicBezTo>
                <a:lnTo>
                  <a:pt x="55547" y="175900"/>
                </a:lnTo>
                <a:cubicBezTo>
                  <a:pt x="55547" y="185158"/>
                  <a:pt x="64805" y="185158"/>
                  <a:pt x="64805" y="185158"/>
                </a:cubicBezTo>
                <a:lnTo>
                  <a:pt x="157384" y="185158"/>
                </a:lnTo>
                <a:cubicBezTo>
                  <a:pt x="166642" y="185158"/>
                  <a:pt x="166642" y="175900"/>
                  <a:pt x="166642" y="175900"/>
                </a:cubicBezTo>
                <a:lnTo>
                  <a:pt x="166642" y="64805"/>
                </a:lnTo>
                <a:cubicBezTo>
                  <a:pt x="166642" y="55547"/>
                  <a:pt x="157384" y="55547"/>
                  <a:pt x="157384" y="55547"/>
                </a:cubicBezTo>
                <a:lnTo>
                  <a:pt x="64805" y="55547"/>
                </a:lnTo>
                <a:moveTo>
                  <a:pt x="92579" y="92579"/>
                </a:moveTo>
                <a:lnTo>
                  <a:pt x="129611" y="92579"/>
                </a:lnTo>
                <a:moveTo>
                  <a:pt x="92579" y="129611"/>
                </a:moveTo>
                <a:lnTo>
                  <a:pt x="111095" y="129611"/>
                </a:lnTo>
                <a:moveTo>
                  <a:pt x="18515" y="0"/>
                </a:moveTo>
                <a:lnTo>
                  <a:pt x="407349" y="0"/>
                </a:lnTo>
                <a:cubicBezTo>
                  <a:pt x="407349" y="0"/>
                  <a:pt x="425865" y="0"/>
                  <a:pt x="425865" y="18515"/>
                </a:cubicBezTo>
                <a:lnTo>
                  <a:pt x="425865" y="407349"/>
                </a:lnTo>
                <a:cubicBezTo>
                  <a:pt x="425865" y="407349"/>
                  <a:pt x="425865" y="425865"/>
                  <a:pt x="407349" y="425865"/>
                </a:cubicBezTo>
                <a:lnTo>
                  <a:pt x="18515" y="425865"/>
                </a:lnTo>
                <a:cubicBezTo>
                  <a:pt x="18515" y="425865"/>
                  <a:pt x="0" y="425865"/>
                  <a:pt x="0" y="407349"/>
                </a:cubicBezTo>
                <a:lnTo>
                  <a:pt x="0" y="18515"/>
                </a:lnTo>
                <a:cubicBezTo>
                  <a:pt x="0" y="18515"/>
                  <a:pt x="0" y="0"/>
                  <a:pt x="18515" y="0"/>
                </a:cubicBezTo>
              </a:path>
            </a:pathLst>
          </a:custGeom>
          <a:noFill/>
          <a:ln w="13886">
            <a:solidFill>
              <a:srgbClr val="DE8431"/>
            </a:solidFill>
          </a:ln>
        </p:spPr>
        <p:txBody>
          <a:bodyPr rtlCol="0" anchor="ctr"/>
          <a:lstStyle/>
          <a:p>
            <a:pPr algn="ctr"/>
            <a:endParaRPr sz="1800"/>
          </a:p>
        </p:txBody>
      </p:sp>
      <p:sp>
        <p:nvSpPr>
          <p:cNvPr id="21" name="Rounded Rectangle 20"/>
          <p:cNvSpPr/>
          <p:nvPr/>
        </p:nvSpPr>
        <p:spPr>
          <a:xfrm>
            <a:off x="9802152" y="4527194"/>
            <a:ext cx="414966" cy="422162"/>
          </a:xfrm>
          <a:custGeom>
            <a:avLst/>
            <a:gdLst/>
            <a:ahLst/>
            <a:cxnLst/>
            <a:rect l="0" t="0" r="0" b="0"/>
            <a:pathLst>
              <a:path w="414966" h="422162">
                <a:moveTo>
                  <a:pt x="74063" y="183309"/>
                </a:moveTo>
                <a:cubicBezTo>
                  <a:pt x="114967" y="183309"/>
                  <a:pt x="148127" y="170046"/>
                  <a:pt x="148127" y="153684"/>
                </a:cubicBezTo>
                <a:cubicBezTo>
                  <a:pt x="148127" y="137323"/>
                  <a:pt x="114967" y="124059"/>
                  <a:pt x="74063" y="124059"/>
                </a:cubicBezTo>
                <a:cubicBezTo>
                  <a:pt x="33159" y="124059"/>
                  <a:pt x="0" y="137323"/>
                  <a:pt x="0" y="153684"/>
                </a:cubicBezTo>
                <a:cubicBezTo>
                  <a:pt x="0" y="170046"/>
                  <a:pt x="33159" y="183309"/>
                  <a:pt x="74063" y="183309"/>
                </a:cubicBezTo>
                <a:close/>
                <a:moveTo>
                  <a:pt x="0" y="153681"/>
                </a:moveTo>
                <a:lnTo>
                  <a:pt x="0" y="272183"/>
                </a:lnTo>
                <a:cubicBezTo>
                  <a:pt x="0" y="288848"/>
                  <a:pt x="33328" y="301809"/>
                  <a:pt x="74063" y="301809"/>
                </a:cubicBezTo>
                <a:cubicBezTo>
                  <a:pt x="114798" y="301809"/>
                  <a:pt x="148127" y="288848"/>
                  <a:pt x="148127" y="272183"/>
                </a:cubicBezTo>
                <a:lnTo>
                  <a:pt x="148127" y="153681"/>
                </a:lnTo>
                <a:moveTo>
                  <a:pt x="367566" y="51350"/>
                </a:moveTo>
                <a:cubicBezTo>
                  <a:pt x="393745" y="51350"/>
                  <a:pt x="414966" y="39855"/>
                  <a:pt x="414966" y="25675"/>
                </a:cubicBezTo>
                <a:cubicBezTo>
                  <a:pt x="414966" y="11495"/>
                  <a:pt x="393745" y="0"/>
                  <a:pt x="367566" y="0"/>
                </a:cubicBezTo>
                <a:cubicBezTo>
                  <a:pt x="341388" y="0"/>
                  <a:pt x="320165" y="11495"/>
                  <a:pt x="320165" y="25675"/>
                </a:cubicBezTo>
                <a:cubicBezTo>
                  <a:pt x="320165" y="39855"/>
                  <a:pt x="341388" y="51350"/>
                  <a:pt x="367566" y="51350"/>
                </a:cubicBezTo>
                <a:close/>
                <a:moveTo>
                  <a:pt x="320165" y="25676"/>
                </a:moveTo>
                <a:lnTo>
                  <a:pt x="320165" y="92827"/>
                </a:lnTo>
                <a:cubicBezTo>
                  <a:pt x="320165" y="106652"/>
                  <a:pt x="341891" y="118502"/>
                  <a:pt x="367566" y="118502"/>
                </a:cubicBezTo>
                <a:cubicBezTo>
                  <a:pt x="393242" y="118502"/>
                  <a:pt x="414966" y="106652"/>
                  <a:pt x="414966" y="92827"/>
                </a:cubicBezTo>
                <a:lnTo>
                  <a:pt x="414966" y="25676"/>
                </a:lnTo>
                <a:moveTo>
                  <a:pt x="367566" y="205158"/>
                </a:moveTo>
                <a:cubicBezTo>
                  <a:pt x="393745" y="205158"/>
                  <a:pt x="414966" y="193661"/>
                  <a:pt x="414966" y="179482"/>
                </a:cubicBezTo>
                <a:cubicBezTo>
                  <a:pt x="414966" y="165302"/>
                  <a:pt x="393745" y="153807"/>
                  <a:pt x="367566" y="153807"/>
                </a:cubicBezTo>
                <a:cubicBezTo>
                  <a:pt x="341388" y="153807"/>
                  <a:pt x="320165" y="165302"/>
                  <a:pt x="320165" y="179482"/>
                </a:cubicBezTo>
                <a:cubicBezTo>
                  <a:pt x="320165" y="193661"/>
                  <a:pt x="341388" y="205158"/>
                  <a:pt x="367566" y="205158"/>
                </a:cubicBezTo>
                <a:close/>
                <a:moveTo>
                  <a:pt x="320165" y="179484"/>
                </a:moveTo>
                <a:lnTo>
                  <a:pt x="320165" y="246633"/>
                </a:lnTo>
                <a:cubicBezTo>
                  <a:pt x="320165" y="260459"/>
                  <a:pt x="341891" y="272309"/>
                  <a:pt x="367566" y="272309"/>
                </a:cubicBezTo>
                <a:cubicBezTo>
                  <a:pt x="393242" y="272309"/>
                  <a:pt x="414966" y="260459"/>
                  <a:pt x="414966" y="246633"/>
                </a:cubicBezTo>
                <a:lnTo>
                  <a:pt x="414966" y="179484"/>
                </a:lnTo>
                <a:moveTo>
                  <a:pt x="367566" y="355011"/>
                </a:moveTo>
                <a:cubicBezTo>
                  <a:pt x="393745" y="355011"/>
                  <a:pt x="414966" y="343516"/>
                  <a:pt x="414966" y="329335"/>
                </a:cubicBezTo>
                <a:cubicBezTo>
                  <a:pt x="414966" y="315155"/>
                  <a:pt x="393745" y="303660"/>
                  <a:pt x="367566" y="303660"/>
                </a:cubicBezTo>
                <a:cubicBezTo>
                  <a:pt x="341388" y="303660"/>
                  <a:pt x="320165" y="315155"/>
                  <a:pt x="320165" y="329335"/>
                </a:cubicBezTo>
                <a:cubicBezTo>
                  <a:pt x="320165" y="343516"/>
                  <a:pt x="341388" y="355011"/>
                  <a:pt x="367566" y="355011"/>
                </a:cubicBezTo>
                <a:close/>
                <a:moveTo>
                  <a:pt x="320165" y="329336"/>
                </a:moveTo>
                <a:lnTo>
                  <a:pt x="320165" y="396488"/>
                </a:lnTo>
                <a:cubicBezTo>
                  <a:pt x="320165" y="410312"/>
                  <a:pt x="341891" y="422162"/>
                  <a:pt x="367566" y="422162"/>
                </a:cubicBezTo>
                <a:cubicBezTo>
                  <a:pt x="393242" y="422162"/>
                  <a:pt x="414966" y="410312"/>
                  <a:pt x="414966" y="396488"/>
                </a:cubicBezTo>
                <a:lnTo>
                  <a:pt x="414966" y="329336"/>
                </a:lnTo>
                <a:moveTo>
                  <a:pt x="275808" y="57399"/>
                </a:moveTo>
                <a:lnTo>
                  <a:pt x="238777" y="57399"/>
                </a:lnTo>
                <a:lnTo>
                  <a:pt x="238777" y="364763"/>
                </a:lnTo>
                <a:lnTo>
                  <a:pt x="275808" y="364763"/>
                </a:lnTo>
                <a:moveTo>
                  <a:pt x="275808" y="211081"/>
                </a:moveTo>
                <a:lnTo>
                  <a:pt x="192487" y="211081"/>
                </a:lnTo>
                <a:moveTo>
                  <a:pt x="0" y="213509"/>
                </a:moveTo>
                <a:cubicBezTo>
                  <a:pt x="0" y="229169"/>
                  <a:pt x="32027" y="241980"/>
                  <a:pt x="74063" y="241980"/>
                </a:cubicBezTo>
                <a:cubicBezTo>
                  <a:pt x="116100" y="241980"/>
                  <a:pt x="148127" y="229169"/>
                  <a:pt x="148127" y="213509"/>
                </a:cubicBezTo>
              </a:path>
            </a:pathLst>
          </a:custGeom>
          <a:noFill/>
          <a:ln w="13886">
            <a:solidFill>
              <a:srgbClr val="1EABDA"/>
            </a:solidFill>
          </a:ln>
        </p:spPr>
        <p:txBody>
          <a:bodyPr rtlCol="0" anchor="ctr"/>
          <a:lstStyle/>
          <a:p>
            <a:pPr algn="ctr"/>
            <a:endParaRPr sz="1800"/>
          </a:p>
        </p:txBody>
      </p:sp>
      <p:sp>
        <p:nvSpPr>
          <p:cNvPr id="22" name="TextBox 21"/>
          <p:cNvSpPr txBox="1"/>
          <p:nvPr/>
        </p:nvSpPr>
        <p:spPr>
          <a:xfrm>
            <a:off x="6415329" y="4786334"/>
            <a:ext cx="750206" cy="430887"/>
          </a:xfrm>
          <a:prstGeom prst="rect">
            <a:avLst/>
          </a:prstGeom>
          <a:noFill/>
          <a:ln>
            <a:noFill/>
          </a:ln>
        </p:spPr>
        <p:txBody>
          <a:bodyPr wrap="none" lIns="0" tIns="0" rIns="0" bIns="0" anchor="t">
            <a:spAutoFit/>
          </a:bodyPr>
          <a:lstStyle/>
          <a:p>
            <a:pPr algn="r"/>
            <a:r>
              <a:rPr>
                <a:solidFill>
                  <a:srgbClr val="484848"/>
                </a:solidFill>
                <a:latin typeface="Roboto"/>
              </a:rPr>
              <a:t>Real-time
Insights</a:t>
            </a:r>
          </a:p>
        </p:txBody>
      </p:sp>
      <p:sp>
        <p:nvSpPr>
          <p:cNvPr id="23" name="Rounded Rectangle 22"/>
          <p:cNvSpPr/>
          <p:nvPr/>
        </p:nvSpPr>
        <p:spPr>
          <a:xfrm>
            <a:off x="8572744" y="5101084"/>
            <a:ext cx="427998" cy="427492"/>
          </a:xfrm>
          <a:custGeom>
            <a:avLst/>
            <a:gdLst/>
            <a:ahLst/>
            <a:cxnLst/>
            <a:rect l="0" t="0" r="0" b="0"/>
            <a:pathLst>
              <a:path w="427998" h="427492">
                <a:moveTo>
                  <a:pt x="244287" y="286959"/>
                </a:moveTo>
                <a:lnTo>
                  <a:pt x="427998" y="286959"/>
                </a:lnTo>
                <a:moveTo>
                  <a:pt x="0" y="0"/>
                </a:moveTo>
                <a:moveTo>
                  <a:pt x="308619" y="286959"/>
                </a:moveTo>
                <a:lnTo>
                  <a:pt x="308619" y="264810"/>
                </a:lnTo>
                <a:cubicBezTo>
                  <a:pt x="308619" y="254584"/>
                  <a:pt x="316908" y="246294"/>
                  <a:pt x="327135" y="246294"/>
                </a:cubicBezTo>
                <a:lnTo>
                  <a:pt x="345147" y="246294"/>
                </a:lnTo>
                <a:cubicBezTo>
                  <a:pt x="355373" y="246294"/>
                  <a:pt x="363663" y="254584"/>
                  <a:pt x="363663" y="264810"/>
                </a:cubicBezTo>
                <a:lnTo>
                  <a:pt x="363663" y="286959"/>
                </a:lnTo>
                <a:moveTo>
                  <a:pt x="0" y="0"/>
                </a:moveTo>
                <a:moveTo>
                  <a:pt x="387893" y="427492"/>
                </a:moveTo>
                <a:lnTo>
                  <a:pt x="284392" y="427492"/>
                </a:lnTo>
                <a:lnTo>
                  <a:pt x="265877" y="286959"/>
                </a:lnTo>
                <a:lnTo>
                  <a:pt x="406408" y="286959"/>
                </a:lnTo>
                <a:close/>
                <a:moveTo>
                  <a:pt x="192637" y="322407"/>
                </a:moveTo>
                <a:lnTo>
                  <a:pt x="35515" y="322407"/>
                </a:lnTo>
                <a:cubicBezTo>
                  <a:pt x="24928" y="322407"/>
                  <a:pt x="16382" y="313862"/>
                  <a:pt x="16382" y="303275"/>
                </a:cubicBezTo>
                <a:lnTo>
                  <a:pt x="16382" y="36022"/>
                </a:lnTo>
                <a:cubicBezTo>
                  <a:pt x="16382" y="25434"/>
                  <a:pt x="24928" y="16888"/>
                  <a:pt x="35515" y="16888"/>
                </a:cubicBezTo>
                <a:lnTo>
                  <a:pt x="226851" y="16888"/>
                </a:lnTo>
                <a:cubicBezTo>
                  <a:pt x="231826" y="16888"/>
                  <a:pt x="236673" y="18801"/>
                  <a:pt x="240245" y="22373"/>
                </a:cubicBezTo>
                <a:lnTo>
                  <a:pt x="278512" y="59109"/>
                </a:lnTo>
                <a:cubicBezTo>
                  <a:pt x="282211" y="62681"/>
                  <a:pt x="284252" y="67656"/>
                  <a:pt x="284252" y="72758"/>
                </a:cubicBezTo>
                <a:lnTo>
                  <a:pt x="284252" y="198379"/>
                </a:lnTo>
                <a:moveTo>
                  <a:pt x="79198" y="82399"/>
                </a:moveTo>
                <a:lnTo>
                  <a:pt x="190522" y="82399"/>
                </a:lnTo>
                <a:moveTo>
                  <a:pt x="79198" y="160386"/>
                </a:moveTo>
                <a:lnTo>
                  <a:pt x="223384" y="160386"/>
                </a:lnTo>
              </a:path>
            </a:pathLst>
          </a:custGeom>
          <a:noFill/>
          <a:ln w="13886">
            <a:solidFill>
              <a:srgbClr val="E55753"/>
            </a:solidFill>
          </a:ln>
        </p:spPr>
        <p:txBody>
          <a:bodyPr rtlCol="0" anchor="ctr"/>
          <a:lstStyle/>
          <a:p>
            <a:pPr algn="ctr"/>
            <a:endParaRPr sz="1800"/>
          </a:p>
        </p:txBody>
      </p:sp>
      <p:sp>
        <p:nvSpPr>
          <p:cNvPr id="24" name="TextBox 23"/>
          <p:cNvSpPr txBox="1"/>
          <p:nvPr/>
        </p:nvSpPr>
        <p:spPr>
          <a:xfrm>
            <a:off x="10424332" y="4786334"/>
            <a:ext cx="1057982" cy="430887"/>
          </a:xfrm>
          <a:prstGeom prst="rect">
            <a:avLst/>
          </a:prstGeom>
          <a:noFill/>
          <a:ln>
            <a:noFill/>
          </a:ln>
        </p:spPr>
        <p:txBody>
          <a:bodyPr wrap="none" lIns="0" tIns="0" rIns="0" bIns="0" anchor="t">
            <a:spAutoFit/>
          </a:bodyPr>
          <a:lstStyle/>
          <a:p>
            <a:pPr algn="l"/>
            <a:r>
              <a:rPr>
                <a:solidFill>
                  <a:srgbClr val="484848"/>
                </a:solidFill>
                <a:latin typeface="Roboto"/>
              </a:rPr>
              <a:t>Data
Management</a:t>
            </a:r>
          </a:p>
        </p:txBody>
      </p:sp>
      <p:sp>
        <p:nvSpPr>
          <p:cNvPr id="25" name="TextBox 24"/>
          <p:cNvSpPr txBox="1"/>
          <p:nvPr/>
        </p:nvSpPr>
        <p:spPr>
          <a:xfrm>
            <a:off x="7326438" y="6397716"/>
            <a:ext cx="3329438" cy="276999"/>
          </a:xfrm>
          <a:prstGeom prst="rect">
            <a:avLst/>
          </a:prstGeom>
          <a:noFill/>
          <a:ln>
            <a:noFill/>
          </a:ln>
        </p:spPr>
        <p:txBody>
          <a:bodyPr wrap="none" lIns="0" tIns="0" rIns="0" bIns="0" anchor="t">
            <a:spAutoFit/>
          </a:bodyPr>
          <a:lstStyle/>
          <a:p>
            <a:pPr algn="ctr"/>
            <a:r>
              <a:rPr sz="1800" b="1" dirty="0">
                <a:solidFill>
                  <a:srgbClr val="484848"/>
                </a:solidFill>
                <a:latin typeface="Roboto"/>
              </a:rPr>
              <a:t>Goals of the Low-Code Platform</a:t>
            </a:r>
          </a:p>
        </p:txBody>
      </p:sp>
      <p:sp>
        <p:nvSpPr>
          <p:cNvPr id="26" name="TextBox 25"/>
          <p:cNvSpPr txBox="1"/>
          <p:nvPr/>
        </p:nvSpPr>
        <p:spPr>
          <a:xfrm>
            <a:off x="6016322" y="3230999"/>
            <a:ext cx="815929" cy="215444"/>
          </a:xfrm>
          <a:prstGeom prst="rect">
            <a:avLst/>
          </a:prstGeom>
          <a:noFill/>
          <a:ln>
            <a:noFill/>
          </a:ln>
        </p:spPr>
        <p:txBody>
          <a:bodyPr wrap="none" lIns="0" tIns="0" rIns="0" bIns="0" anchor="t">
            <a:spAutoFit/>
          </a:bodyPr>
          <a:lstStyle/>
          <a:p>
            <a:pPr algn="r"/>
            <a:r>
              <a:rPr>
                <a:solidFill>
                  <a:srgbClr val="484848"/>
                </a:solidFill>
                <a:latin typeface="Roboto"/>
              </a:rPr>
              <a:t>Scalability</a:t>
            </a:r>
          </a:p>
        </p:txBody>
      </p:sp>
      <p:sp>
        <p:nvSpPr>
          <p:cNvPr id="27" name="TextBox 26">
            <a:extLst>
              <a:ext uri="{FF2B5EF4-FFF2-40B4-BE49-F238E27FC236}">
                <a16:creationId xmlns:a16="http://schemas.microsoft.com/office/drawing/2014/main" id="{B637C0FF-4C26-FC3D-0067-4812B5E5ED36}"/>
              </a:ext>
            </a:extLst>
          </p:cNvPr>
          <p:cNvSpPr txBox="1"/>
          <p:nvPr/>
        </p:nvSpPr>
        <p:spPr>
          <a:xfrm>
            <a:off x="265159" y="1897120"/>
            <a:ext cx="5633081" cy="255454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MSME-First Design</a:t>
            </a:r>
          </a:p>
          <a:p>
            <a:r>
              <a:rPr lang="en-US" sz="1600" dirty="0">
                <a:latin typeface="Times New Roman" panose="02020603050405020304" pitchFamily="18" charset="0"/>
                <a:cs typeface="Times New Roman" panose="02020603050405020304" pitchFamily="18" charset="0"/>
              </a:rPr>
              <a:t>• Simple interface for users with low digital literacy </a:t>
            </a:r>
          </a:p>
          <a:p>
            <a:r>
              <a:rPr lang="en-US" sz="1600" dirty="0">
                <a:latin typeface="Times New Roman" panose="02020603050405020304" pitchFamily="18" charset="0"/>
                <a:cs typeface="Times New Roman" panose="02020603050405020304" pitchFamily="18" charset="0"/>
              </a:rPr>
              <a:t>• Regional language support (future scope) </a:t>
            </a:r>
          </a:p>
          <a:p>
            <a:r>
              <a:rPr lang="en-US" sz="1600" dirty="0">
                <a:latin typeface="Times New Roman" panose="02020603050405020304" pitchFamily="18" charset="0"/>
                <a:cs typeface="Times New Roman" panose="02020603050405020304" pitchFamily="18" charset="0"/>
              </a:rPr>
              <a:t>• Minimal training required</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All-in-One Integration</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Orders + Inventory + Invoicing + Payments in single platform </a:t>
            </a:r>
          </a:p>
          <a:p>
            <a:r>
              <a:rPr lang="en-US" sz="1600" dirty="0">
                <a:latin typeface="Times New Roman" panose="02020603050405020304" pitchFamily="18" charset="0"/>
                <a:cs typeface="Times New Roman" panose="02020603050405020304" pitchFamily="18" charset="0"/>
              </a:rPr>
              <a:t>• No need for multiple apps or tools </a:t>
            </a:r>
          </a:p>
          <a:p>
            <a:r>
              <a:rPr lang="en-US" sz="1600" dirty="0">
                <a:latin typeface="Times New Roman" panose="02020603050405020304" pitchFamily="18" charset="0"/>
                <a:cs typeface="Times New Roman" panose="02020603050405020304" pitchFamily="18" charset="0"/>
              </a:rPr>
              <a:t>• Seamless data flow between modules</a:t>
            </a:r>
          </a:p>
          <a:p>
            <a:endParaRPr lang="en-US" sz="16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3E407DE0-4C34-DAD8-F12F-599FF84C2481}"/>
              </a:ext>
            </a:extLst>
          </p:cNvPr>
          <p:cNvSpPr txBox="1"/>
          <p:nvPr/>
        </p:nvSpPr>
        <p:spPr>
          <a:xfrm>
            <a:off x="300007" y="4271143"/>
            <a:ext cx="6096000" cy="2308324"/>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Smart Automation</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Auto stock deduction logic</a:t>
            </a:r>
          </a:p>
          <a:p>
            <a:r>
              <a:rPr lang="en-IN" sz="1600" dirty="0">
                <a:latin typeface="Times New Roman" panose="02020603050405020304" pitchFamily="18" charset="0"/>
                <a:cs typeface="Times New Roman" panose="02020603050405020304" pitchFamily="18" charset="0"/>
              </a:rPr>
              <a:t>• Automatic GST calculations </a:t>
            </a:r>
          </a:p>
          <a:p>
            <a:r>
              <a:rPr lang="en-IN" sz="1600" dirty="0">
                <a:latin typeface="Times New Roman" panose="02020603050405020304" pitchFamily="18" charset="0"/>
                <a:cs typeface="Times New Roman" panose="02020603050405020304" pitchFamily="18" charset="0"/>
              </a:rPr>
              <a:t>• Intelligent follow-up reminders</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Affordable &amp; Accessible</a:t>
            </a:r>
          </a:p>
          <a:p>
            <a:r>
              <a:rPr lang="en-IN" sz="1600" dirty="0">
                <a:latin typeface="Times New Roman" panose="02020603050405020304" pitchFamily="18" charset="0"/>
                <a:cs typeface="Times New Roman" panose="02020603050405020304" pitchFamily="18" charset="0"/>
              </a:rPr>
              <a:t>• Low-cost alternative to traditional ERPs</a:t>
            </a:r>
          </a:p>
          <a:p>
            <a:r>
              <a:rPr lang="en-IN" sz="1600" dirty="0">
                <a:latin typeface="Times New Roman" panose="02020603050405020304" pitchFamily="18" charset="0"/>
                <a:cs typeface="Times New Roman" panose="02020603050405020304" pitchFamily="18" charset="0"/>
              </a:rPr>
              <a:t>• No expensive hardware (POS machines) required </a:t>
            </a:r>
          </a:p>
          <a:p>
            <a:r>
              <a:rPr lang="en-IN" sz="1600" dirty="0">
                <a:latin typeface="Times New Roman" panose="02020603050405020304" pitchFamily="18" charset="0"/>
                <a:cs typeface="Times New Roman" panose="02020603050405020304" pitchFamily="18" charset="0"/>
              </a:rPr>
              <a:t>• Works on basic smartphones</a:t>
            </a:r>
          </a:p>
        </p:txBody>
      </p:sp>
      <p:sp>
        <p:nvSpPr>
          <p:cNvPr id="2" name="Google Shape;126;p4">
            <a:extLst>
              <a:ext uri="{FF2B5EF4-FFF2-40B4-BE49-F238E27FC236}">
                <a16:creationId xmlns:a16="http://schemas.microsoft.com/office/drawing/2014/main" id="{29EECABB-853E-828A-85CE-0D90403EB2ED}"/>
              </a:ext>
            </a:extLst>
          </p:cNvPr>
          <p:cNvSpPr/>
          <p:nvPr/>
        </p:nvSpPr>
        <p:spPr>
          <a:xfrm>
            <a:off x="704681" y="127578"/>
            <a:ext cx="3090483"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ea typeface="Arial Narrow"/>
                <a:cs typeface="Arial Narrow"/>
                <a:sym typeface="Arial Narrow"/>
              </a:rPr>
              <a:t>Proposed Solution</a:t>
            </a:r>
            <a:endParaRPr sz="2800" b="1" dirty="0">
              <a:solidFill>
                <a:schemeClr val="lt1"/>
              </a:solidFill>
              <a:latin typeface="Arial Narrow"/>
              <a:ea typeface="Arial Narrow"/>
              <a:cs typeface="Arial Narrow"/>
              <a:sym typeface="Arial Narrow"/>
            </a:endParaRPr>
          </a:p>
        </p:txBody>
      </p:sp>
      <p:sp>
        <p:nvSpPr>
          <p:cNvPr id="36" name="TextBox 35">
            <a:extLst>
              <a:ext uri="{FF2B5EF4-FFF2-40B4-BE49-F238E27FC236}">
                <a16:creationId xmlns:a16="http://schemas.microsoft.com/office/drawing/2014/main" id="{5BAE859E-6196-CCA5-1742-905C770D7CED}"/>
              </a:ext>
            </a:extLst>
          </p:cNvPr>
          <p:cNvSpPr txBox="1"/>
          <p:nvPr/>
        </p:nvSpPr>
        <p:spPr>
          <a:xfrm>
            <a:off x="229933" y="968485"/>
            <a:ext cx="11514538" cy="784830"/>
          </a:xfrm>
          <a:prstGeom prst="rect">
            <a:avLst/>
          </a:prstGeom>
          <a:noFill/>
        </p:spPr>
        <p:txBody>
          <a:bodyPr wrap="square">
            <a:spAutoFit/>
          </a:bodyPr>
          <a:lstStyle/>
          <a:p>
            <a:pPr marL="285750" indent="-285750" algn="just">
              <a:buFont typeface="Wingdings" panose="05000000000000000000" pitchFamily="2" charset="2"/>
              <a:buChar char="v"/>
            </a:pPr>
            <a:r>
              <a:rPr lang="en-US" sz="1500" b="1" dirty="0">
                <a:latin typeface="Times New Roman" panose="02020603050405020304" pitchFamily="18" charset="0"/>
                <a:cs typeface="Times New Roman" panose="02020603050405020304" pitchFamily="18" charset="0"/>
              </a:rPr>
              <a:t>To develop a simple and affordable low-code platform that helps Micro, Small and Medium Enterprises (MSMEs) to create and manage their own business applications such as billing, inventory, employee records, and customer management without any need of programming skills.</a:t>
            </a:r>
          </a:p>
        </p:txBody>
      </p:sp>
      <p:sp>
        <p:nvSpPr>
          <p:cNvPr id="37" name="Google Shape;138;p5">
            <a:extLst>
              <a:ext uri="{FF2B5EF4-FFF2-40B4-BE49-F238E27FC236}">
                <a16:creationId xmlns:a16="http://schemas.microsoft.com/office/drawing/2014/main" id="{F7392A51-E5F1-22AA-A76B-9A5C2FFBCFE5}"/>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p:nvPr/>
        </p:nvSpPr>
        <p:spPr>
          <a:xfrm>
            <a:off x="434975" y="420688"/>
            <a:ext cx="1106488" cy="59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8" name="Google Shape;138;p5"/>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39" name="Google Shape;139;p5"/>
          <p:cNvSpPr/>
          <p:nvPr/>
        </p:nvSpPr>
        <p:spPr>
          <a:xfrm>
            <a:off x="704681" y="127578"/>
            <a:ext cx="3090483"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Arial Narrow"/>
                <a:ea typeface="Arial Narrow"/>
                <a:cs typeface="Arial Narrow"/>
                <a:sym typeface="Arial Narrow"/>
              </a:rPr>
              <a:t>Novelty / Innovation</a:t>
            </a:r>
            <a:endParaRPr/>
          </a:p>
        </p:txBody>
      </p:sp>
      <p:sp>
        <p:nvSpPr>
          <p:cNvPr id="5" name="TextBox 4">
            <a:extLst>
              <a:ext uri="{FF2B5EF4-FFF2-40B4-BE49-F238E27FC236}">
                <a16:creationId xmlns:a16="http://schemas.microsoft.com/office/drawing/2014/main" id="{FE91129E-2B55-C6A9-0992-D077407FBA59}"/>
              </a:ext>
            </a:extLst>
          </p:cNvPr>
          <p:cNvSpPr txBox="1"/>
          <p:nvPr/>
        </p:nvSpPr>
        <p:spPr>
          <a:xfrm>
            <a:off x="621788" y="1479039"/>
            <a:ext cx="6143036" cy="2616101"/>
          </a:xfrm>
          <a:prstGeom prst="rect">
            <a:avLst/>
          </a:prstGeom>
          <a:noFill/>
        </p:spPr>
        <p:txBody>
          <a:bodyPr wrap="square">
            <a:spAutoFit/>
          </a:bodyPr>
          <a:lstStyle/>
          <a:p>
            <a:pPr>
              <a:buNone/>
            </a:pPr>
            <a:r>
              <a:rPr lang="en-US" sz="2000" b="1" dirty="0">
                <a:latin typeface="Times New Roman" panose="02020603050405020304" pitchFamily="18" charset="0"/>
                <a:cs typeface="Times New Roman" panose="02020603050405020304" pitchFamily="18" charset="0"/>
              </a:rPr>
              <a:t>Innovative Aspects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Low-Code Application Builder</a:t>
            </a:r>
            <a:r>
              <a:rPr lang="en-US" sz="1800" dirty="0">
                <a:latin typeface="Times New Roman" panose="02020603050405020304" pitchFamily="18" charset="0"/>
                <a:cs typeface="Times New Roman" panose="02020603050405020304" pitchFamily="18" charset="0"/>
              </a:rPr>
              <a:t> designed specifically for MSMEs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Drag-and-Drop Modules</a:t>
            </a:r>
            <a:r>
              <a:rPr lang="en-US" sz="1800" dirty="0">
                <a:latin typeface="Times New Roman" panose="02020603050405020304" pitchFamily="18" charset="0"/>
                <a:cs typeface="Times New Roman" panose="02020603050405020304" pitchFamily="18" charset="0"/>
              </a:rPr>
              <a:t> for quick and easy app creation</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Single Platform for Multiple Business Functions</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Customizable Workflows</a:t>
            </a:r>
            <a:r>
              <a:rPr lang="en-US" sz="1800" dirty="0">
                <a:latin typeface="Times New Roman" panose="02020603050405020304" pitchFamily="18" charset="0"/>
                <a:cs typeface="Times New Roman" panose="02020603050405020304" pitchFamily="18" charset="0"/>
              </a:rPr>
              <a:t> based on business needs</a:t>
            </a: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Affordable and easy to adopt for small businesses</a:t>
            </a:r>
            <a:endParaRPr lang="en-US" sz="18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Cloud-based system enabling real-time access and data management</a:t>
            </a:r>
            <a:endParaRPr lang="en-US" sz="1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A760236-75E9-4D94-3FC7-807DBE379015}"/>
              </a:ext>
            </a:extLst>
          </p:cNvPr>
          <p:cNvSpPr txBox="1"/>
          <p:nvPr/>
        </p:nvSpPr>
        <p:spPr>
          <a:xfrm>
            <a:off x="343565" y="4556592"/>
            <a:ext cx="11303271" cy="1200329"/>
          </a:xfrm>
          <a:prstGeom prst="rect">
            <a:avLst/>
          </a:prstGeom>
          <a:noFill/>
        </p:spPr>
        <p:txBody>
          <a:bodyPr wrap="square">
            <a:spAutoFit/>
          </a:bodyPr>
          <a:lstStyle/>
          <a:p>
            <a:pPr marL="285750" lvl="1" indent="-285750" algn="just">
              <a:buFont typeface="Wingdings" panose="05000000000000000000" pitchFamily="2" charset="2"/>
              <a:buChar char="v"/>
            </a:pPr>
            <a:r>
              <a:rPr lang="en-US" sz="1800" dirty="0">
                <a:latin typeface="Times New Roman" panose="02020603050405020304" pitchFamily="18" charset="0"/>
                <a:cs typeface="Times New Roman" panose="02020603050405020304" pitchFamily="18" charset="0"/>
              </a:rPr>
              <a:t>MSME Builder introduces a simple low-code platform designed to help small businesses easily adopt digital tools without requiring programming knowledge. The platform simplifies the process of creating and managing business applications, making technology more accessible and practical for MSME owners. By focusing on ease of use and accessibility, the solution supports faster digital adoption and improves overall business efficiency.</a:t>
            </a:r>
            <a:endParaRPr lang="en-IN" sz="18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1F487A1-55F9-80DF-2828-65FC55649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075125"/>
            <a:ext cx="5322798" cy="35485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EF0EB-7E99-D1E0-B68C-186BC50508D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C1A1E4F-C0AE-D79D-8D77-A30A275A1993}"/>
              </a:ext>
            </a:extLst>
          </p:cNvPr>
          <p:cNvSpPr txBox="1"/>
          <p:nvPr/>
        </p:nvSpPr>
        <p:spPr>
          <a:xfrm>
            <a:off x="704682" y="681130"/>
            <a:ext cx="3835539" cy="460767"/>
          </a:xfrm>
          <a:prstGeom prst="rect">
            <a:avLst/>
          </a:prstGeom>
        </p:spPr>
        <p:txBody>
          <a:bodyPr wrap="square" lIns="0" tIns="0" rIns="0" bIns="0" rtlCol="0" anchor="t">
            <a:spAutoFit/>
          </a:bodyPr>
          <a:lstStyle/>
          <a:p>
            <a:pPr>
              <a:lnSpc>
                <a:spcPts val="3960"/>
              </a:lnSpc>
            </a:pPr>
            <a:r>
              <a:rPr lang="en-US" sz="2400" b="1" dirty="0">
                <a:solidFill>
                  <a:srgbClr val="28568A"/>
                </a:solidFill>
                <a:latin typeface="Cambria" panose="02040503050406030204" pitchFamily="18" charset="0"/>
                <a:ea typeface="Cambria" panose="02040503050406030204" pitchFamily="18" charset="0"/>
                <a:cs typeface="Montserrat Bold"/>
                <a:sym typeface="Montserrat Bold"/>
              </a:rPr>
              <a:t>How It Works</a:t>
            </a:r>
          </a:p>
        </p:txBody>
      </p:sp>
      <p:graphicFrame>
        <p:nvGraphicFramePr>
          <p:cNvPr id="7" name="Diagram 6">
            <a:extLst>
              <a:ext uri="{FF2B5EF4-FFF2-40B4-BE49-F238E27FC236}">
                <a16:creationId xmlns:a16="http://schemas.microsoft.com/office/drawing/2014/main" id="{F597C42B-74D4-897E-F958-5D382EBCF69E}"/>
              </a:ext>
            </a:extLst>
          </p:cNvPr>
          <p:cNvGraphicFramePr/>
          <p:nvPr>
            <p:extLst>
              <p:ext uri="{D42A27DB-BD31-4B8C-83A1-F6EECF244321}">
                <p14:modId xmlns:p14="http://schemas.microsoft.com/office/powerpoint/2010/main" val="805369229"/>
              </p:ext>
            </p:extLst>
          </p:nvPr>
        </p:nvGraphicFramePr>
        <p:xfrm>
          <a:off x="1875504" y="709000"/>
          <a:ext cx="8991600" cy="52053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Google Shape;152;p6">
            <a:extLst>
              <a:ext uri="{FF2B5EF4-FFF2-40B4-BE49-F238E27FC236}">
                <a16:creationId xmlns:a16="http://schemas.microsoft.com/office/drawing/2014/main" id="{78BF82CD-583E-758B-BCD4-2B7DEF369D5E}"/>
              </a:ext>
            </a:extLst>
          </p:cNvPr>
          <p:cNvSpPr/>
          <p:nvPr/>
        </p:nvSpPr>
        <p:spPr>
          <a:xfrm>
            <a:off x="704682" y="127578"/>
            <a:ext cx="2718250"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ea typeface="Arial Narrow"/>
                <a:cs typeface="Arial Narrow"/>
                <a:sym typeface="Arial Narrow"/>
              </a:rPr>
              <a:t>Block Diagram</a:t>
            </a:r>
            <a:endParaRPr sz="2800" b="1" dirty="0">
              <a:solidFill>
                <a:schemeClr val="lt1"/>
              </a:solidFill>
              <a:latin typeface="Arial Narrow"/>
              <a:ea typeface="Arial Narrow"/>
              <a:cs typeface="Arial Narrow"/>
              <a:sym typeface="Arial Narrow"/>
            </a:endParaRPr>
          </a:p>
        </p:txBody>
      </p:sp>
      <p:sp>
        <p:nvSpPr>
          <p:cNvPr id="6" name="Google Shape;138;p5">
            <a:extLst>
              <a:ext uri="{FF2B5EF4-FFF2-40B4-BE49-F238E27FC236}">
                <a16:creationId xmlns:a16="http://schemas.microsoft.com/office/drawing/2014/main" id="{EB60E901-76E1-F0DF-BDE3-BAAD604B3BBE}"/>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39742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ACB953B5-B2E2-B183-B171-D6F9657FB7A1}"/>
            </a:ext>
          </a:extLst>
        </p:cNvPr>
        <p:cNvGrpSpPr/>
        <p:nvPr/>
      </p:nvGrpSpPr>
      <p:grpSpPr>
        <a:xfrm>
          <a:off x="0" y="0"/>
          <a:ext cx="0" cy="0"/>
          <a:chOff x="0" y="0"/>
          <a:chExt cx="0" cy="0"/>
        </a:xfrm>
      </p:grpSpPr>
      <p:sp>
        <p:nvSpPr>
          <p:cNvPr id="163" name="Google Shape;163;p7">
            <a:extLst>
              <a:ext uri="{FF2B5EF4-FFF2-40B4-BE49-F238E27FC236}">
                <a16:creationId xmlns:a16="http://schemas.microsoft.com/office/drawing/2014/main" id="{A0B8B60B-6055-F101-3352-08478B9BCC14}"/>
              </a:ext>
            </a:extLst>
          </p:cNvPr>
          <p:cNvSpPr/>
          <p:nvPr/>
        </p:nvSpPr>
        <p:spPr>
          <a:xfrm>
            <a:off x="434975" y="420688"/>
            <a:ext cx="1106488" cy="59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4" name="Google Shape;164;p7">
            <a:extLst>
              <a:ext uri="{FF2B5EF4-FFF2-40B4-BE49-F238E27FC236}">
                <a16:creationId xmlns:a16="http://schemas.microsoft.com/office/drawing/2014/main" id="{EA188761-F3C0-4F8D-6632-59E12EBEEC94}"/>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5" name="Google Shape;165;p7">
            <a:extLst>
              <a:ext uri="{FF2B5EF4-FFF2-40B4-BE49-F238E27FC236}">
                <a16:creationId xmlns:a16="http://schemas.microsoft.com/office/drawing/2014/main" id="{AD183A6B-3A6C-45CB-B4BA-7471EE994269}"/>
              </a:ext>
            </a:extLst>
          </p:cNvPr>
          <p:cNvSpPr/>
          <p:nvPr/>
        </p:nvSpPr>
        <p:spPr>
          <a:xfrm>
            <a:off x="704681" y="127578"/>
            <a:ext cx="4750187"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ea typeface="Arial Narrow"/>
                <a:cs typeface="Arial Narrow"/>
                <a:sym typeface="Arial Narrow"/>
              </a:rPr>
              <a:t>Technology Stack / Methodology</a:t>
            </a:r>
            <a:endParaRPr dirty="0"/>
          </a:p>
        </p:txBody>
      </p:sp>
      <p:sp>
        <p:nvSpPr>
          <p:cNvPr id="3" name="TextBox 2">
            <a:extLst>
              <a:ext uri="{FF2B5EF4-FFF2-40B4-BE49-F238E27FC236}">
                <a16:creationId xmlns:a16="http://schemas.microsoft.com/office/drawing/2014/main" id="{C9D1ABD5-CAB9-1562-CA1C-CDC0CBFD920B}"/>
              </a:ext>
            </a:extLst>
          </p:cNvPr>
          <p:cNvSpPr txBox="1"/>
          <p:nvPr/>
        </p:nvSpPr>
        <p:spPr>
          <a:xfrm>
            <a:off x="326821" y="1714539"/>
            <a:ext cx="11196586" cy="3785652"/>
          </a:xfrm>
          <a:prstGeom prst="rect">
            <a:avLst/>
          </a:prstGeom>
          <a:noFill/>
        </p:spPr>
        <p:txBody>
          <a:bodyPr wrap="square">
            <a:spAutoFit/>
          </a:bodyPr>
          <a:lstStyle/>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proposed </a:t>
            </a:r>
            <a:r>
              <a:rPr lang="en-US" sz="1600" b="1" dirty="0">
                <a:latin typeface="Times New Roman" panose="02020603050405020304" pitchFamily="18" charset="0"/>
                <a:cs typeface="Times New Roman" panose="02020603050405020304" pitchFamily="18" charset="0"/>
              </a:rPr>
              <a:t>MSME Builder platform</a:t>
            </a:r>
            <a:r>
              <a:rPr lang="en-US" sz="1600" dirty="0">
                <a:latin typeface="Times New Roman" panose="02020603050405020304" pitchFamily="18" charset="0"/>
                <a:cs typeface="Times New Roman" panose="02020603050405020304" pitchFamily="18" charset="0"/>
              </a:rPr>
              <a:t> will be implemented as a </a:t>
            </a:r>
            <a:r>
              <a:rPr lang="en-US" sz="1600" b="1" dirty="0">
                <a:latin typeface="Times New Roman" panose="02020603050405020304" pitchFamily="18" charset="0"/>
                <a:cs typeface="Times New Roman" panose="02020603050405020304" pitchFamily="18" charset="0"/>
              </a:rPr>
              <a:t>cloud-based low-code web application</a:t>
            </a:r>
            <a:r>
              <a:rPr lang="en-US" sz="1600" dirty="0">
                <a:latin typeface="Times New Roman" panose="02020603050405020304" pitchFamily="18" charset="0"/>
                <a:cs typeface="Times New Roman" panose="02020603050405020304" pitchFamily="18" charset="0"/>
              </a:rPr>
              <a:t> designed to simplify digital adoption for small businesses. The system will consist of a user-friendly frontend interface where MSME owners can access the platform through a web browser or mobile device. After logging in, users will be able to create business applications using a </a:t>
            </a:r>
            <a:r>
              <a:rPr lang="en-US" sz="1600" b="1" dirty="0">
                <a:latin typeface="Times New Roman" panose="02020603050405020304" pitchFamily="18" charset="0"/>
                <a:cs typeface="Times New Roman" panose="02020603050405020304" pitchFamily="18" charset="0"/>
              </a:rPr>
              <a:t>drag-and-drop builder</a:t>
            </a:r>
            <a:r>
              <a:rPr lang="en-US" sz="1600" dirty="0">
                <a:latin typeface="Times New Roman" panose="02020603050405020304" pitchFamily="18" charset="0"/>
                <a:cs typeface="Times New Roman" panose="02020603050405020304" pitchFamily="18" charset="0"/>
              </a:rPr>
              <a:t> that provides ready-made modules such as billing, inventory management, customer records, and order tracking.</a:t>
            </a:r>
          </a:p>
          <a:p>
            <a:pPr marL="285750" indent="-285750"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frontend will handle user interaction and display dashboards, while the backend server will process requests, manage application logic, and store data securely in a cloud database. The platform will automatically generate customized workflows based on the modules selected by the user. This allows businesses to quickly build and manage their digital tools without writing any code.</a:t>
            </a:r>
          </a:p>
          <a:p>
            <a:pPr marL="285750" indent="-285750" algn="just">
              <a:buFont typeface="Wingdings" panose="05000000000000000000" pitchFamily="2" charset="2"/>
              <a:buChar char="v"/>
            </a:pPr>
            <a:endParaRPr lang="en-US" sz="16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The system will also include an </a:t>
            </a:r>
            <a:r>
              <a:rPr lang="en-US" sz="1600" b="1" dirty="0">
                <a:latin typeface="Times New Roman" panose="02020603050405020304" pitchFamily="18" charset="0"/>
                <a:cs typeface="Times New Roman" panose="02020603050405020304" pitchFamily="18" charset="0"/>
              </a:rPr>
              <a:t>analytics dashboard</a:t>
            </a:r>
            <a:r>
              <a:rPr lang="en-US" sz="1600" dirty="0">
                <a:latin typeface="Times New Roman" panose="02020603050405020304" pitchFamily="18" charset="0"/>
                <a:cs typeface="Times New Roman" panose="02020603050405020304" pitchFamily="18" charset="0"/>
              </a:rPr>
              <a:t> that provides insights such as sales reports, stock levels, and customer activity, helping business owners make better decisions. By using cloud technology, the platform ensures scalability, data security, and easy access from multiple devices. This implementation approach makes the system simple, cost-effective, and practical for MSMEs to adopt.</a:t>
            </a:r>
          </a:p>
        </p:txBody>
      </p:sp>
      <p:sp>
        <p:nvSpPr>
          <p:cNvPr id="7" name="TextBox 2">
            <a:extLst>
              <a:ext uri="{FF2B5EF4-FFF2-40B4-BE49-F238E27FC236}">
                <a16:creationId xmlns:a16="http://schemas.microsoft.com/office/drawing/2014/main" id="{F68A6AAB-1E49-50E7-B15E-4A315FC36C88}"/>
              </a:ext>
            </a:extLst>
          </p:cNvPr>
          <p:cNvSpPr txBox="1"/>
          <p:nvPr/>
        </p:nvSpPr>
        <p:spPr>
          <a:xfrm>
            <a:off x="483250" y="977509"/>
            <a:ext cx="3835539" cy="460767"/>
          </a:xfrm>
          <a:prstGeom prst="rect">
            <a:avLst/>
          </a:prstGeom>
        </p:spPr>
        <p:txBody>
          <a:bodyPr wrap="square" lIns="0" tIns="0" rIns="0" bIns="0" rtlCol="0" anchor="t">
            <a:spAutoFit/>
          </a:bodyPr>
          <a:lstStyle/>
          <a:p>
            <a:pPr>
              <a:lnSpc>
                <a:spcPts val="3960"/>
              </a:lnSpc>
            </a:pPr>
            <a:r>
              <a:rPr lang="en-US" sz="2400" b="1" dirty="0">
                <a:solidFill>
                  <a:srgbClr val="28568A"/>
                </a:solidFill>
                <a:latin typeface="Cambria" panose="02040503050406030204" pitchFamily="18" charset="0"/>
                <a:ea typeface="Cambria" panose="02040503050406030204" pitchFamily="18" charset="0"/>
                <a:cs typeface="Montserrat Bold"/>
                <a:sym typeface="Montserrat Bold"/>
              </a:rPr>
              <a:t>Methodology</a:t>
            </a:r>
          </a:p>
        </p:txBody>
      </p:sp>
    </p:spTree>
    <p:extLst>
      <p:ext uri="{BB962C8B-B14F-4D97-AF65-F5344CB8AC3E}">
        <p14:creationId xmlns:p14="http://schemas.microsoft.com/office/powerpoint/2010/main" val="3885018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D47F8-94DC-46A9-B9E7-FD0D6CD555CB}"/>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73CDD56-D2E7-792F-DF1D-23ED8E4B6337}"/>
              </a:ext>
            </a:extLst>
          </p:cNvPr>
          <p:cNvSpPr txBox="1"/>
          <p:nvPr/>
        </p:nvSpPr>
        <p:spPr>
          <a:xfrm>
            <a:off x="580785" y="884264"/>
            <a:ext cx="3835539" cy="460767"/>
          </a:xfrm>
          <a:prstGeom prst="rect">
            <a:avLst/>
          </a:prstGeom>
        </p:spPr>
        <p:txBody>
          <a:bodyPr wrap="square" lIns="0" tIns="0" rIns="0" bIns="0" rtlCol="0" anchor="t">
            <a:spAutoFit/>
          </a:bodyPr>
          <a:lstStyle/>
          <a:p>
            <a:pPr>
              <a:lnSpc>
                <a:spcPts val="3960"/>
              </a:lnSpc>
            </a:pPr>
            <a:r>
              <a:rPr lang="en-US" sz="2400" b="1" dirty="0">
                <a:solidFill>
                  <a:srgbClr val="28568A"/>
                </a:solidFill>
                <a:latin typeface="Cambria" panose="02040503050406030204" pitchFamily="18" charset="0"/>
                <a:ea typeface="Cambria" panose="02040503050406030204" pitchFamily="18" charset="0"/>
                <a:cs typeface="Montserrat Bold"/>
                <a:sym typeface="Montserrat Bold"/>
              </a:rPr>
              <a:t>Technical Aspects</a:t>
            </a:r>
          </a:p>
        </p:txBody>
      </p:sp>
      <p:pic>
        <p:nvPicPr>
          <p:cNvPr id="1026" name="Picture 2">
            <a:extLst>
              <a:ext uri="{FF2B5EF4-FFF2-40B4-BE49-F238E27FC236}">
                <a16:creationId xmlns:a16="http://schemas.microsoft.com/office/drawing/2014/main" id="{C7B6F00A-6DE3-9FC2-CEA4-17907612F6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8548" y="1718709"/>
            <a:ext cx="6438831" cy="38544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3DD3F87-427D-0EF1-A07A-7BFE9D2162E1}"/>
              </a:ext>
            </a:extLst>
          </p:cNvPr>
          <p:cNvSpPr txBox="1"/>
          <p:nvPr/>
        </p:nvSpPr>
        <p:spPr>
          <a:xfrm>
            <a:off x="505359" y="1513660"/>
            <a:ext cx="5689600" cy="4524315"/>
          </a:xfrm>
          <a:prstGeom prst="rect">
            <a:avLst/>
          </a:prstGeom>
          <a:noFill/>
        </p:spPr>
        <p:txBody>
          <a:bodyPr wrap="square">
            <a:spAutoFit/>
          </a:bodyPr>
          <a:lstStyle/>
          <a:p>
            <a:pPr marL="228611" indent="-228611">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 Frontend Technologies</a:t>
            </a:r>
          </a:p>
          <a:p>
            <a:pPr marL="228611" indent="-228611">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React.js (Mobile-First Responsive Design)</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Component-based architecture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Fast rendering with Virtual DOM</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Fully responsive design for mobile, tablet &amp; desktop</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Scalable and reusable UI components</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marL="228611" indent="-228611">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HTML</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Structured and semantic web layout</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Improved accessibility</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Cross-browser compatibility</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pPr marL="228611" indent="-228611">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Intuitive UI/UX for Non-Technical Users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Simple dashboard interface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Clear navigation menus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Minimal training required</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Local language support (optional feature)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Guided workflows for invoicing &amp; order tracking</a:t>
            </a:r>
          </a:p>
        </p:txBody>
      </p:sp>
      <p:pic>
        <p:nvPicPr>
          <p:cNvPr id="6" name="Picture 5">
            <a:extLst>
              <a:ext uri="{FF2B5EF4-FFF2-40B4-BE49-F238E27FC236}">
                <a16:creationId xmlns:a16="http://schemas.microsoft.com/office/drawing/2014/main" id="{F313B5D8-80E3-2D6E-8636-45EDFA45177C}"/>
              </a:ext>
            </a:extLst>
          </p:cNvPr>
          <p:cNvPicPr>
            <a:picLocks noChangeAspect="1"/>
          </p:cNvPicPr>
          <p:nvPr/>
        </p:nvPicPr>
        <p:blipFill>
          <a:blip r:embed="rId3"/>
          <a:stretch>
            <a:fillRect/>
          </a:stretch>
        </p:blipFill>
        <p:spPr>
          <a:xfrm>
            <a:off x="9626436" y="5233987"/>
            <a:ext cx="2143424" cy="381053"/>
          </a:xfrm>
          <a:prstGeom prst="rect">
            <a:avLst/>
          </a:prstGeom>
        </p:spPr>
      </p:pic>
      <p:sp>
        <p:nvSpPr>
          <p:cNvPr id="7" name="Google Shape;165;p7">
            <a:extLst>
              <a:ext uri="{FF2B5EF4-FFF2-40B4-BE49-F238E27FC236}">
                <a16:creationId xmlns:a16="http://schemas.microsoft.com/office/drawing/2014/main" id="{F90AC573-92D1-375E-504D-69200E56F49C}"/>
              </a:ext>
            </a:extLst>
          </p:cNvPr>
          <p:cNvSpPr/>
          <p:nvPr/>
        </p:nvSpPr>
        <p:spPr>
          <a:xfrm>
            <a:off x="704681" y="127578"/>
            <a:ext cx="4750187"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ea typeface="Arial Narrow"/>
                <a:cs typeface="Arial Narrow"/>
                <a:sym typeface="Arial Narrow"/>
              </a:rPr>
              <a:t>Technology Stack / Methodology</a:t>
            </a:r>
            <a:endParaRPr dirty="0"/>
          </a:p>
        </p:txBody>
      </p:sp>
      <p:sp>
        <p:nvSpPr>
          <p:cNvPr id="15" name="Google Shape;164;p7">
            <a:extLst>
              <a:ext uri="{FF2B5EF4-FFF2-40B4-BE49-F238E27FC236}">
                <a16:creationId xmlns:a16="http://schemas.microsoft.com/office/drawing/2014/main" id="{D76616B2-44E6-4107-D720-16FA374581E6}"/>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8451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5CD8-24A3-93A3-9A14-626BD67E73D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EC84100-027A-647A-34F7-96B08DC73160}"/>
              </a:ext>
            </a:extLst>
          </p:cNvPr>
          <p:cNvSpPr txBox="1"/>
          <p:nvPr/>
        </p:nvSpPr>
        <p:spPr>
          <a:xfrm>
            <a:off x="704681" y="1269987"/>
            <a:ext cx="6441440" cy="3046988"/>
          </a:xfrm>
          <a:prstGeom prst="rect">
            <a:avLst/>
          </a:prstGeom>
          <a:noFill/>
        </p:spPr>
        <p:txBody>
          <a:bodyPr wrap="square">
            <a:spAutoFit/>
          </a:bodyPr>
          <a:lstStyle/>
          <a:p>
            <a:pPr marL="228611" indent="-228611">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 Database</a:t>
            </a:r>
          </a:p>
          <a:p>
            <a:pPr marL="228611" indent="-228611">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SQLite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Lightweight relational database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Ideal for small to medium-scale businesses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Easy deployment</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Low maintenance</a:t>
            </a:r>
          </a:p>
          <a:p>
            <a:pPr>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pPr marL="228611" indent="-228611">
              <a:buFont typeface="Wingdings" panose="05000000000000000000" pitchFamily="2" charset="2"/>
              <a:buChar char="v"/>
            </a:pPr>
            <a:r>
              <a:rPr lang="en-IN" sz="1600" b="1" dirty="0">
                <a:latin typeface="Times New Roman" panose="02020603050405020304" pitchFamily="18" charset="0"/>
                <a:cs typeface="Times New Roman" panose="02020603050405020304" pitchFamily="18" charset="0"/>
              </a:rPr>
              <a:t>Secure Data Storage with Backup</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Encrypted data storage</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Regular automated backups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Role-based access control</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Protection against data loss</a:t>
            </a:r>
          </a:p>
        </p:txBody>
      </p:sp>
      <p:sp>
        <p:nvSpPr>
          <p:cNvPr id="9" name="TextBox 8">
            <a:extLst>
              <a:ext uri="{FF2B5EF4-FFF2-40B4-BE49-F238E27FC236}">
                <a16:creationId xmlns:a16="http://schemas.microsoft.com/office/drawing/2014/main" id="{C9EFFBE4-7F0A-D1E4-0019-6FFA7A361C10}"/>
              </a:ext>
            </a:extLst>
          </p:cNvPr>
          <p:cNvSpPr txBox="1"/>
          <p:nvPr/>
        </p:nvSpPr>
        <p:spPr>
          <a:xfrm>
            <a:off x="6922998" y="1335655"/>
            <a:ext cx="6441440" cy="2800767"/>
          </a:xfrm>
          <a:prstGeom prst="rect">
            <a:avLst/>
          </a:prstGeom>
          <a:noFill/>
        </p:spPr>
        <p:txBody>
          <a:bodyPr wrap="square">
            <a:spAutoFit/>
          </a:bodyPr>
          <a:lstStyle/>
          <a:p>
            <a:pPr marL="228611" indent="-228611">
              <a:buFont typeface="Wingdings" panose="05000000000000000000" pitchFamily="2" charset="2"/>
              <a:buChar char="q"/>
            </a:pPr>
            <a:r>
              <a:rPr lang="en-IN" sz="1600" b="1" dirty="0">
                <a:latin typeface="Times New Roman" panose="02020603050405020304" pitchFamily="18" charset="0"/>
                <a:cs typeface="Times New Roman" panose="02020603050405020304" pitchFamily="18" charset="0"/>
              </a:rPr>
              <a:t> Key Integrations</a:t>
            </a:r>
          </a:p>
          <a:p>
            <a:pPr>
              <a:buNone/>
            </a:pPr>
            <a:r>
              <a:rPr lang="en-IN" sz="1600" b="1" dirty="0">
                <a:latin typeface="Times New Roman" panose="02020603050405020304" pitchFamily="18" charset="0"/>
                <a:cs typeface="Times New Roman" panose="02020603050405020304" pitchFamily="18" charset="0"/>
              </a:rPr>
              <a:t>📄 PDF Generation Module (Invoice Creation)</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Auto-generate GST-compliant invoices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Download &amp; share invoice as PDF</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Customizable invoice template</a:t>
            </a:r>
          </a:p>
          <a:p>
            <a:endParaRPr lang="en-IN" sz="1600" dirty="0">
              <a:latin typeface="Times New Roman" panose="02020603050405020304" pitchFamily="18" charset="0"/>
              <a:cs typeface="Times New Roman" panose="02020603050405020304" pitchFamily="18" charset="0"/>
            </a:endParaRPr>
          </a:p>
          <a:p>
            <a:pPr>
              <a:buNone/>
            </a:pPr>
            <a:r>
              <a:rPr lang="en-IN" sz="1600" b="1" dirty="0">
                <a:latin typeface="Times New Roman" panose="02020603050405020304" pitchFamily="18" charset="0"/>
                <a:cs typeface="Times New Roman" panose="02020603050405020304" pitchFamily="18" charset="0"/>
              </a:rPr>
              <a:t>🧾 GST API Integration (Tax Calculations)</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Automatic GST calculation</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HSN/SAC code integration</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Tax report generation</a:t>
            </a:r>
          </a:p>
          <a:p>
            <a:pPr>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Reduces manual tax errors\</a:t>
            </a:r>
          </a:p>
        </p:txBody>
      </p:sp>
      <p:pic>
        <p:nvPicPr>
          <p:cNvPr id="2050" name="Picture 2">
            <a:extLst>
              <a:ext uri="{FF2B5EF4-FFF2-40B4-BE49-F238E27FC236}">
                <a16:creationId xmlns:a16="http://schemas.microsoft.com/office/drawing/2014/main" id="{3D679263-D770-A64E-323D-F8B1C1354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2194" y="4097094"/>
            <a:ext cx="6350000" cy="281940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65;p7">
            <a:extLst>
              <a:ext uri="{FF2B5EF4-FFF2-40B4-BE49-F238E27FC236}">
                <a16:creationId xmlns:a16="http://schemas.microsoft.com/office/drawing/2014/main" id="{D25B4933-CC38-82A7-0727-5A1810210E18}"/>
              </a:ext>
            </a:extLst>
          </p:cNvPr>
          <p:cNvSpPr/>
          <p:nvPr/>
        </p:nvSpPr>
        <p:spPr>
          <a:xfrm>
            <a:off x="704681" y="127578"/>
            <a:ext cx="4750187"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ea typeface="Arial Narrow"/>
                <a:cs typeface="Arial Narrow"/>
                <a:sym typeface="Arial Narrow"/>
              </a:rPr>
              <a:t>Technology Stack / Methodology</a:t>
            </a:r>
            <a:endParaRPr dirty="0"/>
          </a:p>
        </p:txBody>
      </p:sp>
      <p:sp>
        <p:nvSpPr>
          <p:cNvPr id="13" name="Google Shape;164;p7">
            <a:extLst>
              <a:ext uri="{FF2B5EF4-FFF2-40B4-BE49-F238E27FC236}">
                <a16:creationId xmlns:a16="http://schemas.microsoft.com/office/drawing/2014/main" id="{DB91B89F-71FD-9A35-2DD8-740D44B7E6FF}"/>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4" name="Picture 13">
            <a:extLst>
              <a:ext uri="{FF2B5EF4-FFF2-40B4-BE49-F238E27FC236}">
                <a16:creationId xmlns:a16="http://schemas.microsoft.com/office/drawing/2014/main" id="{D5D8141A-0C59-ED16-A996-BA070CBA0604}"/>
              </a:ext>
            </a:extLst>
          </p:cNvPr>
          <p:cNvPicPr>
            <a:picLocks noChangeAspect="1"/>
          </p:cNvPicPr>
          <p:nvPr/>
        </p:nvPicPr>
        <p:blipFill>
          <a:blip r:embed="rId3"/>
          <a:stretch>
            <a:fillRect/>
          </a:stretch>
        </p:blipFill>
        <p:spPr>
          <a:xfrm>
            <a:off x="5024288" y="4280920"/>
            <a:ext cx="2143424" cy="381053"/>
          </a:xfrm>
          <a:prstGeom prst="rect">
            <a:avLst/>
          </a:prstGeom>
        </p:spPr>
      </p:pic>
    </p:spTree>
    <p:extLst>
      <p:ext uri="{BB962C8B-B14F-4D97-AF65-F5344CB8AC3E}">
        <p14:creationId xmlns:p14="http://schemas.microsoft.com/office/powerpoint/2010/main" val="1770986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CBD76881-6BB8-A9D2-ECA2-6D2779EE51DE}"/>
            </a:ext>
          </a:extLst>
        </p:cNvPr>
        <p:cNvGrpSpPr/>
        <p:nvPr/>
      </p:nvGrpSpPr>
      <p:grpSpPr>
        <a:xfrm>
          <a:off x="0" y="0"/>
          <a:ext cx="0" cy="0"/>
          <a:chOff x="0" y="0"/>
          <a:chExt cx="0" cy="0"/>
        </a:xfrm>
      </p:grpSpPr>
      <p:sp>
        <p:nvSpPr>
          <p:cNvPr id="163" name="Google Shape;163;p7">
            <a:extLst>
              <a:ext uri="{FF2B5EF4-FFF2-40B4-BE49-F238E27FC236}">
                <a16:creationId xmlns:a16="http://schemas.microsoft.com/office/drawing/2014/main" id="{B0F7FF3A-385A-7548-C804-F57D3361FADF}"/>
              </a:ext>
            </a:extLst>
          </p:cNvPr>
          <p:cNvSpPr/>
          <p:nvPr/>
        </p:nvSpPr>
        <p:spPr>
          <a:xfrm>
            <a:off x="434975" y="420688"/>
            <a:ext cx="1106488" cy="59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4" name="Google Shape;164;p7">
            <a:extLst>
              <a:ext uri="{FF2B5EF4-FFF2-40B4-BE49-F238E27FC236}">
                <a16:creationId xmlns:a16="http://schemas.microsoft.com/office/drawing/2014/main" id="{39A68BC5-63C8-6BE8-36F6-63FF72BF5D81}"/>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5" name="Google Shape;165;p7">
            <a:extLst>
              <a:ext uri="{FF2B5EF4-FFF2-40B4-BE49-F238E27FC236}">
                <a16:creationId xmlns:a16="http://schemas.microsoft.com/office/drawing/2014/main" id="{31222EB7-E671-03FE-CB21-2398F6B97A3F}"/>
              </a:ext>
            </a:extLst>
          </p:cNvPr>
          <p:cNvSpPr/>
          <p:nvPr/>
        </p:nvSpPr>
        <p:spPr>
          <a:xfrm>
            <a:off x="704681" y="127578"/>
            <a:ext cx="4750187"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dirty="0">
                <a:solidFill>
                  <a:schemeClr val="lt1"/>
                </a:solidFill>
                <a:latin typeface="Arial Narrow"/>
                <a:ea typeface="Arial Narrow"/>
                <a:cs typeface="Arial Narrow"/>
                <a:sym typeface="Arial Narrow"/>
              </a:rPr>
              <a:t>Technology Stack / Methodology</a:t>
            </a:r>
            <a:endParaRPr dirty="0"/>
          </a:p>
        </p:txBody>
      </p:sp>
      <p:graphicFrame>
        <p:nvGraphicFramePr>
          <p:cNvPr id="2" name="Table 1">
            <a:extLst>
              <a:ext uri="{FF2B5EF4-FFF2-40B4-BE49-F238E27FC236}">
                <a16:creationId xmlns:a16="http://schemas.microsoft.com/office/drawing/2014/main" id="{99293E48-0E90-E44A-FF0C-D5508C0EDBB1}"/>
              </a:ext>
            </a:extLst>
          </p:cNvPr>
          <p:cNvGraphicFramePr>
            <a:graphicFrameLocks noGrp="1"/>
          </p:cNvGraphicFramePr>
          <p:nvPr>
            <p:extLst>
              <p:ext uri="{D42A27DB-BD31-4B8C-83A1-F6EECF244321}">
                <p14:modId xmlns:p14="http://schemas.microsoft.com/office/powerpoint/2010/main" val="4271759543"/>
              </p:ext>
            </p:extLst>
          </p:nvPr>
        </p:nvGraphicFramePr>
        <p:xfrm>
          <a:off x="580786" y="2113066"/>
          <a:ext cx="5515214" cy="2363368"/>
        </p:xfrm>
        <a:graphic>
          <a:graphicData uri="http://schemas.openxmlformats.org/drawingml/2006/table">
            <a:tbl>
              <a:tblPr firstRow="1" firstCol="1" bandRow="1">
                <a:tableStyleId>{70812BEC-D67D-446D-BE6E-132BB6EC6444}</a:tableStyleId>
              </a:tblPr>
              <a:tblGrid>
                <a:gridCol w="3871288">
                  <a:extLst>
                    <a:ext uri="{9D8B030D-6E8A-4147-A177-3AD203B41FA5}">
                      <a16:colId xmlns:a16="http://schemas.microsoft.com/office/drawing/2014/main" val="3341535979"/>
                    </a:ext>
                  </a:extLst>
                </a:gridCol>
                <a:gridCol w="1643926">
                  <a:extLst>
                    <a:ext uri="{9D8B030D-6E8A-4147-A177-3AD203B41FA5}">
                      <a16:colId xmlns:a16="http://schemas.microsoft.com/office/drawing/2014/main" val="4053618375"/>
                    </a:ext>
                  </a:extLst>
                </a:gridCol>
              </a:tblGrid>
              <a:tr h="433194">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Component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Cost (INR)</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27431022"/>
                  </a:ext>
                </a:extLst>
              </a:tr>
              <a:tr h="433194">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Backend (FastAPI, DB, APIs)</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₹60,000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04564350"/>
                  </a:ext>
                </a:extLst>
              </a:tr>
              <a:tr h="637408">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Frontend (Web dashboard / </a:t>
                      </a:r>
                      <a:r>
                        <a:rPr lang="en-IN" sz="1800" kern="100" dirty="0" err="1">
                          <a:effectLst/>
                          <a:latin typeface="Times New Roman" panose="02020603050405020304" pitchFamily="18" charset="0"/>
                          <a:cs typeface="Times New Roman" panose="02020603050405020304" pitchFamily="18" charset="0"/>
                        </a:rPr>
                        <a:t>Streamlit</a:t>
                      </a:r>
                      <a:r>
                        <a:rPr lang="en-IN" sz="1800" kern="100" dirty="0">
                          <a:effectLst/>
                          <a:latin typeface="Times New Roman" panose="02020603050405020304" pitchFamily="18" charset="0"/>
                          <a:cs typeface="Times New Roman" panose="02020603050405020304" pitchFamily="18" charset="0"/>
                        </a:rPr>
                        <a:t> / React)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₹40,000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80976202"/>
                  </a:ext>
                </a:extLst>
              </a:tr>
              <a:tr h="426378">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UI/UX Design</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a:effectLst/>
                          <a:latin typeface="Times New Roman" panose="02020603050405020304" pitchFamily="18" charset="0"/>
                          <a:cs typeface="Times New Roman" panose="02020603050405020304" pitchFamily="18" charset="0"/>
                        </a:rPr>
                        <a:t>₹20,000 </a:t>
                      </a:r>
                      <a:endParaRPr lang="en-IN"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82048124"/>
                  </a:ext>
                </a:extLst>
              </a:tr>
              <a:tr h="433194">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Testing &amp; Bug Fixing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cs typeface="Times New Roman" panose="02020603050405020304" pitchFamily="18" charset="0"/>
                        </a:rPr>
                        <a:t>₹20,000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46656144"/>
                  </a:ext>
                </a:extLst>
              </a:tr>
            </a:tbl>
          </a:graphicData>
        </a:graphic>
      </p:graphicFrame>
      <p:sp>
        <p:nvSpPr>
          <p:cNvPr id="4" name="TextBox 2">
            <a:extLst>
              <a:ext uri="{FF2B5EF4-FFF2-40B4-BE49-F238E27FC236}">
                <a16:creationId xmlns:a16="http://schemas.microsoft.com/office/drawing/2014/main" id="{278F4236-3393-019E-7590-5613122B7E2C}"/>
              </a:ext>
            </a:extLst>
          </p:cNvPr>
          <p:cNvSpPr txBox="1"/>
          <p:nvPr/>
        </p:nvSpPr>
        <p:spPr>
          <a:xfrm>
            <a:off x="580785" y="884264"/>
            <a:ext cx="3835539" cy="460767"/>
          </a:xfrm>
          <a:prstGeom prst="rect">
            <a:avLst/>
          </a:prstGeom>
        </p:spPr>
        <p:txBody>
          <a:bodyPr wrap="square" lIns="0" tIns="0" rIns="0" bIns="0" rtlCol="0" anchor="t">
            <a:spAutoFit/>
          </a:bodyPr>
          <a:lstStyle/>
          <a:p>
            <a:pPr>
              <a:lnSpc>
                <a:spcPts val="3960"/>
              </a:lnSpc>
            </a:pPr>
            <a:r>
              <a:rPr lang="en-US" sz="2400" b="1" dirty="0">
                <a:solidFill>
                  <a:srgbClr val="28568A"/>
                </a:solidFill>
                <a:latin typeface="Cambria" panose="02040503050406030204" pitchFamily="18" charset="0"/>
                <a:ea typeface="Cambria" panose="02040503050406030204" pitchFamily="18" charset="0"/>
                <a:cs typeface="Montserrat Bold"/>
                <a:sym typeface="Montserrat Bold"/>
              </a:rPr>
              <a:t>Development Cost</a:t>
            </a:r>
          </a:p>
        </p:txBody>
      </p:sp>
      <p:sp>
        <p:nvSpPr>
          <p:cNvPr id="6" name="TextBox 5">
            <a:extLst>
              <a:ext uri="{FF2B5EF4-FFF2-40B4-BE49-F238E27FC236}">
                <a16:creationId xmlns:a16="http://schemas.microsoft.com/office/drawing/2014/main" id="{659041EA-F17F-79AB-5C6B-0AAA55671F2A}"/>
              </a:ext>
            </a:extLst>
          </p:cNvPr>
          <p:cNvSpPr txBox="1"/>
          <p:nvPr/>
        </p:nvSpPr>
        <p:spPr>
          <a:xfrm>
            <a:off x="462724" y="1483838"/>
            <a:ext cx="6100916" cy="369332"/>
          </a:xfrm>
          <a:prstGeom prst="rect">
            <a:avLst/>
          </a:prstGeom>
          <a:noFill/>
        </p:spPr>
        <p:txBody>
          <a:bodyPr wrap="square">
            <a:spAutoFit/>
          </a:bodyPr>
          <a:lstStyle/>
          <a:p>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One-Time Development Cost (MVP)</a:t>
            </a:r>
            <a:endParaRPr lang="en-IN"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4C2C811-9CDF-968E-15FA-C0CA38CA555D}"/>
              </a:ext>
            </a:extLst>
          </p:cNvPr>
          <p:cNvSpPr txBox="1"/>
          <p:nvPr/>
        </p:nvSpPr>
        <p:spPr>
          <a:xfrm>
            <a:off x="580785" y="4839079"/>
            <a:ext cx="6100916" cy="1070165"/>
          </a:xfrm>
          <a:prstGeom prst="rect">
            <a:avLst/>
          </a:prstGeom>
          <a:noFill/>
        </p:spPr>
        <p:txBody>
          <a:bodyPr wrap="square">
            <a:spAutoFit/>
          </a:bodyPr>
          <a:lstStyle/>
          <a:p>
            <a:pPr>
              <a:lnSpc>
                <a:spcPct val="107000"/>
              </a:lnSpc>
              <a:spcAft>
                <a:spcPts val="800"/>
              </a:spcAft>
              <a:buNone/>
            </a:pP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Total One-Time Build Cost (Startup MVP)</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b="1" kern="100" dirty="0">
                <a:effectLst/>
                <a:latin typeface="Times New Roman" panose="02020603050405020304" pitchFamily="18" charset="0"/>
                <a:ea typeface="Calibri" panose="020F0502020204030204" pitchFamily="34" charset="0"/>
                <a:cs typeface="Times New Roman" panose="02020603050405020304" pitchFamily="18" charset="0"/>
              </a:rPr>
              <a:t>₹140,000 (approx.)</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(If done by a small team / freelancers / founders)</a:t>
            </a:r>
          </a:p>
        </p:txBody>
      </p:sp>
      <p:graphicFrame>
        <p:nvGraphicFramePr>
          <p:cNvPr id="13" name="Table 12">
            <a:extLst>
              <a:ext uri="{FF2B5EF4-FFF2-40B4-BE49-F238E27FC236}">
                <a16:creationId xmlns:a16="http://schemas.microsoft.com/office/drawing/2014/main" id="{23F14993-F1A9-6B5D-D5F2-A1DC1380E371}"/>
              </a:ext>
            </a:extLst>
          </p:cNvPr>
          <p:cNvGraphicFramePr>
            <a:graphicFrameLocks noGrp="1"/>
          </p:cNvGraphicFramePr>
          <p:nvPr>
            <p:extLst>
              <p:ext uri="{D42A27DB-BD31-4B8C-83A1-F6EECF244321}">
                <p14:modId xmlns:p14="http://schemas.microsoft.com/office/powerpoint/2010/main" val="3769331867"/>
              </p:ext>
            </p:extLst>
          </p:nvPr>
        </p:nvGraphicFramePr>
        <p:xfrm>
          <a:off x="6466104" y="2113065"/>
          <a:ext cx="5145110" cy="2363370"/>
        </p:xfrm>
        <a:graphic>
          <a:graphicData uri="http://schemas.openxmlformats.org/drawingml/2006/table">
            <a:tbl>
              <a:tblPr firstRow="1" firstCol="1" bandRow="1">
                <a:tableStyleId>{70812BEC-D67D-446D-BE6E-132BB6EC6444}</a:tableStyleId>
              </a:tblPr>
              <a:tblGrid>
                <a:gridCol w="3759444">
                  <a:extLst>
                    <a:ext uri="{9D8B030D-6E8A-4147-A177-3AD203B41FA5}">
                      <a16:colId xmlns:a16="http://schemas.microsoft.com/office/drawing/2014/main" val="3664618305"/>
                    </a:ext>
                  </a:extLst>
                </a:gridCol>
                <a:gridCol w="1385666">
                  <a:extLst>
                    <a:ext uri="{9D8B030D-6E8A-4147-A177-3AD203B41FA5}">
                      <a16:colId xmlns:a16="http://schemas.microsoft.com/office/drawing/2014/main" val="3242056156"/>
                    </a:ext>
                  </a:extLst>
                </a:gridCol>
              </a:tblGrid>
              <a:tr h="333631">
                <a:tc>
                  <a:txBody>
                    <a:bodyPr/>
                    <a:lstStyle/>
                    <a:p>
                      <a:pPr>
                        <a:lnSpc>
                          <a:spcPct val="107000"/>
                        </a:lnSpc>
                        <a:spcAft>
                          <a:spcPts val="800"/>
                        </a:spcAft>
                        <a:buNone/>
                      </a:pPr>
                      <a:r>
                        <a:rPr lang="en-IN" sz="1600" kern="100" dirty="0">
                          <a:effectLst/>
                          <a:latin typeface="Times New Roman" panose="02020603050405020304" pitchFamily="18" charset="0"/>
                          <a:cs typeface="Times New Roman" panose="02020603050405020304" pitchFamily="18" charset="0"/>
                        </a:rPr>
                        <a:t>Item</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100">
                          <a:effectLst/>
                          <a:latin typeface="Times New Roman" panose="02020603050405020304" pitchFamily="18" charset="0"/>
                          <a:cs typeface="Times New Roman" panose="02020603050405020304" pitchFamily="18" charset="0"/>
                        </a:rPr>
                        <a:t>Cost / Month</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95161378"/>
                  </a:ext>
                </a:extLst>
              </a:tr>
              <a:tr h="333631">
                <a:tc>
                  <a:txBody>
                    <a:bodyPr/>
                    <a:lstStyle/>
                    <a:p>
                      <a:pPr>
                        <a:lnSpc>
                          <a:spcPct val="107000"/>
                        </a:lnSpc>
                        <a:spcAft>
                          <a:spcPts val="800"/>
                        </a:spcAft>
                        <a:buNone/>
                      </a:pPr>
                      <a:r>
                        <a:rPr lang="en-IN" sz="1600" kern="100" dirty="0">
                          <a:effectLst/>
                          <a:latin typeface="Times New Roman" panose="02020603050405020304" pitchFamily="18" charset="0"/>
                          <a:cs typeface="Times New Roman" panose="02020603050405020304" pitchFamily="18" charset="0"/>
                        </a:rPr>
                        <a:t>Backend Server (AWS/GCP/Azure)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100">
                          <a:effectLst/>
                          <a:latin typeface="Times New Roman" panose="02020603050405020304" pitchFamily="18" charset="0"/>
                          <a:cs typeface="Times New Roman" panose="02020603050405020304" pitchFamily="18" charset="0"/>
                        </a:rPr>
                        <a:t>₹4,000</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18881698"/>
                  </a:ext>
                </a:extLst>
              </a:tr>
              <a:tr h="333631">
                <a:tc>
                  <a:txBody>
                    <a:bodyPr/>
                    <a:lstStyle/>
                    <a:p>
                      <a:pPr>
                        <a:lnSpc>
                          <a:spcPct val="107000"/>
                        </a:lnSpc>
                        <a:spcAft>
                          <a:spcPts val="800"/>
                        </a:spcAft>
                        <a:buNone/>
                      </a:pPr>
                      <a:r>
                        <a:rPr lang="en-IN" sz="1600" kern="100" dirty="0">
                          <a:effectLst/>
                          <a:latin typeface="Times New Roman" panose="02020603050405020304" pitchFamily="18" charset="0"/>
                          <a:cs typeface="Times New Roman" panose="02020603050405020304" pitchFamily="18" charset="0"/>
                        </a:rPr>
                        <a:t>GPU Server for AI Inference</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100" dirty="0">
                          <a:effectLst/>
                          <a:latin typeface="Times New Roman" panose="02020603050405020304" pitchFamily="18" charset="0"/>
                          <a:cs typeface="Times New Roman" panose="02020603050405020304" pitchFamily="18" charset="0"/>
                        </a:rPr>
                        <a:t>₹7,000 </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40778925"/>
                  </a:ext>
                </a:extLst>
              </a:tr>
              <a:tr h="361584">
                <a:tc>
                  <a:txBody>
                    <a:bodyPr/>
                    <a:lstStyle/>
                    <a:p>
                      <a:pPr>
                        <a:lnSpc>
                          <a:spcPct val="107000"/>
                        </a:lnSpc>
                        <a:spcAft>
                          <a:spcPts val="800"/>
                        </a:spcAft>
                        <a:buNone/>
                      </a:pPr>
                      <a:r>
                        <a:rPr lang="en-IN" sz="1600" kern="100">
                          <a:effectLst/>
                          <a:latin typeface="Times New Roman" panose="02020603050405020304" pitchFamily="18" charset="0"/>
                          <a:cs typeface="Times New Roman" panose="02020603050405020304" pitchFamily="18" charset="0"/>
                        </a:rPr>
                        <a:t>Database (MongoDB Atlas / PostgreSQL)</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100" dirty="0">
                          <a:effectLst/>
                          <a:latin typeface="Times New Roman" panose="02020603050405020304" pitchFamily="18" charset="0"/>
                          <a:cs typeface="Times New Roman" panose="02020603050405020304" pitchFamily="18" charset="0"/>
                        </a:rPr>
                        <a:t>₹3,000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82486555"/>
                  </a:ext>
                </a:extLst>
              </a:tr>
              <a:tr h="333631">
                <a:tc>
                  <a:txBody>
                    <a:bodyPr/>
                    <a:lstStyle/>
                    <a:p>
                      <a:pPr>
                        <a:lnSpc>
                          <a:spcPct val="107000"/>
                        </a:lnSpc>
                        <a:spcAft>
                          <a:spcPts val="800"/>
                        </a:spcAft>
                        <a:buNone/>
                      </a:pPr>
                      <a:r>
                        <a:rPr lang="en-IN" sz="1600" kern="100">
                          <a:effectLst/>
                          <a:latin typeface="Times New Roman" panose="02020603050405020304" pitchFamily="18" charset="0"/>
                          <a:cs typeface="Times New Roman" panose="02020603050405020304" pitchFamily="18" charset="0"/>
                        </a:rPr>
                        <a:t>Image Storage (S3 / Cloudinary)</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100" dirty="0">
                          <a:effectLst/>
                          <a:latin typeface="Times New Roman" panose="02020603050405020304" pitchFamily="18" charset="0"/>
                          <a:cs typeface="Times New Roman" panose="02020603050405020304" pitchFamily="18" charset="0"/>
                        </a:rPr>
                        <a:t>₹2,000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3454791"/>
                  </a:ext>
                </a:extLst>
              </a:tr>
              <a:tr h="333631">
                <a:tc>
                  <a:txBody>
                    <a:bodyPr/>
                    <a:lstStyle/>
                    <a:p>
                      <a:pPr>
                        <a:lnSpc>
                          <a:spcPct val="107000"/>
                        </a:lnSpc>
                        <a:spcAft>
                          <a:spcPts val="800"/>
                        </a:spcAft>
                        <a:buNone/>
                      </a:pPr>
                      <a:r>
                        <a:rPr lang="en-IN" sz="1600" kern="100">
                          <a:effectLst/>
                          <a:latin typeface="Times New Roman" panose="02020603050405020304" pitchFamily="18" charset="0"/>
                          <a:cs typeface="Times New Roman" panose="02020603050405020304" pitchFamily="18" charset="0"/>
                        </a:rPr>
                        <a:t>APIs (SerpAPI, Email, PDF, etc.)</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100" dirty="0">
                          <a:effectLst/>
                          <a:latin typeface="Times New Roman" panose="02020603050405020304" pitchFamily="18" charset="0"/>
                          <a:cs typeface="Times New Roman" panose="02020603050405020304" pitchFamily="18" charset="0"/>
                        </a:rPr>
                        <a:t>₹2,000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1284705"/>
                  </a:ext>
                </a:extLst>
              </a:tr>
              <a:tr h="333631">
                <a:tc>
                  <a:txBody>
                    <a:bodyPr/>
                    <a:lstStyle/>
                    <a:p>
                      <a:pPr>
                        <a:lnSpc>
                          <a:spcPct val="107000"/>
                        </a:lnSpc>
                        <a:spcAft>
                          <a:spcPts val="800"/>
                        </a:spcAft>
                        <a:buNone/>
                      </a:pPr>
                      <a:r>
                        <a:rPr lang="en-IN" sz="1600" kern="100">
                          <a:effectLst/>
                          <a:latin typeface="Times New Roman" panose="02020603050405020304" pitchFamily="18" charset="0"/>
                          <a:cs typeface="Times New Roman" panose="02020603050405020304" pitchFamily="18" charset="0"/>
                        </a:rPr>
                        <a:t>Monitoring &amp; Logs</a:t>
                      </a:r>
                      <a:endParaRPr lang="en-IN" sz="16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600" kern="100" dirty="0">
                          <a:effectLst/>
                          <a:latin typeface="Times New Roman" panose="02020603050405020304" pitchFamily="18" charset="0"/>
                          <a:cs typeface="Times New Roman" panose="02020603050405020304" pitchFamily="18" charset="0"/>
                        </a:rPr>
                        <a:t>₹1,000</a:t>
                      </a:r>
                      <a:endParaRPr lang="en-IN" sz="16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23829945"/>
                  </a:ext>
                </a:extLst>
              </a:tr>
            </a:tbl>
          </a:graphicData>
        </a:graphic>
      </p:graphicFrame>
      <p:sp>
        <p:nvSpPr>
          <p:cNvPr id="15" name="Rectangle 3">
            <a:extLst>
              <a:ext uri="{FF2B5EF4-FFF2-40B4-BE49-F238E27FC236}">
                <a16:creationId xmlns:a16="http://schemas.microsoft.com/office/drawing/2014/main" id="{B1B1EDA1-1E2E-23D0-58C9-A0E9D48DDBD7}"/>
              </a:ext>
            </a:extLst>
          </p:cNvPr>
          <p:cNvSpPr>
            <a:spLocks noChangeArrowheads="1"/>
          </p:cNvSpPr>
          <p:nvPr/>
        </p:nvSpPr>
        <p:spPr bwMode="auto">
          <a:xfrm>
            <a:off x="6308621" y="1483838"/>
            <a:ext cx="53025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1800"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Cloud </a:t>
            </a:r>
            <a:r>
              <a:rPr kumimoji="0" lang="en-US" altLang="en-US" sz="18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Monthly Running Cost (Startup Scale)</a:t>
            </a:r>
            <a:r>
              <a:rPr kumimoji="0" lang="en-US" altLang="en-US" sz="18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C8E735EB-C68E-F7A6-5C64-85CFE597C29D}"/>
              </a:ext>
            </a:extLst>
          </p:cNvPr>
          <p:cNvSpPr txBox="1"/>
          <p:nvPr/>
        </p:nvSpPr>
        <p:spPr>
          <a:xfrm>
            <a:off x="6466104" y="4839079"/>
            <a:ext cx="6100916" cy="767711"/>
          </a:xfrm>
          <a:prstGeom prst="rect">
            <a:avLst/>
          </a:prstGeom>
          <a:noFill/>
        </p:spPr>
        <p:txBody>
          <a:bodyPr wrap="square">
            <a:spAutoFit/>
          </a:bodyPr>
          <a:lstStyle/>
          <a:p>
            <a:pPr>
              <a:lnSpc>
                <a:spcPct val="107000"/>
              </a:lnSpc>
              <a:spcAft>
                <a:spcPts val="800"/>
              </a:spcAft>
              <a:buNone/>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Total Monthly Infra Cost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₹19,000/  month</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57881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6F915-5339-9559-8A12-8516D233DA8B}"/>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A66F982D-AA34-52BF-880C-AF5E1ED25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3640" y="1308728"/>
            <a:ext cx="4936314" cy="3269617"/>
          </a:xfrm>
          <a:prstGeom prst="rect">
            <a:avLst/>
          </a:prstGeom>
        </p:spPr>
      </p:pic>
      <p:sp>
        <p:nvSpPr>
          <p:cNvPr id="2" name="TextBox 2">
            <a:extLst>
              <a:ext uri="{FF2B5EF4-FFF2-40B4-BE49-F238E27FC236}">
                <a16:creationId xmlns:a16="http://schemas.microsoft.com/office/drawing/2014/main" id="{D0422FDD-BBC9-3EA3-4778-1DCFDC7504EC}"/>
              </a:ext>
            </a:extLst>
          </p:cNvPr>
          <p:cNvSpPr txBox="1"/>
          <p:nvPr/>
        </p:nvSpPr>
        <p:spPr>
          <a:xfrm>
            <a:off x="446679" y="869675"/>
            <a:ext cx="3835539" cy="460767"/>
          </a:xfrm>
          <a:prstGeom prst="rect">
            <a:avLst/>
          </a:prstGeom>
        </p:spPr>
        <p:txBody>
          <a:bodyPr wrap="square" lIns="0" tIns="0" rIns="0" bIns="0" rtlCol="0" anchor="t">
            <a:spAutoFit/>
          </a:bodyPr>
          <a:lstStyle/>
          <a:p>
            <a:pPr>
              <a:lnSpc>
                <a:spcPts val="3960"/>
              </a:lnSpc>
            </a:pPr>
            <a:r>
              <a:rPr lang="en-US" sz="2400" b="1" dirty="0">
                <a:solidFill>
                  <a:srgbClr val="28568A"/>
                </a:solidFill>
                <a:latin typeface="Cambria" panose="02040503050406030204" pitchFamily="18" charset="0"/>
                <a:ea typeface="Cambria" panose="02040503050406030204" pitchFamily="18" charset="0"/>
                <a:cs typeface="Montserrat Bold"/>
                <a:sym typeface="Montserrat Bold"/>
              </a:rPr>
              <a:t>Expected Impact</a:t>
            </a:r>
          </a:p>
        </p:txBody>
      </p:sp>
      <p:sp>
        <p:nvSpPr>
          <p:cNvPr id="7" name="TextBox 6">
            <a:extLst>
              <a:ext uri="{FF2B5EF4-FFF2-40B4-BE49-F238E27FC236}">
                <a16:creationId xmlns:a16="http://schemas.microsoft.com/office/drawing/2014/main" id="{71059B6A-3787-C389-7AAC-0DC044F28903}"/>
              </a:ext>
            </a:extLst>
          </p:cNvPr>
          <p:cNvSpPr txBox="1"/>
          <p:nvPr/>
        </p:nvSpPr>
        <p:spPr>
          <a:xfrm>
            <a:off x="446679" y="1507844"/>
            <a:ext cx="6441440" cy="1569660"/>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Quantifiable Benefits:</a:t>
            </a: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Error Reduction:</a:t>
            </a:r>
          </a:p>
          <a:p>
            <a:r>
              <a:rPr lang="en-IN" sz="1600" dirty="0">
                <a:latin typeface="Times New Roman" panose="02020603050405020304" pitchFamily="18" charset="0"/>
                <a:cs typeface="Times New Roman" panose="02020603050405020304" pitchFamily="18" charset="0"/>
              </a:rPr>
              <a:t>• Zero stock mismatches </a:t>
            </a:r>
          </a:p>
          <a:p>
            <a:r>
              <a:rPr lang="en-IN" sz="1600" dirty="0">
                <a:latin typeface="Times New Roman" panose="02020603050405020304" pitchFamily="18" charset="0"/>
                <a:cs typeface="Times New Roman" panose="02020603050405020304" pitchFamily="18" charset="0"/>
              </a:rPr>
              <a:t>• Accurate GST calculations </a:t>
            </a:r>
          </a:p>
          <a:p>
            <a:r>
              <a:rPr lang="en-IN" sz="1600" dirty="0">
                <a:latin typeface="Times New Roman" panose="02020603050405020304" pitchFamily="18" charset="0"/>
                <a:cs typeface="Times New Roman" panose="02020603050405020304" pitchFamily="18" charset="0"/>
              </a:rPr>
              <a:t>• No missing invoices</a:t>
            </a:r>
          </a:p>
        </p:txBody>
      </p:sp>
      <p:sp>
        <p:nvSpPr>
          <p:cNvPr id="9" name="TextBox 8">
            <a:extLst>
              <a:ext uri="{FF2B5EF4-FFF2-40B4-BE49-F238E27FC236}">
                <a16:creationId xmlns:a16="http://schemas.microsoft.com/office/drawing/2014/main" id="{B9A232AE-C34B-91E3-E3B9-A1024021D04C}"/>
              </a:ext>
            </a:extLst>
          </p:cNvPr>
          <p:cNvSpPr txBox="1"/>
          <p:nvPr/>
        </p:nvSpPr>
        <p:spPr>
          <a:xfrm>
            <a:off x="441780" y="3254906"/>
            <a:ext cx="6441440" cy="1323439"/>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Business Growth:</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40% improvement in customer retention </a:t>
            </a:r>
          </a:p>
          <a:p>
            <a:r>
              <a:rPr lang="en-IN" sz="1600" dirty="0">
                <a:latin typeface="Times New Roman" panose="02020603050405020304" pitchFamily="18" charset="0"/>
                <a:cs typeface="Times New Roman" panose="02020603050405020304" pitchFamily="18" charset="0"/>
              </a:rPr>
              <a:t>• Better cash flow with digital payments </a:t>
            </a:r>
          </a:p>
          <a:p>
            <a:r>
              <a:rPr lang="en-IN" sz="1600" dirty="0">
                <a:latin typeface="Times New Roman" panose="02020603050405020304" pitchFamily="18" charset="0"/>
                <a:cs typeface="Times New Roman" panose="02020603050405020304" pitchFamily="18" charset="0"/>
              </a:rPr>
              <a:t>• Data-driven decision making</a:t>
            </a:r>
          </a:p>
          <a:p>
            <a:endParaRPr lang="en-IN" sz="1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AA1D81F-65E3-2C87-1404-173C07AB20F1}"/>
              </a:ext>
            </a:extLst>
          </p:cNvPr>
          <p:cNvSpPr txBox="1"/>
          <p:nvPr/>
        </p:nvSpPr>
        <p:spPr>
          <a:xfrm>
            <a:off x="8412480" y="2000286"/>
            <a:ext cx="3972560" cy="1077218"/>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Digital Adoption:</a:t>
            </a:r>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Brings MSMEs into formal economy </a:t>
            </a:r>
          </a:p>
          <a:p>
            <a:r>
              <a:rPr lang="en-IN" sz="1600" dirty="0">
                <a:latin typeface="Times New Roman" panose="02020603050405020304" pitchFamily="18" charset="0"/>
                <a:cs typeface="Times New Roman" panose="02020603050405020304" pitchFamily="18" charset="0"/>
              </a:rPr>
              <a:t>• Enables GST compliance </a:t>
            </a:r>
          </a:p>
          <a:p>
            <a:r>
              <a:rPr lang="en-IN" sz="1600" dirty="0">
                <a:latin typeface="Times New Roman" panose="02020603050405020304" pitchFamily="18" charset="0"/>
                <a:cs typeface="Times New Roman" panose="02020603050405020304" pitchFamily="18" charset="0"/>
              </a:rPr>
              <a:t>• Supports Digital India initiative</a:t>
            </a:r>
          </a:p>
        </p:txBody>
      </p:sp>
      <p:sp>
        <p:nvSpPr>
          <p:cNvPr id="13" name="TextBox 12">
            <a:extLst>
              <a:ext uri="{FF2B5EF4-FFF2-40B4-BE49-F238E27FC236}">
                <a16:creationId xmlns:a16="http://schemas.microsoft.com/office/drawing/2014/main" id="{2585F69A-6FB1-0DC4-7AF7-25FE0E3CD334}"/>
              </a:ext>
            </a:extLst>
          </p:cNvPr>
          <p:cNvSpPr txBox="1"/>
          <p:nvPr/>
        </p:nvSpPr>
        <p:spPr>
          <a:xfrm>
            <a:off x="8369954" y="3215135"/>
            <a:ext cx="6441440" cy="1077218"/>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Social Impact:</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 Empowers rural entrepreneurs </a:t>
            </a:r>
          </a:p>
          <a:p>
            <a:r>
              <a:rPr lang="en-US" sz="1600" dirty="0">
                <a:latin typeface="Times New Roman" panose="02020603050405020304" pitchFamily="18" charset="0"/>
                <a:cs typeface="Times New Roman" panose="02020603050405020304" pitchFamily="18" charset="0"/>
              </a:rPr>
              <a:t>✓ Supports women-led home businesses </a:t>
            </a:r>
          </a:p>
          <a:p>
            <a:r>
              <a:rPr lang="en-US" sz="1600" dirty="0">
                <a:latin typeface="Times New Roman" panose="02020603050405020304" pitchFamily="18" charset="0"/>
                <a:cs typeface="Times New Roman" panose="02020603050405020304" pitchFamily="18" charset="0"/>
              </a:rPr>
              <a:t>✓ Promotes financial inclusion</a:t>
            </a:r>
            <a:endParaRPr lang="en-IN" sz="16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B64B4A3-B6F8-7AE8-4BC9-410E3164C9E2}"/>
              </a:ext>
            </a:extLst>
          </p:cNvPr>
          <p:cNvSpPr txBox="1"/>
          <p:nvPr/>
        </p:nvSpPr>
        <p:spPr>
          <a:xfrm>
            <a:off x="4033586" y="4719236"/>
            <a:ext cx="5108776" cy="1077218"/>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 </a:t>
            </a:r>
            <a:r>
              <a:rPr lang="en-IN" sz="1600" b="1" dirty="0">
                <a:latin typeface="Times New Roman" panose="02020603050405020304" pitchFamily="18" charset="0"/>
                <a:cs typeface="Times New Roman" panose="02020603050405020304" pitchFamily="18" charset="0"/>
              </a:rPr>
              <a:t>Time Savings:</a:t>
            </a:r>
          </a:p>
          <a:p>
            <a:r>
              <a:rPr lang="en-IN" sz="1600" dirty="0">
                <a:latin typeface="Times New Roman" panose="02020603050405020304" pitchFamily="18" charset="0"/>
                <a:cs typeface="Times New Roman" panose="02020603050405020304" pitchFamily="18" charset="0"/>
              </a:rPr>
              <a:t>• 10-15 hours/week saved on manual bookkeeping </a:t>
            </a:r>
          </a:p>
          <a:p>
            <a:r>
              <a:rPr lang="en-IN" sz="1600" dirty="0">
                <a:latin typeface="Times New Roman" panose="02020603050405020304" pitchFamily="18" charset="0"/>
                <a:cs typeface="Times New Roman" panose="02020603050405020304" pitchFamily="18" charset="0"/>
              </a:rPr>
              <a:t>• 80% faster invoice generation </a:t>
            </a:r>
          </a:p>
          <a:p>
            <a:r>
              <a:rPr lang="en-IN" sz="1600" dirty="0">
                <a:latin typeface="Times New Roman" panose="02020603050405020304" pitchFamily="18" charset="0"/>
                <a:cs typeface="Times New Roman" panose="02020603050405020304" pitchFamily="18" charset="0"/>
              </a:rPr>
              <a:t>• Instant payment collection</a:t>
            </a:r>
          </a:p>
        </p:txBody>
      </p:sp>
      <p:sp>
        <p:nvSpPr>
          <p:cNvPr id="5" name="Google Shape;178;p8">
            <a:extLst>
              <a:ext uri="{FF2B5EF4-FFF2-40B4-BE49-F238E27FC236}">
                <a16:creationId xmlns:a16="http://schemas.microsoft.com/office/drawing/2014/main" id="{BB4C3BEA-D168-888A-6A35-DB0A837182A4}"/>
              </a:ext>
            </a:extLst>
          </p:cNvPr>
          <p:cNvSpPr/>
          <p:nvPr/>
        </p:nvSpPr>
        <p:spPr>
          <a:xfrm>
            <a:off x="704682" y="127578"/>
            <a:ext cx="3883502"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Arial Narrow"/>
                <a:ea typeface="Arial Narrow"/>
                <a:cs typeface="Arial Narrow"/>
                <a:sym typeface="Arial Narrow"/>
              </a:rPr>
              <a:t>Impacts</a:t>
            </a:r>
            <a:endParaRPr sz="2800" b="1">
              <a:solidFill>
                <a:schemeClr val="lt1"/>
              </a:solidFill>
              <a:latin typeface="Arial Narrow"/>
              <a:ea typeface="Arial Narrow"/>
              <a:cs typeface="Arial Narrow"/>
              <a:sym typeface="Arial Narrow"/>
            </a:endParaRPr>
          </a:p>
        </p:txBody>
      </p:sp>
      <p:sp>
        <p:nvSpPr>
          <p:cNvPr id="17" name="Google Shape;164;p7">
            <a:extLst>
              <a:ext uri="{FF2B5EF4-FFF2-40B4-BE49-F238E27FC236}">
                <a16:creationId xmlns:a16="http://schemas.microsoft.com/office/drawing/2014/main" id="{2BDA5FDB-97FD-140B-EA49-7ED04CBA4D68}"/>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42911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88ACA-C35C-94E9-D864-729B0021B918}"/>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E76865F6-9C35-3C32-20B7-1107A95B0E99}"/>
              </a:ext>
            </a:extLst>
          </p:cNvPr>
          <p:cNvSpPr txBox="1"/>
          <p:nvPr/>
        </p:nvSpPr>
        <p:spPr>
          <a:xfrm>
            <a:off x="907458" y="1248413"/>
            <a:ext cx="3835539" cy="460767"/>
          </a:xfrm>
          <a:prstGeom prst="rect">
            <a:avLst/>
          </a:prstGeom>
        </p:spPr>
        <p:txBody>
          <a:bodyPr wrap="square" lIns="0" tIns="0" rIns="0" bIns="0" rtlCol="0" anchor="t">
            <a:spAutoFit/>
          </a:bodyPr>
          <a:lstStyle/>
          <a:p>
            <a:pPr>
              <a:lnSpc>
                <a:spcPts val="3960"/>
              </a:lnSpc>
            </a:pPr>
            <a:r>
              <a:rPr lang="en-US" sz="2400" b="1" dirty="0">
                <a:solidFill>
                  <a:srgbClr val="28568A"/>
                </a:solidFill>
                <a:latin typeface="Cambria" panose="02040503050406030204" pitchFamily="18" charset="0"/>
                <a:ea typeface="Cambria" panose="02040503050406030204" pitchFamily="18" charset="0"/>
                <a:cs typeface="Montserrat Bold"/>
                <a:sym typeface="Montserrat Bold"/>
              </a:rPr>
              <a:t>Future Scope</a:t>
            </a:r>
          </a:p>
        </p:txBody>
      </p:sp>
      <p:sp>
        <p:nvSpPr>
          <p:cNvPr id="8" name="TextBox 7">
            <a:extLst>
              <a:ext uri="{FF2B5EF4-FFF2-40B4-BE49-F238E27FC236}">
                <a16:creationId xmlns:a16="http://schemas.microsoft.com/office/drawing/2014/main" id="{0148238B-F89B-8744-298D-1AFFED38E90A}"/>
              </a:ext>
            </a:extLst>
          </p:cNvPr>
          <p:cNvSpPr txBox="1"/>
          <p:nvPr/>
        </p:nvSpPr>
        <p:spPr>
          <a:xfrm>
            <a:off x="789471" y="1916268"/>
            <a:ext cx="6441440" cy="3693319"/>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Multi-Language Support</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 Hindi, Tamil, Telugu, Bengali, Marathi </a:t>
            </a:r>
          </a:p>
          <a:p>
            <a:r>
              <a:rPr lang="en-IN" sz="1800" dirty="0">
                <a:latin typeface="Times New Roman" panose="02020603050405020304" pitchFamily="18" charset="0"/>
                <a:cs typeface="Times New Roman" panose="02020603050405020304" pitchFamily="18" charset="0"/>
              </a:rPr>
              <a:t>• Voice-based data entry</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WhatsApp Integration</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 Automated order confirmations </a:t>
            </a:r>
          </a:p>
          <a:p>
            <a:r>
              <a:rPr lang="en-IN" sz="1800" dirty="0">
                <a:latin typeface="Times New Roman" panose="02020603050405020304" pitchFamily="18" charset="0"/>
                <a:cs typeface="Times New Roman" panose="02020603050405020304" pitchFamily="18" charset="0"/>
              </a:rPr>
              <a:t>• Invoice sharing via WhatsApp </a:t>
            </a:r>
          </a:p>
          <a:p>
            <a:r>
              <a:rPr lang="en-IN" sz="1800" dirty="0">
                <a:latin typeface="Times New Roman" panose="02020603050405020304" pitchFamily="18" charset="0"/>
                <a:cs typeface="Times New Roman" panose="02020603050405020304" pitchFamily="18" charset="0"/>
              </a:rPr>
              <a:t>• Payment links</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AI-Powered Features</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 Demand prediction </a:t>
            </a:r>
          </a:p>
          <a:p>
            <a:r>
              <a:rPr lang="en-IN" sz="1800" dirty="0">
                <a:latin typeface="Times New Roman" panose="02020603050405020304" pitchFamily="18" charset="0"/>
                <a:cs typeface="Times New Roman" panose="02020603050405020304" pitchFamily="18" charset="0"/>
              </a:rPr>
              <a:t>• Smart inventory recommendations </a:t>
            </a:r>
          </a:p>
          <a:p>
            <a:r>
              <a:rPr lang="en-IN" sz="1800" dirty="0">
                <a:latin typeface="Times New Roman" panose="02020603050405020304" pitchFamily="18" charset="0"/>
                <a:cs typeface="Times New Roman" panose="02020603050405020304" pitchFamily="18" charset="0"/>
              </a:rPr>
              <a:t>• Customer </a:t>
            </a:r>
            <a:r>
              <a:rPr lang="en-IN" sz="1800" dirty="0" err="1">
                <a:latin typeface="Times New Roman" panose="02020603050405020304" pitchFamily="18" charset="0"/>
                <a:cs typeface="Times New Roman" panose="02020603050405020304" pitchFamily="18" charset="0"/>
              </a:rPr>
              <a:t>behavior</a:t>
            </a:r>
            <a:r>
              <a:rPr lang="en-IN" sz="1800" dirty="0">
                <a:latin typeface="Times New Roman" panose="02020603050405020304" pitchFamily="18" charset="0"/>
                <a:cs typeface="Times New Roman" panose="02020603050405020304" pitchFamily="18" charset="0"/>
              </a:rPr>
              <a:t> analytics</a:t>
            </a:r>
          </a:p>
        </p:txBody>
      </p:sp>
      <p:sp>
        <p:nvSpPr>
          <p:cNvPr id="6" name="Google Shape;178;p8">
            <a:extLst>
              <a:ext uri="{FF2B5EF4-FFF2-40B4-BE49-F238E27FC236}">
                <a16:creationId xmlns:a16="http://schemas.microsoft.com/office/drawing/2014/main" id="{D95C1BBF-9329-01EF-852F-007174D095E5}"/>
              </a:ext>
            </a:extLst>
          </p:cNvPr>
          <p:cNvSpPr/>
          <p:nvPr/>
        </p:nvSpPr>
        <p:spPr>
          <a:xfrm>
            <a:off x="704682" y="127578"/>
            <a:ext cx="3883502"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Arial Narrow"/>
                <a:ea typeface="Arial Narrow"/>
                <a:cs typeface="Arial Narrow"/>
                <a:sym typeface="Arial Narrow"/>
              </a:rPr>
              <a:t>Impacts</a:t>
            </a:r>
            <a:endParaRPr sz="2800" b="1">
              <a:solidFill>
                <a:schemeClr val="lt1"/>
              </a:solidFill>
              <a:latin typeface="Arial Narrow"/>
              <a:ea typeface="Arial Narrow"/>
              <a:cs typeface="Arial Narrow"/>
              <a:sym typeface="Arial Narrow"/>
            </a:endParaRPr>
          </a:p>
        </p:txBody>
      </p:sp>
      <p:sp>
        <p:nvSpPr>
          <p:cNvPr id="14" name="Google Shape;177;p8">
            <a:extLst>
              <a:ext uri="{FF2B5EF4-FFF2-40B4-BE49-F238E27FC236}">
                <a16:creationId xmlns:a16="http://schemas.microsoft.com/office/drawing/2014/main" id="{28B60A0B-2254-4716-CDBD-D96B8F794966}"/>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6" name="Picture 15">
            <a:extLst>
              <a:ext uri="{FF2B5EF4-FFF2-40B4-BE49-F238E27FC236}">
                <a16:creationId xmlns:a16="http://schemas.microsoft.com/office/drawing/2014/main" id="{6E4208AB-5E14-47B5-B726-6C9734204EFA}"/>
              </a:ext>
            </a:extLst>
          </p:cNvPr>
          <p:cNvPicPr>
            <a:picLocks noChangeAspect="1"/>
          </p:cNvPicPr>
          <p:nvPr/>
        </p:nvPicPr>
        <p:blipFill>
          <a:blip r:embed="rId2"/>
          <a:stretch>
            <a:fillRect/>
          </a:stretch>
        </p:blipFill>
        <p:spPr>
          <a:xfrm>
            <a:off x="5370434" y="1662368"/>
            <a:ext cx="5299896" cy="3533264"/>
          </a:xfrm>
          <a:prstGeom prst="rect">
            <a:avLst/>
          </a:prstGeom>
        </p:spPr>
      </p:pic>
    </p:spTree>
    <p:extLst>
      <p:ext uri="{BB962C8B-B14F-4D97-AF65-F5344CB8AC3E}">
        <p14:creationId xmlns:p14="http://schemas.microsoft.com/office/powerpoint/2010/main" val="3352893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27873-B1A2-F16D-BFF3-C5EE4CEF1B9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CE73325-47A7-5827-0DE7-B0192E3A27C5}"/>
              </a:ext>
            </a:extLst>
          </p:cNvPr>
          <p:cNvSpPr txBox="1"/>
          <p:nvPr/>
        </p:nvSpPr>
        <p:spPr>
          <a:xfrm>
            <a:off x="6817360" y="1799835"/>
            <a:ext cx="6441440" cy="3970318"/>
          </a:xfrm>
          <a:prstGeom prst="rect">
            <a:avLst/>
          </a:prstGeom>
          <a:noFill/>
        </p:spPr>
        <p:txBody>
          <a:bodyPr wrap="square">
            <a:spAutoFit/>
          </a:bodyPr>
          <a:lstStyle/>
          <a:p>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GST Filing Integration</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 Direct GST return filing </a:t>
            </a:r>
          </a:p>
          <a:p>
            <a:r>
              <a:rPr lang="en-IN" sz="1800" dirty="0">
                <a:latin typeface="Times New Roman" panose="02020603050405020304" pitchFamily="18" charset="0"/>
                <a:cs typeface="Times New Roman" panose="02020603050405020304" pitchFamily="18" charset="0"/>
              </a:rPr>
              <a:t>• Automated tax reports </a:t>
            </a:r>
          </a:p>
          <a:p>
            <a:r>
              <a:rPr lang="en-IN" sz="1800" dirty="0">
                <a:latin typeface="Times New Roman" panose="02020603050405020304" pitchFamily="18" charset="0"/>
                <a:cs typeface="Times New Roman" panose="02020603050405020304" pitchFamily="18" charset="0"/>
              </a:rPr>
              <a:t>• CA/Accountant portal</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Multi-Store Support</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 Manage multiple locations </a:t>
            </a:r>
          </a:p>
          <a:p>
            <a:r>
              <a:rPr lang="en-IN" sz="1800" dirty="0">
                <a:latin typeface="Times New Roman" panose="02020603050405020304" pitchFamily="18" charset="0"/>
                <a:cs typeface="Times New Roman" panose="02020603050405020304" pitchFamily="18" charset="0"/>
              </a:rPr>
              <a:t>• Centralized inventory </a:t>
            </a:r>
          </a:p>
          <a:p>
            <a:r>
              <a:rPr lang="en-IN" sz="1800" dirty="0">
                <a:latin typeface="Times New Roman" panose="02020603050405020304" pitchFamily="18" charset="0"/>
                <a:cs typeface="Times New Roman" panose="02020603050405020304" pitchFamily="18" charset="0"/>
              </a:rPr>
              <a:t>• Staff access controls</a:t>
            </a:r>
          </a:p>
          <a:p>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 </a:t>
            </a:r>
            <a:r>
              <a:rPr lang="en-IN" sz="1800" b="1" dirty="0">
                <a:latin typeface="Times New Roman" panose="02020603050405020304" pitchFamily="18" charset="0"/>
                <a:cs typeface="Times New Roman" panose="02020603050405020304" pitchFamily="18" charset="0"/>
              </a:rPr>
              <a:t>Credit &amp; Lending</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 Integration with NBFCs </a:t>
            </a:r>
          </a:p>
          <a:p>
            <a:r>
              <a:rPr lang="en-IN" sz="1800" dirty="0">
                <a:latin typeface="Times New Roman" panose="02020603050405020304" pitchFamily="18" charset="0"/>
                <a:cs typeface="Times New Roman" panose="02020603050405020304" pitchFamily="18" charset="0"/>
              </a:rPr>
              <a:t>• Business loan eligibility based on data </a:t>
            </a:r>
          </a:p>
          <a:p>
            <a:r>
              <a:rPr lang="en-IN" sz="1800" dirty="0">
                <a:latin typeface="Times New Roman" panose="02020603050405020304" pitchFamily="18" charset="0"/>
                <a:cs typeface="Times New Roman" panose="02020603050405020304" pitchFamily="18" charset="0"/>
              </a:rPr>
              <a:t>• Working capital solutions</a:t>
            </a:r>
          </a:p>
        </p:txBody>
      </p:sp>
      <p:sp>
        <p:nvSpPr>
          <p:cNvPr id="2" name="Google Shape;178;p8">
            <a:extLst>
              <a:ext uri="{FF2B5EF4-FFF2-40B4-BE49-F238E27FC236}">
                <a16:creationId xmlns:a16="http://schemas.microsoft.com/office/drawing/2014/main" id="{F9BD5479-99B4-4C6E-A671-9BA1976BE6D2}"/>
              </a:ext>
            </a:extLst>
          </p:cNvPr>
          <p:cNvSpPr/>
          <p:nvPr/>
        </p:nvSpPr>
        <p:spPr>
          <a:xfrm>
            <a:off x="704682" y="127578"/>
            <a:ext cx="3883502"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Arial Narrow"/>
                <a:ea typeface="Arial Narrow"/>
                <a:cs typeface="Arial Narrow"/>
                <a:sym typeface="Arial Narrow"/>
              </a:rPr>
              <a:t>Impacts</a:t>
            </a:r>
            <a:endParaRPr sz="2800" b="1">
              <a:solidFill>
                <a:schemeClr val="lt1"/>
              </a:solidFill>
              <a:latin typeface="Arial Narrow"/>
              <a:ea typeface="Arial Narrow"/>
              <a:cs typeface="Arial Narrow"/>
              <a:sym typeface="Arial Narrow"/>
            </a:endParaRPr>
          </a:p>
        </p:txBody>
      </p:sp>
      <p:sp>
        <p:nvSpPr>
          <p:cNvPr id="12" name="Google Shape;177;p8">
            <a:extLst>
              <a:ext uri="{FF2B5EF4-FFF2-40B4-BE49-F238E27FC236}">
                <a16:creationId xmlns:a16="http://schemas.microsoft.com/office/drawing/2014/main" id="{A1C2F41E-DB27-17AC-AED7-082456ED048A}"/>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14" name="Picture 13">
            <a:extLst>
              <a:ext uri="{FF2B5EF4-FFF2-40B4-BE49-F238E27FC236}">
                <a16:creationId xmlns:a16="http://schemas.microsoft.com/office/drawing/2014/main" id="{9464A27D-EB34-6BD8-C7DF-0A407CDC9E5B}"/>
              </a:ext>
            </a:extLst>
          </p:cNvPr>
          <p:cNvPicPr>
            <a:picLocks noChangeAspect="1"/>
          </p:cNvPicPr>
          <p:nvPr/>
        </p:nvPicPr>
        <p:blipFill>
          <a:blip r:embed="rId2"/>
          <a:srcRect l="12161" t="-1688" r="11262" b="1"/>
          <a:stretch>
            <a:fillRect/>
          </a:stretch>
        </p:blipFill>
        <p:spPr>
          <a:xfrm>
            <a:off x="728010" y="1707218"/>
            <a:ext cx="5367990" cy="3875590"/>
          </a:xfrm>
          <a:prstGeom prst="rect">
            <a:avLst/>
          </a:prstGeom>
        </p:spPr>
      </p:pic>
    </p:spTree>
    <p:extLst>
      <p:ext uri="{BB962C8B-B14F-4D97-AF65-F5344CB8AC3E}">
        <p14:creationId xmlns:p14="http://schemas.microsoft.com/office/powerpoint/2010/main" val="795979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8161" y="1519714"/>
            <a:ext cx="3621087" cy="452303"/>
          </a:xfrm>
          <a:prstGeom prst="rect">
            <a:avLst/>
          </a:prstGeom>
        </p:spPr>
        <p:txBody>
          <a:bodyPr lIns="0" tIns="0" rIns="0" bIns="0" rtlCol="0" anchor="t">
            <a:spAutoFit/>
          </a:bodyPr>
          <a:lstStyle/>
          <a:p>
            <a:pPr>
              <a:lnSpc>
                <a:spcPts val="3960"/>
              </a:lnSpc>
            </a:pPr>
            <a:r>
              <a:rPr lang="en-US" sz="2133" b="1" dirty="0">
                <a:solidFill>
                  <a:srgbClr val="28568A"/>
                </a:solidFill>
                <a:latin typeface="Cambria" panose="02040503050406030204" pitchFamily="18" charset="0"/>
                <a:ea typeface="Cambria" panose="02040503050406030204" pitchFamily="18" charset="0"/>
                <a:cs typeface="Montserrat Bold"/>
                <a:sym typeface="Montserrat Bold"/>
              </a:rPr>
              <a:t>Conclusion</a:t>
            </a:r>
          </a:p>
        </p:txBody>
      </p:sp>
      <p:pic>
        <p:nvPicPr>
          <p:cNvPr id="19" name="Picture 18">
            <a:extLst>
              <a:ext uri="{FF2B5EF4-FFF2-40B4-BE49-F238E27FC236}">
                <a16:creationId xmlns:a16="http://schemas.microsoft.com/office/drawing/2014/main" id="{A51C2731-F7BA-156A-C8D5-27AC6F36C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133" y="1638581"/>
            <a:ext cx="5182781" cy="3107975"/>
          </a:xfrm>
          <a:prstGeom prst="rect">
            <a:avLst/>
          </a:prstGeom>
        </p:spPr>
      </p:pic>
      <p:sp>
        <p:nvSpPr>
          <p:cNvPr id="21" name="TextBox 20">
            <a:extLst>
              <a:ext uri="{FF2B5EF4-FFF2-40B4-BE49-F238E27FC236}">
                <a16:creationId xmlns:a16="http://schemas.microsoft.com/office/drawing/2014/main" id="{A66CBC86-C3FF-B4CC-EC45-4C462D8C1FEE}"/>
              </a:ext>
            </a:extLst>
          </p:cNvPr>
          <p:cNvSpPr txBox="1"/>
          <p:nvPr/>
        </p:nvSpPr>
        <p:spPr>
          <a:xfrm>
            <a:off x="518160" y="2108200"/>
            <a:ext cx="6441440" cy="1569660"/>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Live Demo Highlights:</a:t>
            </a:r>
            <a:endParaRPr lang="en-US" sz="1600" dirty="0">
              <a:latin typeface="Times New Roman" panose="02020603050405020304" pitchFamily="18" charset="0"/>
              <a:cs typeface="Times New Roman" panose="02020603050405020304" pitchFamily="18" charset="0"/>
            </a:endParaRPr>
          </a:p>
          <a:p>
            <a:pPr marL="304815" indent="-304815">
              <a:buFont typeface="+mj-lt"/>
              <a:buAutoNum type="arabicPeriod"/>
            </a:pPr>
            <a:r>
              <a:rPr lang="en-US" sz="1600" b="1" dirty="0">
                <a:latin typeface="Times New Roman" panose="02020603050405020304" pitchFamily="18" charset="0"/>
                <a:cs typeface="Times New Roman" panose="02020603050405020304" pitchFamily="18" charset="0"/>
              </a:rPr>
              <a:t>Create Order</a:t>
            </a:r>
            <a:r>
              <a:rPr lang="en-US" sz="1600" dirty="0">
                <a:latin typeface="Times New Roman" panose="02020603050405020304" pitchFamily="18" charset="0"/>
                <a:cs typeface="Times New Roman" panose="02020603050405020304" pitchFamily="18" charset="0"/>
              </a:rPr>
              <a:t> - 30 seconds</a:t>
            </a:r>
          </a:p>
          <a:p>
            <a:pPr marL="304815" indent="-304815">
              <a:buFont typeface="+mj-lt"/>
              <a:buAutoNum type="arabicPeriod"/>
            </a:pPr>
            <a:r>
              <a:rPr lang="en-US" sz="1600" b="1" dirty="0">
                <a:latin typeface="Times New Roman" panose="02020603050405020304" pitchFamily="18" charset="0"/>
                <a:cs typeface="Times New Roman" panose="02020603050405020304" pitchFamily="18" charset="0"/>
              </a:rPr>
              <a:t>Auto Inventory Update</a:t>
            </a:r>
            <a:r>
              <a:rPr lang="en-US" sz="1600" dirty="0">
                <a:latin typeface="Times New Roman" panose="02020603050405020304" pitchFamily="18" charset="0"/>
                <a:cs typeface="Times New Roman" panose="02020603050405020304" pitchFamily="18" charset="0"/>
              </a:rPr>
              <a:t> - Instant</a:t>
            </a:r>
          </a:p>
          <a:p>
            <a:pPr marL="304815" indent="-304815">
              <a:buFont typeface="+mj-lt"/>
              <a:buAutoNum type="arabicPeriod"/>
            </a:pPr>
            <a:r>
              <a:rPr lang="en-US" sz="1600" b="1" dirty="0">
                <a:latin typeface="Times New Roman" panose="02020603050405020304" pitchFamily="18" charset="0"/>
                <a:cs typeface="Times New Roman" panose="02020603050405020304" pitchFamily="18" charset="0"/>
              </a:rPr>
              <a:t>Generate GST Invoice</a:t>
            </a:r>
            <a:r>
              <a:rPr lang="en-US" sz="1600" dirty="0">
                <a:latin typeface="Times New Roman" panose="02020603050405020304" pitchFamily="18" charset="0"/>
                <a:cs typeface="Times New Roman" panose="02020603050405020304" pitchFamily="18" charset="0"/>
              </a:rPr>
              <a:t> - 1 click</a:t>
            </a:r>
          </a:p>
          <a:p>
            <a:pPr marL="304815" indent="-304815">
              <a:buFont typeface="+mj-lt"/>
              <a:buAutoNum type="arabicPeriod"/>
            </a:pPr>
            <a:r>
              <a:rPr lang="en-US" sz="1600" b="1" dirty="0">
                <a:latin typeface="Times New Roman" panose="02020603050405020304" pitchFamily="18" charset="0"/>
                <a:cs typeface="Times New Roman" panose="02020603050405020304" pitchFamily="18" charset="0"/>
              </a:rPr>
              <a:t>Show QR Payment</a:t>
            </a:r>
            <a:r>
              <a:rPr lang="en-US" sz="1600" dirty="0">
                <a:latin typeface="Times New Roman" panose="02020603050405020304" pitchFamily="18" charset="0"/>
                <a:cs typeface="Times New Roman" panose="02020603050405020304" pitchFamily="18" charset="0"/>
              </a:rPr>
              <a:t> - Customer scans</a:t>
            </a:r>
          </a:p>
          <a:p>
            <a:pPr marL="304815" indent="-304815">
              <a:buFont typeface="+mj-lt"/>
              <a:buAutoNum type="arabicPeriod"/>
            </a:pPr>
            <a:r>
              <a:rPr lang="en-US" sz="1600" b="1" dirty="0">
                <a:latin typeface="Times New Roman" panose="02020603050405020304" pitchFamily="18" charset="0"/>
                <a:cs typeface="Times New Roman" panose="02020603050405020304" pitchFamily="18" charset="0"/>
              </a:rPr>
              <a:t>View Analytics</a:t>
            </a:r>
            <a:r>
              <a:rPr lang="en-US" sz="1600" dirty="0">
                <a:latin typeface="Times New Roman" panose="02020603050405020304" pitchFamily="18" charset="0"/>
                <a:cs typeface="Times New Roman" panose="02020603050405020304" pitchFamily="18" charset="0"/>
              </a:rPr>
              <a:t> - Real-time dashboard</a:t>
            </a:r>
          </a:p>
        </p:txBody>
      </p:sp>
      <p:sp>
        <p:nvSpPr>
          <p:cNvPr id="23" name="TextBox 22">
            <a:extLst>
              <a:ext uri="{FF2B5EF4-FFF2-40B4-BE49-F238E27FC236}">
                <a16:creationId xmlns:a16="http://schemas.microsoft.com/office/drawing/2014/main" id="{EEF5F8CD-4FF5-7AD0-FB63-D545697900FC}"/>
              </a:ext>
            </a:extLst>
          </p:cNvPr>
          <p:cNvSpPr txBox="1"/>
          <p:nvPr/>
        </p:nvSpPr>
        <p:spPr>
          <a:xfrm>
            <a:off x="518160" y="3819887"/>
            <a:ext cx="6441440" cy="1569660"/>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Key Takeaways:</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Solves real pain points for 63M MSMEs </a:t>
            </a:r>
          </a:p>
          <a:p>
            <a:r>
              <a:rPr lang="en-IN" sz="1600" dirty="0">
                <a:latin typeface="Times New Roman" panose="02020603050405020304" pitchFamily="18" charset="0"/>
                <a:cs typeface="Times New Roman" panose="02020603050405020304" pitchFamily="18" charset="0"/>
              </a:rPr>
              <a:t>✅ Simple, affordable, mobile-first solution </a:t>
            </a:r>
          </a:p>
          <a:p>
            <a:r>
              <a:rPr lang="en-IN" sz="1600" dirty="0">
                <a:latin typeface="Times New Roman" panose="02020603050405020304" pitchFamily="18" charset="0"/>
                <a:cs typeface="Times New Roman" panose="02020603050405020304" pitchFamily="18" charset="0"/>
              </a:rPr>
              <a:t>✅ Complete digitization in one platform </a:t>
            </a:r>
          </a:p>
          <a:p>
            <a:r>
              <a:rPr lang="en-IN" sz="1600" dirty="0">
                <a:latin typeface="Times New Roman" panose="02020603050405020304" pitchFamily="18" charset="0"/>
                <a:cs typeface="Times New Roman" panose="02020603050405020304" pitchFamily="18" charset="0"/>
              </a:rPr>
              <a:t>✅ GST-compliant &amp; payment-ready</a:t>
            </a:r>
          </a:p>
          <a:p>
            <a:r>
              <a:rPr lang="en-IN" sz="1600" dirty="0">
                <a:latin typeface="Times New Roman" panose="02020603050405020304" pitchFamily="18" charset="0"/>
                <a:cs typeface="Times New Roman" panose="02020603050405020304" pitchFamily="18" charset="0"/>
              </a:rPr>
              <a:t>✅ Scalable technology architecture</a:t>
            </a:r>
          </a:p>
        </p:txBody>
      </p:sp>
      <p:sp>
        <p:nvSpPr>
          <p:cNvPr id="25" name="TextBox 24">
            <a:extLst>
              <a:ext uri="{FF2B5EF4-FFF2-40B4-BE49-F238E27FC236}">
                <a16:creationId xmlns:a16="http://schemas.microsoft.com/office/drawing/2014/main" id="{6178EA7A-818C-6A7D-1899-538FFEE32347}"/>
              </a:ext>
            </a:extLst>
          </p:cNvPr>
          <p:cNvSpPr txBox="1"/>
          <p:nvPr/>
        </p:nvSpPr>
        <p:spPr>
          <a:xfrm>
            <a:off x="5496803" y="4561039"/>
            <a:ext cx="6441440" cy="584775"/>
          </a:xfrm>
          <a:prstGeom prst="rect">
            <a:avLst/>
          </a:prstGeom>
          <a:noFill/>
        </p:spPr>
        <p:txBody>
          <a:bodyPr wrap="square">
            <a:spAutoFit/>
          </a:bodyPr>
          <a:lstStyle/>
          <a:p>
            <a:r>
              <a:rPr lang="en-US" sz="1600" b="1">
                <a:latin typeface="Times New Roman" panose="02020603050405020304" pitchFamily="18" charset="0"/>
                <a:cs typeface="Times New Roman" panose="02020603050405020304" pitchFamily="18" charset="0"/>
              </a:rPr>
              <a:t>Our Vision:</a:t>
            </a:r>
            <a:r>
              <a:rPr lang="en-US" sz="1600">
                <a:latin typeface="Times New Roman" panose="02020603050405020304" pitchFamily="18" charset="0"/>
                <a:cs typeface="Times New Roman" panose="02020603050405020304" pitchFamily="18" charset="0"/>
              </a:rPr>
              <a:t> "Empowering every small business in India with enterprise-grade tools at zero complexity"</a:t>
            </a:r>
            <a:endParaRPr lang="en-IN" sz="1600" dirty="0">
              <a:latin typeface="Times New Roman" panose="02020603050405020304" pitchFamily="18" charset="0"/>
              <a:cs typeface="Times New Roman" panose="02020603050405020304" pitchFamily="18" charset="0"/>
            </a:endParaRPr>
          </a:p>
        </p:txBody>
      </p:sp>
      <p:sp>
        <p:nvSpPr>
          <p:cNvPr id="5" name="Google Shape;191;p9">
            <a:extLst>
              <a:ext uri="{FF2B5EF4-FFF2-40B4-BE49-F238E27FC236}">
                <a16:creationId xmlns:a16="http://schemas.microsoft.com/office/drawing/2014/main" id="{0FFD46F8-F893-7CA3-9AC9-E7E239B2F934}"/>
              </a:ext>
            </a:extLst>
          </p:cNvPr>
          <p:cNvSpPr/>
          <p:nvPr/>
        </p:nvSpPr>
        <p:spPr>
          <a:xfrm>
            <a:off x="704682" y="127578"/>
            <a:ext cx="3883502" cy="501650"/>
          </a:xfrm>
          <a:prstGeom prst="rect">
            <a:avLst/>
          </a:prstGeom>
          <a:solidFill>
            <a:srgbClr val="0070C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a:solidFill>
                  <a:schemeClr val="lt1"/>
                </a:solidFill>
                <a:latin typeface="Arial Narrow"/>
                <a:ea typeface="Arial Narrow"/>
                <a:cs typeface="Arial Narrow"/>
                <a:sym typeface="Arial Narrow"/>
              </a:rPr>
              <a:t>Conclusion</a:t>
            </a:r>
            <a:endParaRPr/>
          </a:p>
        </p:txBody>
      </p:sp>
      <p:sp>
        <p:nvSpPr>
          <p:cNvPr id="11" name="Google Shape;177;p8">
            <a:extLst>
              <a:ext uri="{FF2B5EF4-FFF2-40B4-BE49-F238E27FC236}">
                <a16:creationId xmlns:a16="http://schemas.microsoft.com/office/drawing/2014/main" id="{12CD93D8-9C25-8B65-EB4A-7C0B9DB74FA7}"/>
              </a:ext>
            </a:extLst>
          </p:cNvPr>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0"/>
          <p:cNvSpPr/>
          <p:nvPr/>
        </p:nvSpPr>
        <p:spPr>
          <a:xfrm>
            <a:off x="434975" y="420688"/>
            <a:ext cx="1106488" cy="59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10"/>
          <p:cNvSpPr/>
          <p:nvPr/>
        </p:nvSpPr>
        <p:spPr>
          <a:xfrm>
            <a:off x="0" y="0"/>
            <a:ext cx="12192000" cy="6840538"/>
          </a:xfrm>
          <a:prstGeom prst="frame">
            <a:avLst>
              <a:gd name="adj1" fmla="val 2082"/>
            </a:avLst>
          </a:prstGeom>
          <a:solidFill>
            <a:srgbClr val="002060"/>
          </a:solidFill>
          <a:ln w="127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04" name="Google Shape;204;p10"/>
          <p:cNvPicPr preferRelativeResize="0"/>
          <p:nvPr/>
        </p:nvPicPr>
        <p:blipFill rotWithShape="1">
          <a:blip r:embed="rId3">
            <a:alphaModFix/>
          </a:blip>
          <a:srcRect/>
          <a:stretch/>
        </p:blipFill>
        <p:spPr>
          <a:xfrm>
            <a:off x="4134440" y="1678733"/>
            <a:ext cx="3487738" cy="29686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852</TotalTime>
  <Words>1664</Words>
  <Application>Microsoft Office PowerPoint</Application>
  <PresentationFormat>Widescreen</PresentationFormat>
  <Paragraphs>274</Paragraphs>
  <Slides>16</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Roboto</vt:lpstr>
      <vt:lpstr>Arial Narrow</vt:lpstr>
      <vt:lpstr>Times New Roman</vt:lpstr>
      <vt:lpstr>Wingdings</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Rajasekar Madhavan</dc:creator>
  <cp:lastModifiedBy>Nupz 29</cp:lastModifiedBy>
  <cp:revision>5</cp:revision>
  <dcterms:created xsi:type="dcterms:W3CDTF">2023-05-21T14:09:03Z</dcterms:created>
  <dcterms:modified xsi:type="dcterms:W3CDTF">2026-04-25T05:58:17Z</dcterms:modified>
</cp:coreProperties>
</file>