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7" r:id="rId6"/>
    <p:sldId id="263" r:id="rId7"/>
    <p:sldId id="271" r:id="rId8"/>
    <p:sldId id="270" r:id="rId9"/>
    <p:sldId id="269" r:id="rId10"/>
    <p:sldId id="259" r:id="rId11"/>
    <p:sldId id="264" r:id="rId12"/>
  </p:sldIdLst>
  <p:sldSz cx="18288000" cy="10287000"/>
  <p:notesSz cx="6858000" cy="9144000"/>
  <p:embeddedFontLst>
    <p:embeddedFont>
      <p:font typeface="Montserrat Bold" panose="020B0604020202020204" charset="0"/>
      <p:regular r:id="rId13"/>
    </p:embeddedFont>
    <p:embeddedFont>
      <p:font typeface="Open Sans Bold" panose="020B0604020202020204" charset="0"/>
      <p:regular r:id="rId14"/>
    </p:embeddedFont>
    <p:embeddedFont>
      <p:font typeface="Roboto" panose="02000000000000000000" pitchFamily="2"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6811E5-4B58-477A-8D18-587B5DD326CB}" v="63" dt="2026-02-22T09:30:0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242" autoAdjust="0"/>
  </p:normalViewPr>
  <p:slideViewPr>
    <p:cSldViewPr>
      <p:cViewPr varScale="1">
        <p:scale>
          <a:sx n="50" d="100"/>
          <a:sy n="50" d="100"/>
        </p:scale>
        <p:origin x="946" y="-1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9F2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1895947" y="6126972"/>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028700" y="527133"/>
            <a:ext cx="16320998" cy="1830249"/>
          </a:xfrm>
          <a:custGeom>
            <a:avLst/>
            <a:gdLst/>
            <a:ahLst/>
            <a:cxnLst/>
            <a:rect l="l" t="t" r="r" b="b"/>
            <a:pathLst>
              <a:path w="16320998" h="1830249">
                <a:moveTo>
                  <a:pt x="0" y="0"/>
                </a:moveTo>
                <a:lnTo>
                  <a:pt x="16320998" y="0"/>
                </a:lnTo>
                <a:lnTo>
                  <a:pt x="16320998" y="1830249"/>
                </a:lnTo>
                <a:lnTo>
                  <a:pt x="0" y="1830249"/>
                </a:lnTo>
                <a:lnTo>
                  <a:pt x="0" y="0"/>
                </a:lnTo>
                <a:close/>
              </a:path>
            </a:pathLst>
          </a:custGeom>
          <a:blipFill>
            <a:blip r:embed="rId4"/>
            <a:stretch>
              <a:fillRect t="-13190" b="-20569"/>
            </a:stretch>
          </a:blipFill>
        </p:spPr>
        <p:txBody>
          <a:bodyPr/>
          <a:lstStyle/>
          <a:p>
            <a:endParaRPr lang="en-IN"/>
          </a:p>
        </p:txBody>
      </p:sp>
      <p:sp>
        <p:nvSpPr>
          <p:cNvPr id="4" name="TextBox 4"/>
          <p:cNvSpPr txBox="1"/>
          <p:nvPr/>
        </p:nvSpPr>
        <p:spPr>
          <a:xfrm>
            <a:off x="4273793" y="2833632"/>
            <a:ext cx="8197691" cy="978410"/>
          </a:xfrm>
          <a:prstGeom prst="rect">
            <a:avLst/>
          </a:prstGeom>
        </p:spPr>
        <p:txBody>
          <a:bodyPr lIns="0" tIns="0" rIns="0" bIns="0" rtlCol="0" anchor="t">
            <a:spAutoFit/>
          </a:bodyPr>
          <a:lstStyle/>
          <a:p>
            <a:pPr algn="l">
              <a:lnSpc>
                <a:spcPts val="7326"/>
              </a:lnSpc>
            </a:pPr>
            <a:r>
              <a:rPr lang="en-US" sz="7400" b="1" dirty="0">
                <a:solidFill>
                  <a:srgbClr val="28568A"/>
                </a:solidFill>
                <a:latin typeface="Montserrat Bold"/>
                <a:ea typeface="Montserrat Bold"/>
                <a:cs typeface="Montserrat Bold"/>
                <a:sym typeface="Montserrat Bold"/>
              </a:rPr>
              <a:t>TN-IMPACT 2026</a:t>
            </a:r>
          </a:p>
        </p:txBody>
      </p:sp>
      <p:sp>
        <p:nvSpPr>
          <p:cNvPr id="5" name="TextBox 5"/>
          <p:cNvSpPr txBox="1"/>
          <p:nvPr/>
        </p:nvSpPr>
        <p:spPr>
          <a:xfrm>
            <a:off x="3649088" y="3626895"/>
            <a:ext cx="10615983" cy="697039"/>
          </a:xfrm>
          <a:prstGeom prst="rect">
            <a:avLst/>
          </a:prstGeom>
        </p:spPr>
        <p:txBody>
          <a:bodyPr wrap="square" lIns="0" tIns="0" rIns="0" bIns="0" rtlCol="0" anchor="t">
            <a:spAutoFit/>
          </a:bodyPr>
          <a:lstStyle/>
          <a:p>
            <a:pPr algn="l">
              <a:lnSpc>
                <a:spcPts val="5791"/>
              </a:lnSpc>
            </a:pPr>
            <a:r>
              <a:rPr lang="en-US" sz="3900" b="1" dirty="0">
                <a:solidFill>
                  <a:srgbClr val="BC9C22"/>
                </a:solidFill>
                <a:latin typeface="Montserrat Bold"/>
                <a:ea typeface="Montserrat Bold"/>
                <a:cs typeface="Montserrat Bold"/>
                <a:sym typeface="Montserrat Bold"/>
              </a:rPr>
              <a:t>IDENTIFYING INDUSTRIAL CHALLENGES</a:t>
            </a:r>
          </a:p>
        </p:txBody>
      </p:sp>
      <p:sp>
        <p:nvSpPr>
          <p:cNvPr id="6" name="TextBox 6"/>
          <p:cNvSpPr txBox="1"/>
          <p:nvPr/>
        </p:nvSpPr>
        <p:spPr>
          <a:xfrm>
            <a:off x="1028700" y="6041247"/>
            <a:ext cx="15856760" cy="1906612"/>
          </a:xfrm>
          <a:prstGeom prst="rect">
            <a:avLst/>
          </a:prstGeom>
        </p:spPr>
        <p:txBody>
          <a:bodyPr lIns="0" tIns="0" rIns="0" bIns="0" rtlCol="0" anchor="t">
            <a:spAutoFit/>
          </a:bodyPr>
          <a:lstStyle/>
          <a:p>
            <a:pPr algn="l">
              <a:lnSpc>
                <a:spcPts val="5066"/>
              </a:lnSpc>
            </a:pPr>
            <a:r>
              <a:rPr lang="en-US" sz="3411" b="1" dirty="0">
                <a:solidFill>
                  <a:srgbClr val="000000"/>
                </a:solidFill>
                <a:latin typeface="Montserrat Bold"/>
                <a:ea typeface="Montserrat Bold"/>
                <a:cs typeface="Montserrat Bold"/>
                <a:sym typeface="Montserrat Bold"/>
              </a:rPr>
              <a:t>PROBLEM STATEMENT NUMBER : TNI126038</a:t>
            </a:r>
          </a:p>
          <a:p>
            <a:pPr algn="l">
              <a:lnSpc>
                <a:spcPts val="5066"/>
              </a:lnSpc>
            </a:pPr>
            <a:r>
              <a:rPr lang="en-US" sz="3411" b="1" dirty="0">
                <a:solidFill>
                  <a:srgbClr val="000000"/>
                </a:solidFill>
                <a:latin typeface="Montserrat Bold"/>
                <a:ea typeface="Montserrat Bold"/>
                <a:cs typeface="Montserrat Bold"/>
                <a:sym typeface="Montserrat Bold"/>
              </a:rPr>
              <a:t>PROBLEM STATEMENT TITLE : CREATE A LOW-CODE/NO-CODE</a:t>
            </a:r>
          </a:p>
          <a:p>
            <a:pPr algn="l">
              <a:lnSpc>
                <a:spcPts val="5066"/>
              </a:lnSpc>
            </a:pPr>
            <a:r>
              <a:rPr lang="en-US" sz="3411" b="1" dirty="0">
                <a:solidFill>
                  <a:srgbClr val="000000"/>
                </a:solidFill>
                <a:latin typeface="Montserrat Bold"/>
                <a:ea typeface="Montserrat Bold"/>
                <a:cs typeface="Montserrat Bold"/>
                <a:sym typeface="Montserrat Bold"/>
              </a:rPr>
              <a:t>MSMEs TO DIGITIZE THEIR OPERATIONS.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aphicFrame>
        <p:nvGraphicFramePr>
          <p:cNvPr id="3" name="Table 3"/>
          <p:cNvGraphicFramePr>
            <a:graphicFrameLocks noGrp="1"/>
          </p:cNvGraphicFramePr>
          <p:nvPr>
            <p:extLst>
              <p:ext uri="{D42A27DB-BD31-4B8C-83A1-F6EECF244321}">
                <p14:modId xmlns:p14="http://schemas.microsoft.com/office/powerpoint/2010/main" val="2291661594"/>
              </p:ext>
            </p:extLst>
          </p:nvPr>
        </p:nvGraphicFramePr>
        <p:xfrm>
          <a:off x="991829" y="5226656"/>
          <a:ext cx="15292802" cy="4363361"/>
        </p:xfrm>
        <a:graphic>
          <a:graphicData uri="http://schemas.openxmlformats.org/drawingml/2006/table">
            <a:tbl>
              <a:tblPr/>
              <a:tblGrid>
                <a:gridCol w="1602749">
                  <a:extLst>
                    <a:ext uri="{9D8B030D-6E8A-4147-A177-3AD203B41FA5}">
                      <a16:colId xmlns:a16="http://schemas.microsoft.com/office/drawing/2014/main" val="20000"/>
                    </a:ext>
                  </a:extLst>
                </a:gridCol>
                <a:gridCol w="6643025">
                  <a:extLst>
                    <a:ext uri="{9D8B030D-6E8A-4147-A177-3AD203B41FA5}">
                      <a16:colId xmlns:a16="http://schemas.microsoft.com/office/drawing/2014/main" val="20001"/>
                    </a:ext>
                  </a:extLst>
                </a:gridCol>
                <a:gridCol w="2480046">
                  <a:extLst>
                    <a:ext uri="{9D8B030D-6E8A-4147-A177-3AD203B41FA5}">
                      <a16:colId xmlns:a16="http://schemas.microsoft.com/office/drawing/2014/main" val="20002"/>
                    </a:ext>
                  </a:extLst>
                </a:gridCol>
                <a:gridCol w="4566982">
                  <a:extLst>
                    <a:ext uri="{9D8B030D-6E8A-4147-A177-3AD203B41FA5}">
                      <a16:colId xmlns:a16="http://schemas.microsoft.com/office/drawing/2014/main" val="20003"/>
                    </a:ext>
                  </a:extLst>
                </a:gridCol>
              </a:tblGrid>
              <a:tr h="1278902">
                <a:tc>
                  <a:txBody>
                    <a:bodyPr/>
                    <a:lstStyle/>
                    <a:p>
                      <a:pPr algn="ctr">
                        <a:lnSpc>
                          <a:spcPts val="3079"/>
                        </a:lnSpc>
                        <a:defRPr/>
                      </a:pPr>
                      <a:r>
                        <a:rPr lang="en-US" sz="2199" b="1">
                          <a:solidFill>
                            <a:srgbClr val="000000"/>
                          </a:solidFill>
                          <a:latin typeface="Open Sans Bold"/>
                          <a:ea typeface="Open Sans Bold"/>
                          <a:cs typeface="Open Sans Bold"/>
                          <a:sym typeface="Open Sans Bold"/>
                        </a:rPr>
                        <a:t>S.NO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dirty="0">
                          <a:solidFill>
                            <a:srgbClr val="000000"/>
                          </a:solidFill>
                          <a:latin typeface="Open Sans Bold"/>
                          <a:ea typeface="Open Sans Bold"/>
                          <a:cs typeface="Open Sans Bold"/>
                          <a:sym typeface="Open Sans Bold"/>
                        </a:rPr>
                        <a:t>STUDENT NAME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Open Sans Bold"/>
                          <a:ea typeface="Open Sans Bold"/>
                          <a:cs typeface="Open Sans Bold"/>
                          <a:sym typeface="Open Sans Bold"/>
                        </a:rPr>
                        <a:t>SEMESTER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9"/>
                        </a:lnSpc>
                        <a:defRPr/>
                      </a:pPr>
                      <a:r>
                        <a:rPr lang="en-US" sz="2199" b="1" dirty="0">
                          <a:solidFill>
                            <a:srgbClr val="000000"/>
                          </a:solidFill>
                          <a:latin typeface="Open Sans Bold"/>
                          <a:ea typeface="Open Sans Bold"/>
                          <a:cs typeface="Open Sans Bold"/>
                          <a:sym typeface="Open Sans Bold"/>
                        </a:rPr>
                        <a:t>DEPARTMENT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8153">
                <a:tc>
                  <a:txBody>
                    <a:bodyPr/>
                    <a:lstStyle/>
                    <a:p>
                      <a:pPr algn="ctr">
                        <a:lnSpc>
                          <a:spcPts val="2659"/>
                        </a:lnSpc>
                        <a:defRPr/>
                      </a:pPr>
                      <a:r>
                        <a:rPr lang="en-US" sz="2000" dirty="0">
                          <a:latin typeface="Montserrat Bold" panose="020B0604020202020204" charset="0"/>
                        </a:rPr>
                        <a:t>1</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NITHYAA SHREE 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II</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B.TECH CBE</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8153">
                <a:tc>
                  <a:txBody>
                    <a:bodyPr/>
                    <a:lstStyle/>
                    <a:p>
                      <a:pPr algn="ctr">
                        <a:lnSpc>
                          <a:spcPts val="2659"/>
                        </a:lnSpc>
                        <a:defRPr/>
                      </a:pPr>
                      <a:r>
                        <a:rPr lang="en-US" sz="2000" dirty="0">
                          <a:latin typeface="Montserrat Bold" panose="020B0604020202020204" charset="0"/>
                        </a:rPr>
                        <a:t>2</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ARSHATH RAHAMAAN KAR</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II</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B.E.CSE</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8153">
                <a:tc>
                  <a:txBody>
                    <a:bodyPr/>
                    <a:lstStyle/>
                    <a:p>
                      <a:pPr algn="ctr">
                        <a:lnSpc>
                          <a:spcPts val="2659"/>
                        </a:lnSpc>
                        <a:defRPr/>
                      </a:pPr>
                      <a:r>
                        <a:rPr lang="en-US" sz="2000" dirty="0">
                          <a:latin typeface="Montserrat Bold" panose="020B0604020202020204" charset="0"/>
                        </a:rPr>
                        <a:t>3</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HARI EASWAR V</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II</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2000" dirty="0">
                          <a:latin typeface="Montserrat Bold" panose="020B0604020202020204" charset="0"/>
                        </a:rPr>
                        <a:t>B.E.CSE</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Box 4"/>
          <p:cNvSpPr txBox="1"/>
          <p:nvPr/>
        </p:nvSpPr>
        <p:spPr>
          <a:xfrm>
            <a:off x="6003538" y="2177031"/>
            <a:ext cx="6280924" cy="668068"/>
          </a:xfrm>
          <a:prstGeom prst="rect">
            <a:avLst/>
          </a:prstGeom>
        </p:spPr>
        <p:txBody>
          <a:bodyPr lIns="0" tIns="0" rIns="0" bIns="0" rtlCol="0" anchor="t">
            <a:spAutoFit/>
          </a:bodyPr>
          <a:lstStyle/>
          <a:p>
            <a:pPr algn="l">
              <a:lnSpc>
                <a:spcPts val="5246"/>
              </a:lnSpc>
            </a:pPr>
            <a:r>
              <a:rPr lang="en-US" sz="5299" b="1" dirty="0">
                <a:solidFill>
                  <a:srgbClr val="28568A"/>
                </a:solidFill>
                <a:latin typeface="Montserrat Bold"/>
                <a:ea typeface="Montserrat Bold"/>
                <a:cs typeface="Montserrat Bold"/>
                <a:sym typeface="Montserrat Bold"/>
              </a:rPr>
              <a:t>Team details</a:t>
            </a:r>
          </a:p>
        </p:txBody>
      </p:sp>
      <p:sp>
        <p:nvSpPr>
          <p:cNvPr id="5" name="TextBox 5"/>
          <p:cNvSpPr txBox="1"/>
          <p:nvPr/>
        </p:nvSpPr>
        <p:spPr>
          <a:xfrm>
            <a:off x="991829" y="2956700"/>
            <a:ext cx="15802804" cy="1886712"/>
          </a:xfrm>
          <a:prstGeom prst="rect">
            <a:avLst/>
          </a:prstGeom>
        </p:spPr>
        <p:txBody>
          <a:bodyPr lIns="0" tIns="0" rIns="0" bIns="0" rtlCol="0" anchor="t">
            <a:spAutoFit/>
          </a:bodyPr>
          <a:lstStyle/>
          <a:p>
            <a:pPr>
              <a:lnSpc>
                <a:spcPts val="5049"/>
              </a:lnSpc>
            </a:pPr>
            <a:r>
              <a:rPr lang="en-US" sz="3400" b="1" dirty="0">
                <a:solidFill>
                  <a:srgbClr val="BC9C22"/>
                </a:solidFill>
                <a:latin typeface="Montserrat Bold"/>
                <a:ea typeface="Montserrat Bold"/>
                <a:cs typeface="Montserrat Bold"/>
                <a:sym typeface="Montserrat Bold"/>
              </a:rPr>
              <a:t>Team Name : THE TECHERS</a:t>
            </a:r>
          </a:p>
          <a:p>
            <a:pPr algn="l">
              <a:lnSpc>
                <a:spcPts val="5049"/>
              </a:lnSpc>
            </a:pPr>
            <a:r>
              <a:rPr lang="en-US" sz="3400" b="1" dirty="0">
                <a:solidFill>
                  <a:srgbClr val="BC9C22"/>
                </a:solidFill>
                <a:latin typeface="Montserrat Bold"/>
                <a:ea typeface="Montserrat Bold"/>
                <a:cs typeface="Montserrat Bold"/>
                <a:sym typeface="Montserrat Bold"/>
              </a:rPr>
              <a:t>College Mentor Name : NARENDARAN M</a:t>
            </a:r>
          </a:p>
          <a:p>
            <a:pPr>
              <a:lnSpc>
                <a:spcPts val="5049"/>
              </a:lnSpc>
            </a:pPr>
            <a:r>
              <a:rPr lang="en-US" sz="3400" b="1" dirty="0">
                <a:solidFill>
                  <a:srgbClr val="BC9C22"/>
                </a:solidFill>
                <a:latin typeface="Montserrat Bold"/>
                <a:ea typeface="Montserrat Bold"/>
                <a:cs typeface="Montserrat Bold"/>
                <a:sym typeface="Montserrat Bold"/>
              </a:rPr>
              <a:t>College Name: SONA COLLEGE OF TECHNOLOGY,SALEM</a:t>
            </a:r>
          </a:p>
        </p:txBody>
      </p:sp>
      <p:sp>
        <p:nvSpPr>
          <p:cNvPr id="6" name="Freeform 6"/>
          <p:cNvSpPr/>
          <p:nvPr/>
        </p:nvSpPr>
        <p:spPr>
          <a:xfrm>
            <a:off x="1028700" y="0"/>
            <a:ext cx="16230600" cy="1865186"/>
          </a:xfrm>
          <a:custGeom>
            <a:avLst/>
            <a:gdLst/>
            <a:ahLst/>
            <a:cxnLst/>
            <a:rect l="l" t="t" r="r" b="b"/>
            <a:pathLst>
              <a:path w="16230600" h="1865186">
                <a:moveTo>
                  <a:pt x="0" y="0"/>
                </a:moveTo>
                <a:lnTo>
                  <a:pt x="16230600" y="0"/>
                </a:lnTo>
                <a:lnTo>
                  <a:pt x="16230600" y="1865186"/>
                </a:lnTo>
                <a:lnTo>
                  <a:pt x="0" y="1865186"/>
                </a:lnTo>
                <a:lnTo>
                  <a:pt x="0" y="0"/>
                </a:lnTo>
                <a:close/>
              </a:path>
            </a:pathLst>
          </a:custGeom>
          <a:blipFill>
            <a:blip r:embed="rId4"/>
            <a:stretch>
              <a:fillRect t="-10111" b="-20416"/>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6242" y="2628900"/>
            <a:ext cx="6324600" cy="694229"/>
          </a:xfrm>
          <a:prstGeom prst="rect">
            <a:avLst/>
          </a:prstGeom>
        </p:spPr>
        <p:txBody>
          <a:bodyPr wrap="square" lIns="0" tIns="0" rIns="0" bIns="0" rtlCol="0" anchor="t">
            <a:spAutoFit/>
          </a:bodyPr>
          <a:lstStyle/>
          <a:p>
            <a:pPr algn="l">
              <a:lnSpc>
                <a:spcPts val="5940"/>
              </a:lnSpc>
            </a:pPr>
            <a:r>
              <a:rPr lang="en-US" sz="4000" b="1" dirty="0">
                <a:solidFill>
                  <a:srgbClr val="28568A"/>
                </a:solidFill>
                <a:latin typeface="Montserrat Bold"/>
                <a:ea typeface="Montserrat Bold"/>
                <a:cs typeface="Montserrat Bold"/>
                <a:sym typeface="Montserrat Bold"/>
              </a:rPr>
              <a:t>Problem statement</a:t>
            </a:r>
          </a:p>
        </p:txBody>
      </p:sp>
      <p:sp>
        <p:nvSpPr>
          <p:cNvPr id="3" name="Freeform 3"/>
          <p:cNvSpPr/>
          <p:nvPr/>
        </p:nvSpPr>
        <p:spPr>
          <a:xfrm>
            <a:off x="1028700" y="504623"/>
            <a:ext cx="16320998" cy="1852759"/>
          </a:xfrm>
          <a:custGeom>
            <a:avLst/>
            <a:gdLst/>
            <a:ahLst/>
            <a:cxnLst/>
            <a:rect l="l" t="t" r="r" b="b"/>
            <a:pathLst>
              <a:path w="16320998" h="1852759">
                <a:moveTo>
                  <a:pt x="0" y="0"/>
                </a:moveTo>
                <a:lnTo>
                  <a:pt x="16320998" y="0"/>
                </a:lnTo>
                <a:lnTo>
                  <a:pt x="16320998" y="1852759"/>
                </a:lnTo>
                <a:lnTo>
                  <a:pt x="0" y="1852759"/>
                </a:lnTo>
                <a:lnTo>
                  <a:pt x="0" y="0"/>
                </a:lnTo>
                <a:close/>
              </a:path>
            </a:pathLst>
          </a:custGeom>
          <a:blipFill>
            <a:blip r:embed="rId2"/>
            <a:stretch>
              <a:fillRect t="-11815" b="-20319"/>
            </a:stretch>
          </a:blipFill>
        </p:spPr>
        <p:txBody>
          <a:bodyPr/>
          <a:lstStyle/>
          <a:p>
            <a:endParaRPr lang="en-IN"/>
          </a:p>
        </p:txBody>
      </p:sp>
      <p:sp>
        <p:nvSpPr>
          <p:cNvPr id="5" name="TextBox 4">
            <a:extLst>
              <a:ext uri="{FF2B5EF4-FFF2-40B4-BE49-F238E27FC236}">
                <a16:creationId xmlns:a16="http://schemas.microsoft.com/office/drawing/2014/main" id="{45A0F72B-678E-B09A-17A7-2B26BB9304FD}"/>
              </a:ext>
            </a:extLst>
          </p:cNvPr>
          <p:cNvSpPr txBox="1"/>
          <p:nvPr/>
        </p:nvSpPr>
        <p:spPr>
          <a:xfrm>
            <a:off x="983501" y="3594647"/>
            <a:ext cx="16320998" cy="1200329"/>
          </a:xfrm>
          <a:prstGeom prst="rect">
            <a:avLst/>
          </a:prstGeom>
          <a:noFill/>
        </p:spPr>
        <p:txBody>
          <a:bodyPr wrap="square">
            <a:spAutoFit/>
          </a:bodyPr>
          <a:lstStyle/>
          <a:p>
            <a:pPr>
              <a:buNone/>
            </a:pPr>
            <a:r>
              <a:rPr lang="en-US" sz="2400" dirty="0"/>
              <a:t>To develop a simple and affordable low-code platform that helps Micro, Small and Medium Enterprises (MSMEs) create and manage their own business applications such as billing, inventory, employee records, and customer management without needing programming skills.</a:t>
            </a:r>
          </a:p>
        </p:txBody>
      </p:sp>
      <p:sp>
        <p:nvSpPr>
          <p:cNvPr id="1226" name="Freeform 2">
            <a:extLst>
              <a:ext uri="{FF2B5EF4-FFF2-40B4-BE49-F238E27FC236}">
                <a16:creationId xmlns:a16="http://schemas.microsoft.com/office/drawing/2014/main" id="{8163BEC5-B43C-E1A1-51C9-6DA0B3C565EB}"/>
              </a:ext>
            </a:extLst>
          </p:cNvPr>
          <p:cNvSpPr/>
          <p:nvPr/>
        </p:nvSpPr>
        <p:spPr>
          <a:xfrm flipH="1">
            <a:off x="11895947" y="6126972"/>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1232" name="Picture 1231">
            <a:extLst>
              <a:ext uri="{FF2B5EF4-FFF2-40B4-BE49-F238E27FC236}">
                <a16:creationId xmlns:a16="http://schemas.microsoft.com/office/drawing/2014/main" id="{C346B624-8A1A-368C-A6CB-0F88F9EA07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197" y="5065265"/>
            <a:ext cx="5134840" cy="4641539"/>
          </a:xfrm>
          <a:prstGeom prst="rect">
            <a:avLst/>
          </a:prstGeom>
        </p:spPr>
      </p:pic>
      <p:pic>
        <p:nvPicPr>
          <p:cNvPr id="1234" name="Picture 1233">
            <a:extLst>
              <a:ext uri="{FF2B5EF4-FFF2-40B4-BE49-F238E27FC236}">
                <a16:creationId xmlns:a16="http://schemas.microsoft.com/office/drawing/2014/main" id="{3D27DE81-BA42-4D42-B4A8-98B2CFC34F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8000" y="5054204"/>
            <a:ext cx="8001000" cy="46347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628900"/>
            <a:ext cx="5753309" cy="681533"/>
          </a:xfrm>
          <a:prstGeom prst="rect">
            <a:avLst/>
          </a:prstGeom>
        </p:spPr>
        <p:txBody>
          <a:bodyPr wrap="square" lIns="0" tIns="0" rIns="0" bIns="0" rtlCol="0" anchor="t">
            <a:spAutoFit/>
          </a:bodyPr>
          <a:lstStyle/>
          <a:p>
            <a:pPr algn="l">
              <a:lnSpc>
                <a:spcPts val="5940"/>
              </a:lnSpc>
            </a:pPr>
            <a:r>
              <a:rPr lang="en-US" sz="3600" b="1" dirty="0">
                <a:solidFill>
                  <a:srgbClr val="28568A"/>
                </a:solidFill>
                <a:latin typeface="Montserrat Bold"/>
                <a:ea typeface="Montserrat Bold"/>
                <a:cs typeface="Montserrat Bold"/>
                <a:sym typeface="Montserrat Bold"/>
              </a:rPr>
              <a:t>Problem description</a:t>
            </a:r>
          </a:p>
        </p:txBody>
      </p:sp>
      <p:sp>
        <p:nvSpPr>
          <p:cNvPr id="3" name="Freeform 3"/>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028700" y="459603"/>
            <a:ext cx="16320998" cy="1897779"/>
          </a:xfrm>
          <a:custGeom>
            <a:avLst/>
            <a:gdLst/>
            <a:ahLst/>
            <a:cxnLst/>
            <a:rect l="l" t="t" r="r" b="b"/>
            <a:pathLst>
              <a:path w="16320998" h="1897779">
                <a:moveTo>
                  <a:pt x="0" y="0"/>
                </a:moveTo>
                <a:lnTo>
                  <a:pt x="16320998" y="0"/>
                </a:lnTo>
                <a:lnTo>
                  <a:pt x="16320998" y="1897779"/>
                </a:lnTo>
                <a:lnTo>
                  <a:pt x="0" y="1897779"/>
                </a:lnTo>
                <a:lnTo>
                  <a:pt x="0" y="0"/>
                </a:lnTo>
                <a:close/>
              </a:path>
            </a:pathLst>
          </a:custGeom>
          <a:blipFill>
            <a:blip r:embed="rId4"/>
            <a:stretch>
              <a:fillRect t="-9162" b="-19837"/>
            </a:stretch>
          </a:blipFill>
        </p:spPr>
        <p:txBody>
          <a:bodyPr/>
          <a:lstStyle/>
          <a:p>
            <a:endParaRPr lang="en-IN"/>
          </a:p>
        </p:txBody>
      </p:sp>
      <p:sp>
        <p:nvSpPr>
          <p:cNvPr id="97" name="TextBox 96">
            <a:extLst>
              <a:ext uri="{FF2B5EF4-FFF2-40B4-BE49-F238E27FC236}">
                <a16:creationId xmlns:a16="http://schemas.microsoft.com/office/drawing/2014/main" id="{51385AE9-B562-4A0C-D0C2-17D84E6C086C}"/>
              </a:ext>
            </a:extLst>
          </p:cNvPr>
          <p:cNvSpPr txBox="1"/>
          <p:nvPr/>
        </p:nvSpPr>
        <p:spPr>
          <a:xfrm>
            <a:off x="1028700" y="3612677"/>
            <a:ext cx="14744700" cy="4524315"/>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MSMEs play a major role in economic growth, employment, and local business development. However, many small business owners still use manual methods like notebooks, spreadsheets, or basic tools to manage their daily operations. This leads to errors, data loss, poor tracking, and reduced efficiency.</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Most available software solutions in the market are either too costly, too complex, or designed for large companies. Small businesses often do not have the technical knowledge, time, or budget to use such advanced systems. As a result, they struggle with digital transformation.</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 is a clear need for a simple, customizable, and low-cost digital platform that allows MSMEs to easily build their own business tools without coding. MSME Builder solves this problem by offering a low-code platform with drag-and-drop features, ready-made templates, and easy dashboards that help business owners manage their work digitally in a smart and efficient way.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271460" y="2594321"/>
            <a:ext cx="1128630" cy="1518200"/>
          </a:xfrm>
          <a:custGeom>
            <a:avLst/>
            <a:gdLst/>
            <a:ahLst/>
            <a:cxnLst/>
            <a:rect l="0" t="0" r="0" b="0"/>
            <a:pathLst>
              <a:path w="752420" h="1012133">
                <a:moveTo>
                  <a:pt x="519407" y="947106"/>
                </a:moveTo>
                <a:lnTo>
                  <a:pt x="682921" y="1012133"/>
                </a:lnTo>
                <a:lnTo>
                  <a:pt x="734691" y="843963"/>
                </a:lnTo>
                <a:lnTo>
                  <a:pt x="674774" y="872672"/>
                </a:lnTo>
                <a:lnTo>
                  <a:pt x="570030" y="654036"/>
                </a:lnTo>
                <a:cubicBezTo>
                  <a:pt x="702390" y="562503"/>
                  <a:pt x="752420" y="385852"/>
                  <a:pt x="680662" y="236096"/>
                </a:cubicBezTo>
                <a:cubicBezTo>
                  <a:pt x="601136" y="70091"/>
                  <a:pt x="402091" y="0"/>
                  <a:pt x="236086" y="79534"/>
                </a:cubicBezTo>
                <a:cubicBezTo>
                  <a:pt x="70091" y="159069"/>
                  <a:pt x="0" y="358106"/>
                  <a:pt x="79534" y="524110"/>
                </a:cubicBezTo>
                <a:cubicBezTo>
                  <a:pt x="151182" y="673663"/>
                  <a:pt x="319834" y="745366"/>
                  <a:pt x="473932" y="699956"/>
                </a:cubicBezTo>
                <a:lnTo>
                  <a:pt x="578732" y="918684"/>
                </a:lnTo>
                <a:lnTo>
                  <a:pt x="519407" y="947106"/>
                </a:lnTo>
                <a:close/>
              </a:path>
            </a:pathLst>
          </a:custGeom>
          <a:noFill/>
          <a:ln w="13886">
            <a:solidFill>
              <a:srgbClr val="E0CB15"/>
            </a:solidFill>
          </a:ln>
        </p:spPr>
        <p:txBody>
          <a:bodyPr rtlCol="0" anchor="ctr"/>
          <a:lstStyle/>
          <a:p>
            <a:pPr algn="ctr"/>
            <a:endParaRPr sz="2700"/>
          </a:p>
        </p:txBody>
      </p:sp>
      <p:sp>
        <p:nvSpPr>
          <p:cNvPr id="4" name="Rounded Rectangle 3"/>
          <p:cNvSpPr/>
          <p:nvPr/>
        </p:nvSpPr>
        <p:spPr>
          <a:xfrm>
            <a:off x="6027233" y="4194413"/>
            <a:ext cx="1573526" cy="1092303"/>
          </a:xfrm>
          <a:custGeom>
            <a:avLst/>
            <a:gdLst/>
            <a:ahLst/>
            <a:cxnLst/>
            <a:rect l="0" t="0" r="0" b="0"/>
            <a:pathLst>
              <a:path w="1049017" h="728202">
                <a:moveTo>
                  <a:pt x="896187" y="611015"/>
                </a:moveTo>
                <a:lnTo>
                  <a:pt x="1049017" y="523805"/>
                </a:lnTo>
                <a:lnTo>
                  <a:pt x="949892" y="378418"/>
                </a:lnTo>
                <a:lnTo>
                  <a:pt x="934941" y="443159"/>
                </a:lnTo>
                <a:lnTo>
                  <a:pt x="698724" y="388620"/>
                </a:lnTo>
                <a:cubicBezTo>
                  <a:pt x="709769" y="228069"/>
                  <a:pt x="602923" y="78757"/>
                  <a:pt x="441122" y="41410"/>
                </a:cubicBezTo>
                <a:cubicBezTo>
                  <a:pt x="261768" y="0"/>
                  <a:pt x="82812" y="111826"/>
                  <a:pt x="41401" y="291180"/>
                </a:cubicBezTo>
                <a:cubicBezTo>
                  <a:pt x="0" y="470525"/>
                  <a:pt x="111826" y="649491"/>
                  <a:pt x="291180" y="690892"/>
                </a:cubicBezTo>
                <a:cubicBezTo>
                  <a:pt x="452759" y="728202"/>
                  <a:pt x="614014" y="641131"/>
                  <a:pt x="674663" y="492365"/>
                </a:cubicBezTo>
                <a:lnTo>
                  <a:pt x="910990" y="546922"/>
                </a:lnTo>
                <a:lnTo>
                  <a:pt x="896187" y="611015"/>
                </a:lnTo>
                <a:close/>
              </a:path>
            </a:pathLst>
          </a:custGeom>
          <a:noFill/>
          <a:ln w="13886">
            <a:solidFill>
              <a:srgbClr val="7F64EA"/>
            </a:solidFill>
          </a:ln>
        </p:spPr>
        <p:txBody>
          <a:bodyPr rtlCol="0" anchor="ctr"/>
          <a:lstStyle/>
          <a:p>
            <a:pPr algn="ctr"/>
            <a:endParaRPr sz="2700"/>
          </a:p>
        </p:txBody>
      </p:sp>
      <p:sp>
        <p:nvSpPr>
          <p:cNvPr id="5" name="Rounded Rectangle 4"/>
          <p:cNvSpPr/>
          <p:nvPr/>
        </p:nvSpPr>
        <p:spPr>
          <a:xfrm>
            <a:off x="6458020" y="6044761"/>
            <a:ext cx="1387136" cy="1236116"/>
          </a:xfrm>
          <a:custGeom>
            <a:avLst/>
            <a:gdLst/>
            <a:ahLst/>
            <a:cxnLst/>
            <a:rect l="0" t="0" r="0" b="0"/>
            <a:pathLst>
              <a:path w="924757" h="824077">
                <a:moveTo>
                  <a:pt x="897576" y="187084"/>
                </a:moveTo>
                <a:lnTo>
                  <a:pt x="924757" y="13229"/>
                </a:lnTo>
                <a:lnTo>
                  <a:pt x="749300" y="0"/>
                </a:lnTo>
                <a:lnTo>
                  <a:pt x="790563" y="52066"/>
                </a:lnTo>
                <a:lnTo>
                  <a:pt x="600572" y="202656"/>
                </a:lnTo>
                <a:cubicBezTo>
                  <a:pt x="481987" y="93857"/>
                  <a:pt x="298642" y="84210"/>
                  <a:pt x="168503" y="187353"/>
                </a:cubicBezTo>
                <a:cubicBezTo>
                  <a:pt x="24255" y="301688"/>
                  <a:pt x="0" y="511316"/>
                  <a:pt x="114326" y="655573"/>
                </a:cubicBezTo>
                <a:cubicBezTo>
                  <a:pt x="228661" y="799821"/>
                  <a:pt x="438289" y="824077"/>
                  <a:pt x="582546" y="709741"/>
                </a:cubicBezTo>
                <a:cubicBezTo>
                  <a:pt x="712500" y="606737"/>
                  <a:pt x="745070" y="426393"/>
                  <a:pt x="666646" y="286181"/>
                </a:cubicBezTo>
                <a:lnTo>
                  <a:pt x="856720" y="135527"/>
                </a:lnTo>
                <a:lnTo>
                  <a:pt x="897576" y="187084"/>
                </a:lnTo>
                <a:close/>
              </a:path>
            </a:pathLst>
          </a:custGeom>
          <a:noFill/>
          <a:ln w="13886">
            <a:solidFill>
              <a:srgbClr val="DE8431"/>
            </a:solidFill>
          </a:ln>
        </p:spPr>
        <p:txBody>
          <a:bodyPr rtlCol="0" anchor="ctr"/>
          <a:lstStyle/>
          <a:p>
            <a:pPr algn="ctr"/>
            <a:endParaRPr sz="2700"/>
          </a:p>
        </p:txBody>
      </p:sp>
      <p:sp>
        <p:nvSpPr>
          <p:cNvPr id="6" name="Rounded Rectangle 5"/>
          <p:cNvSpPr/>
          <p:nvPr/>
        </p:nvSpPr>
        <p:spPr>
          <a:xfrm>
            <a:off x="8349737" y="6550202"/>
            <a:ext cx="999857" cy="1551182"/>
          </a:xfrm>
          <a:custGeom>
            <a:avLst/>
            <a:gdLst/>
            <a:ahLst/>
            <a:cxnLst/>
            <a:rect l="0" t="0" r="0" b="0"/>
            <a:pathLst>
              <a:path w="666571" h="1034121">
                <a:moveTo>
                  <a:pt x="452648" y="129296"/>
                </a:moveTo>
                <a:lnTo>
                  <a:pt x="333285" y="0"/>
                </a:lnTo>
                <a:lnTo>
                  <a:pt x="213932" y="129296"/>
                </a:lnTo>
                <a:lnTo>
                  <a:pt x="280367" y="129296"/>
                </a:lnTo>
                <a:lnTo>
                  <a:pt x="280367" y="371724"/>
                </a:lnTo>
                <a:cubicBezTo>
                  <a:pt x="121445" y="397082"/>
                  <a:pt x="0" y="534775"/>
                  <a:pt x="0" y="700835"/>
                </a:cubicBezTo>
                <a:cubicBezTo>
                  <a:pt x="0" y="884902"/>
                  <a:pt x="149219" y="1034121"/>
                  <a:pt x="333285" y="1034121"/>
                </a:cubicBezTo>
                <a:cubicBezTo>
                  <a:pt x="517352" y="1034121"/>
                  <a:pt x="666571" y="884902"/>
                  <a:pt x="666571" y="700835"/>
                </a:cubicBezTo>
                <a:cubicBezTo>
                  <a:pt x="666571" y="535007"/>
                  <a:pt x="545459" y="397462"/>
                  <a:pt x="386870" y="371826"/>
                </a:cubicBezTo>
                <a:lnTo>
                  <a:pt x="386870" y="129296"/>
                </a:lnTo>
                <a:lnTo>
                  <a:pt x="452648" y="129296"/>
                </a:lnTo>
                <a:close/>
              </a:path>
            </a:pathLst>
          </a:custGeom>
          <a:noFill/>
          <a:ln w="13886">
            <a:solidFill>
              <a:srgbClr val="E55753"/>
            </a:solidFill>
          </a:ln>
        </p:spPr>
        <p:txBody>
          <a:bodyPr rtlCol="0" anchor="ctr"/>
          <a:lstStyle/>
          <a:p>
            <a:pPr algn="ctr"/>
            <a:endParaRPr sz="2700"/>
          </a:p>
        </p:txBody>
      </p:sp>
      <p:sp>
        <p:nvSpPr>
          <p:cNvPr id="7" name="Rounded Rectangle 6"/>
          <p:cNvSpPr/>
          <p:nvPr/>
        </p:nvSpPr>
        <p:spPr>
          <a:xfrm>
            <a:off x="9851384" y="6049176"/>
            <a:ext cx="1384526" cy="1237740"/>
          </a:xfrm>
          <a:custGeom>
            <a:avLst/>
            <a:gdLst/>
            <a:ahLst/>
            <a:cxnLst/>
            <a:rect l="0" t="0" r="0" b="0"/>
            <a:pathLst>
              <a:path w="923017" h="825160">
                <a:moveTo>
                  <a:pt x="175512" y="0"/>
                </a:moveTo>
                <a:lnTo>
                  <a:pt x="0" y="12618"/>
                </a:lnTo>
                <a:lnTo>
                  <a:pt x="26579" y="186566"/>
                </a:lnTo>
                <a:lnTo>
                  <a:pt x="68027" y="134638"/>
                </a:lnTo>
                <a:lnTo>
                  <a:pt x="257491" y="285894"/>
                </a:lnTo>
                <a:cubicBezTo>
                  <a:pt x="178159" y="425902"/>
                  <a:pt x="210007" y="606728"/>
                  <a:pt x="339785" y="710325"/>
                </a:cubicBezTo>
                <a:cubicBezTo>
                  <a:pt x="483634" y="825160"/>
                  <a:pt x="693345" y="801636"/>
                  <a:pt x="808181" y="657786"/>
                </a:cubicBezTo>
                <a:cubicBezTo>
                  <a:pt x="923017" y="513936"/>
                  <a:pt x="899492" y="304225"/>
                  <a:pt x="755642" y="189389"/>
                </a:cubicBezTo>
                <a:cubicBezTo>
                  <a:pt x="626040" y="85932"/>
                  <a:pt x="442992" y="94773"/>
                  <a:pt x="324018" y="202721"/>
                </a:cubicBezTo>
                <a:lnTo>
                  <a:pt x="134471" y="51409"/>
                </a:lnTo>
                <a:lnTo>
                  <a:pt x="175512" y="0"/>
                </a:lnTo>
                <a:close/>
              </a:path>
            </a:pathLst>
          </a:custGeom>
          <a:noFill/>
          <a:ln w="13886">
            <a:solidFill>
              <a:srgbClr val="1EABDA"/>
            </a:solidFill>
          </a:ln>
        </p:spPr>
        <p:txBody>
          <a:bodyPr rtlCol="0" anchor="ctr"/>
          <a:lstStyle/>
          <a:p>
            <a:pPr algn="ctr"/>
            <a:endParaRPr sz="2700"/>
          </a:p>
        </p:txBody>
      </p:sp>
      <p:sp>
        <p:nvSpPr>
          <p:cNvPr id="8" name="Rounded Rectangle 7"/>
          <p:cNvSpPr/>
          <p:nvPr/>
        </p:nvSpPr>
        <p:spPr>
          <a:xfrm>
            <a:off x="10099573" y="4202897"/>
            <a:ext cx="1573790" cy="1091372"/>
          </a:xfrm>
          <a:custGeom>
            <a:avLst/>
            <a:gdLst/>
            <a:ahLst/>
            <a:cxnLst/>
            <a:rect l="0" t="0" r="0" b="0"/>
            <a:pathLst>
              <a:path w="1049193" h="727581">
                <a:moveTo>
                  <a:pt x="99633" y="376020"/>
                </a:moveTo>
                <a:lnTo>
                  <a:pt x="0" y="521055"/>
                </a:lnTo>
                <a:lnTo>
                  <a:pt x="152524" y="608802"/>
                </a:lnTo>
                <a:lnTo>
                  <a:pt x="137804" y="544015"/>
                </a:lnTo>
                <a:lnTo>
                  <a:pt x="374206" y="490300"/>
                </a:lnTo>
                <a:cubicBezTo>
                  <a:pt x="434142" y="639659"/>
                  <a:pt x="595322" y="727581"/>
                  <a:pt x="757253" y="690790"/>
                </a:cubicBezTo>
                <a:cubicBezTo>
                  <a:pt x="936746" y="650009"/>
                  <a:pt x="1049193" y="471442"/>
                  <a:pt x="1008412" y="291949"/>
                </a:cubicBezTo>
                <a:cubicBezTo>
                  <a:pt x="967640" y="112456"/>
                  <a:pt x="789063" y="0"/>
                  <a:pt x="609570" y="40781"/>
                </a:cubicBezTo>
                <a:cubicBezTo>
                  <a:pt x="447862" y="77526"/>
                  <a:pt x="340571" y="226097"/>
                  <a:pt x="350718" y="386426"/>
                </a:cubicBezTo>
                <a:lnTo>
                  <a:pt x="114205" y="440159"/>
                </a:lnTo>
                <a:lnTo>
                  <a:pt x="99633" y="376020"/>
                </a:lnTo>
                <a:close/>
              </a:path>
            </a:pathLst>
          </a:custGeom>
          <a:noFill/>
          <a:ln w="13886">
            <a:solidFill>
              <a:srgbClr val="92BD39"/>
            </a:solidFill>
          </a:ln>
        </p:spPr>
        <p:txBody>
          <a:bodyPr rtlCol="0" anchor="ctr"/>
          <a:lstStyle/>
          <a:p>
            <a:pPr algn="ctr"/>
            <a:endParaRPr sz="2700"/>
          </a:p>
        </p:txBody>
      </p:sp>
      <p:sp>
        <p:nvSpPr>
          <p:cNvPr id="9" name="Rounded Rectangle 8"/>
          <p:cNvSpPr/>
          <p:nvPr/>
        </p:nvSpPr>
        <p:spPr>
          <a:xfrm>
            <a:off x="9306697" y="2597736"/>
            <a:ext cx="1128617" cy="1516728"/>
          </a:xfrm>
          <a:custGeom>
            <a:avLst/>
            <a:gdLst/>
            <a:ahLst/>
            <a:cxnLst/>
            <a:rect l="0" t="0" r="0" b="0"/>
            <a:pathLst>
              <a:path w="752411" h="1011152">
                <a:moveTo>
                  <a:pt x="16025" y="842796"/>
                </a:moveTo>
                <a:lnTo>
                  <a:pt x="67212" y="1011152"/>
                </a:lnTo>
                <a:lnTo>
                  <a:pt x="230948" y="946689"/>
                </a:lnTo>
                <a:lnTo>
                  <a:pt x="171133" y="917777"/>
                </a:lnTo>
                <a:lnTo>
                  <a:pt x="276645" y="699511"/>
                </a:lnTo>
                <a:cubicBezTo>
                  <a:pt x="430762" y="745847"/>
                  <a:pt x="600025" y="674737"/>
                  <a:pt x="672302" y="525230"/>
                </a:cubicBezTo>
                <a:cubicBezTo>
                  <a:pt x="752411" y="359513"/>
                  <a:pt x="683014" y="160227"/>
                  <a:pt x="517296" y="80118"/>
                </a:cubicBezTo>
                <a:cubicBezTo>
                  <a:pt x="351579" y="0"/>
                  <a:pt x="152293" y="69397"/>
                  <a:pt x="72174" y="235124"/>
                </a:cubicBezTo>
                <a:cubicBezTo>
                  <a:pt x="0" y="384417"/>
                  <a:pt x="49178" y="560966"/>
                  <a:pt x="180807" y="653064"/>
                </a:cubicBezTo>
                <a:lnTo>
                  <a:pt x="75248" y="871422"/>
                </a:lnTo>
                <a:lnTo>
                  <a:pt x="16025" y="842796"/>
                </a:lnTo>
                <a:close/>
              </a:path>
            </a:pathLst>
          </a:custGeom>
          <a:noFill/>
          <a:ln w="13886">
            <a:solidFill>
              <a:srgbClr val="3CC583"/>
            </a:solidFill>
          </a:ln>
        </p:spPr>
        <p:txBody>
          <a:bodyPr rtlCol="0" anchor="ctr"/>
          <a:lstStyle/>
          <a:p>
            <a:pPr algn="ctr"/>
            <a:endParaRPr sz="2700"/>
          </a:p>
        </p:txBody>
      </p:sp>
      <p:sp>
        <p:nvSpPr>
          <p:cNvPr id="10" name="Rounded Rectangle 9"/>
          <p:cNvSpPr/>
          <p:nvPr/>
        </p:nvSpPr>
        <p:spPr>
          <a:xfrm>
            <a:off x="7849808" y="4268569"/>
            <a:ext cx="1999715" cy="1999715"/>
          </a:xfrm>
          <a:custGeom>
            <a:avLst/>
            <a:gdLst/>
            <a:ahLst/>
            <a:cxnLst/>
            <a:rect l="0" t="0" r="0" b="0"/>
            <a:pathLst>
              <a:path w="1333143" h="1333143">
                <a:moveTo>
                  <a:pt x="0" y="666571"/>
                </a:moveTo>
                <a:cubicBezTo>
                  <a:pt x="0" y="1034709"/>
                  <a:pt x="298434" y="1333143"/>
                  <a:pt x="666571" y="1333143"/>
                </a:cubicBezTo>
                <a:cubicBezTo>
                  <a:pt x="1034709" y="1333143"/>
                  <a:pt x="1333143" y="1034709"/>
                  <a:pt x="1333143" y="666571"/>
                </a:cubicBezTo>
                <a:cubicBezTo>
                  <a:pt x="1333143" y="298434"/>
                  <a:pt x="1034709" y="0"/>
                  <a:pt x="666571" y="0"/>
                </a:cubicBezTo>
                <a:cubicBezTo>
                  <a:pt x="298434" y="0"/>
                  <a:pt x="0" y="298434"/>
                  <a:pt x="0" y="666571"/>
                </a:cubicBezTo>
                <a:close/>
              </a:path>
            </a:pathLst>
          </a:custGeom>
          <a:noFill/>
          <a:ln w="13886">
            <a:solidFill>
              <a:srgbClr val="484848"/>
            </a:solidFill>
          </a:ln>
        </p:spPr>
        <p:txBody>
          <a:bodyPr rtlCol="0" anchor="ctr"/>
          <a:lstStyle/>
          <a:p>
            <a:pPr algn="ctr"/>
            <a:endParaRPr sz="2700"/>
          </a:p>
        </p:txBody>
      </p:sp>
      <p:sp>
        <p:nvSpPr>
          <p:cNvPr id="11" name="Rounded Rectangle 10"/>
          <p:cNvSpPr/>
          <p:nvPr/>
        </p:nvSpPr>
        <p:spPr>
          <a:xfrm>
            <a:off x="6257062" y="4424240"/>
            <a:ext cx="638798" cy="638798"/>
          </a:xfrm>
          <a:custGeom>
            <a:avLst/>
            <a:gdLst/>
            <a:ahLst/>
            <a:cxnLst/>
            <a:rect l="0" t="0" r="0" b="0"/>
            <a:pathLst>
              <a:path w="425865" h="425865">
                <a:moveTo>
                  <a:pt x="240539" y="0"/>
                </a:moveTo>
                <a:cubicBezTo>
                  <a:pt x="235670" y="128648"/>
                  <a:pt x="129833" y="222190"/>
                  <a:pt x="0" y="222190"/>
                </a:cubicBezTo>
                <a:moveTo>
                  <a:pt x="203674" y="37031"/>
                </a:moveTo>
                <a:lnTo>
                  <a:pt x="240706" y="0"/>
                </a:lnTo>
                <a:lnTo>
                  <a:pt x="277738" y="37031"/>
                </a:lnTo>
                <a:moveTo>
                  <a:pt x="411959" y="45400"/>
                </a:moveTo>
                <a:cubicBezTo>
                  <a:pt x="414963" y="44017"/>
                  <a:pt x="418477" y="44342"/>
                  <a:pt x="421177" y="46251"/>
                </a:cubicBezTo>
                <a:cubicBezTo>
                  <a:pt x="423877" y="48161"/>
                  <a:pt x="425353" y="51365"/>
                  <a:pt x="425050" y="54658"/>
                </a:cubicBezTo>
                <a:cubicBezTo>
                  <a:pt x="422143" y="90172"/>
                  <a:pt x="408719" y="171790"/>
                  <a:pt x="347080" y="171790"/>
                </a:cubicBezTo>
                <a:cubicBezTo>
                  <a:pt x="317351" y="171242"/>
                  <a:pt x="293537" y="146986"/>
                  <a:pt x="293537" y="117251"/>
                </a:cubicBezTo>
                <a:cubicBezTo>
                  <a:pt x="293537" y="87517"/>
                  <a:pt x="317351" y="63261"/>
                  <a:pt x="347080" y="62713"/>
                </a:cubicBezTo>
                <a:cubicBezTo>
                  <a:pt x="369647" y="61343"/>
                  <a:pt x="391710" y="55456"/>
                  <a:pt x="411959" y="45400"/>
                </a:cubicBezTo>
                <a:close/>
                <a:moveTo>
                  <a:pt x="369891" y="105040"/>
                </a:moveTo>
                <a:cubicBezTo>
                  <a:pt x="339077" y="117011"/>
                  <a:pt x="315117" y="141973"/>
                  <a:pt x="304419" y="173253"/>
                </a:cubicBezTo>
                <a:cubicBezTo>
                  <a:pt x="302063" y="180059"/>
                  <a:pt x="300867" y="187213"/>
                  <a:pt x="300883" y="194416"/>
                </a:cubicBezTo>
                <a:lnTo>
                  <a:pt x="300883" y="425865"/>
                </a:lnTo>
                <a:moveTo>
                  <a:pt x="0" y="425865"/>
                </a:moveTo>
                <a:lnTo>
                  <a:pt x="425865" y="425865"/>
                </a:lnTo>
                <a:moveTo>
                  <a:pt x="4628" y="379575"/>
                </a:moveTo>
                <a:cubicBezTo>
                  <a:pt x="4628" y="379575"/>
                  <a:pt x="41660" y="379575"/>
                  <a:pt x="41660" y="425865"/>
                </a:cubicBezTo>
                <a:cubicBezTo>
                  <a:pt x="41660" y="425865"/>
                  <a:pt x="41660" y="379575"/>
                  <a:pt x="78692" y="379575"/>
                </a:cubicBezTo>
                <a:moveTo>
                  <a:pt x="171271" y="388833"/>
                </a:moveTo>
                <a:cubicBezTo>
                  <a:pt x="176773" y="372873"/>
                  <a:pt x="191441" y="361872"/>
                  <a:pt x="208303" y="361059"/>
                </a:cubicBezTo>
                <a:moveTo>
                  <a:pt x="162014" y="304845"/>
                </a:moveTo>
                <a:cubicBezTo>
                  <a:pt x="172860" y="315690"/>
                  <a:pt x="172863" y="333275"/>
                  <a:pt x="162019" y="344123"/>
                </a:cubicBezTo>
                <a:cubicBezTo>
                  <a:pt x="151176" y="354971"/>
                  <a:pt x="133592" y="354977"/>
                  <a:pt x="122741" y="344136"/>
                </a:cubicBezTo>
                <a:cubicBezTo>
                  <a:pt x="113221" y="329059"/>
                  <a:pt x="106089" y="312602"/>
                  <a:pt x="101596" y="295346"/>
                </a:cubicBezTo>
                <a:cubicBezTo>
                  <a:pt x="100548" y="292049"/>
                  <a:pt x="101426" y="288442"/>
                  <a:pt x="103873" y="285995"/>
                </a:cubicBezTo>
                <a:cubicBezTo>
                  <a:pt x="106319" y="283548"/>
                  <a:pt x="109926" y="282670"/>
                  <a:pt x="113224" y="283718"/>
                </a:cubicBezTo>
                <a:cubicBezTo>
                  <a:pt x="130476" y="288214"/>
                  <a:pt x="146932" y="295340"/>
                  <a:pt x="162014" y="304845"/>
                </a:cubicBezTo>
                <a:close/>
                <a:moveTo>
                  <a:pt x="161088" y="345080"/>
                </a:moveTo>
                <a:cubicBezTo>
                  <a:pt x="167751" y="355350"/>
                  <a:pt x="171289" y="367333"/>
                  <a:pt x="171271" y="379575"/>
                </a:cubicBezTo>
                <a:lnTo>
                  <a:pt x="171271" y="425865"/>
                </a:lnTo>
                <a:moveTo>
                  <a:pt x="161773" y="217246"/>
                </a:moveTo>
                <a:cubicBezTo>
                  <a:pt x="158535" y="217748"/>
                  <a:pt x="155804" y="219923"/>
                  <a:pt x="154590" y="222966"/>
                </a:cubicBezTo>
                <a:cubicBezTo>
                  <a:pt x="153377" y="226010"/>
                  <a:pt x="153862" y="229467"/>
                  <a:pt x="155866" y="232059"/>
                </a:cubicBezTo>
                <a:cubicBezTo>
                  <a:pt x="174382" y="255667"/>
                  <a:pt x="216765" y="300568"/>
                  <a:pt x="256815" y="274942"/>
                </a:cubicBezTo>
                <a:cubicBezTo>
                  <a:pt x="277139" y="261993"/>
                  <a:pt x="283116" y="235018"/>
                  <a:pt x="270163" y="214696"/>
                </a:cubicBezTo>
                <a:cubicBezTo>
                  <a:pt x="257210" y="194374"/>
                  <a:pt x="230234" y="188403"/>
                  <a:pt x="209914" y="201360"/>
                </a:cubicBezTo>
                <a:cubicBezTo>
                  <a:pt x="195061" y="209753"/>
                  <a:pt x="178705" y="215151"/>
                  <a:pt x="161773" y="217246"/>
                </a:cubicBezTo>
                <a:close/>
                <a:moveTo>
                  <a:pt x="215895" y="237855"/>
                </a:moveTo>
                <a:cubicBezTo>
                  <a:pt x="241833" y="232688"/>
                  <a:pt x="268730" y="239226"/>
                  <a:pt x="289403" y="255722"/>
                </a:cubicBezTo>
                <a:cubicBezTo>
                  <a:pt x="293914" y="259305"/>
                  <a:pt x="297794" y="263617"/>
                  <a:pt x="300883" y="268480"/>
                </a:cubicBezTo>
              </a:path>
            </a:pathLst>
          </a:custGeom>
          <a:noFill/>
          <a:ln w="13886">
            <a:solidFill>
              <a:srgbClr val="7F64EA"/>
            </a:solidFill>
          </a:ln>
        </p:spPr>
        <p:txBody>
          <a:bodyPr rtlCol="0" anchor="ctr"/>
          <a:lstStyle/>
          <a:p>
            <a:pPr algn="ctr"/>
            <a:endParaRPr sz="2700"/>
          </a:p>
        </p:txBody>
      </p:sp>
      <p:sp>
        <p:nvSpPr>
          <p:cNvPr id="12" name="TextBox 11"/>
          <p:cNvSpPr txBox="1"/>
          <p:nvPr/>
        </p:nvSpPr>
        <p:spPr>
          <a:xfrm>
            <a:off x="10543869" y="2463325"/>
            <a:ext cx="1090042" cy="646331"/>
          </a:xfrm>
          <a:prstGeom prst="rect">
            <a:avLst/>
          </a:prstGeom>
          <a:noFill/>
          <a:ln>
            <a:noFill/>
          </a:ln>
        </p:spPr>
        <p:txBody>
          <a:bodyPr wrap="none" lIns="0" tIns="0" rIns="0" bIns="0" anchor="t">
            <a:spAutoFit/>
          </a:bodyPr>
          <a:lstStyle/>
          <a:p>
            <a:pPr algn="l"/>
            <a:r>
              <a:rPr sz="2100">
                <a:solidFill>
                  <a:srgbClr val="484848"/>
                </a:solidFill>
                <a:latin typeface="Roboto"/>
              </a:rPr>
              <a:t>Digital
Adoption</a:t>
            </a:r>
          </a:p>
        </p:txBody>
      </p:sp>
      <p:sp>
        <p:nvSpPr>
          <p:cNvPr id="13" name="Rounded Rectangle 12"/>
          <p:cNvSpPr/>
          <p:nvPr/>
        </p:nvSpPr>
        <p:spPr>
          <a:xfrm>
            <a:off x="9531778" y="2834717"/>
            <a:ext cx="652685" cy="652685"/>
          </a:xfrm>
          <a:custGeom>
            <a:avLst/>
            <a:gdLst/>
            <a:ahLst/>
            <a:cxnLst/>
            <a:rect l="0" t="0" r="0" b="0"/>
            <a:pathLst>
              <a:path w="435123" h="435123">
                <a:moveTo>
                  <a:pt x="0" y="0"/>
                </a:moveTo>
                <a:moveTo>
                  <a:pt x="435123" y="435123"/>
                </a:moveTo>
                <a:lnTo>
                  <a:pt x="392536" y="366059"/>
                </a:lnTo>
                <a:cubicBezTo>
                  <a:pt x="390133" y="362854"/>
                  <a:pt x="388833" y="358955"/>
                  <a:pt x="388833" y="354949"/>
                </a:cubicBezTo>
                <a:lnTo>
                  <a:pt x="388833" y="276627"/>
                </a:lnTo>
                <a:cubicBezTo>
                  <a:pt x="388833" y="250705"/>
                  <a:pt x="324028" y="185158"/>
                  <a:pt x="324028" y="185158"/>
                </a:cubicBezTo>
                <a:moveTo>
                  <a:pt x="61843" y="160532"/>
                </a:moveTo>
                <a:cubicBezTo>
                  <a:pt x="61841" y="174134"/>
                  <a:pt x="72867" y="185162"/>
                  <a:pt x="86469" y="185162"/>
                </a:cubicBezTo>
                <a:cubicBezTo>
                  <a:pt x="100071" y="185162"/>
                  <a:pt x="111097" y="174134"/>
                  <a:pt x="111095" y="160532"/>
                </a:cubicBezTo>
                <a:cubicBezTo>
                  <a:pt x="111097" y="146930"/>
                  <a:pt x="100071" y="135903"/>
                  <a:pt x="86469" y="135903"/>
                </a:cubicBezTo>
                <a:cubicBezTo>
                  <a:pt x="72867" y="135903"/>
                  <a:pt x="61841" y="146930"/>
                  <a:pt x="61843" y="160532"/>
                </a:cubicBezTo>
                <a:moveTo>
                  <a:pt x="142016" y="104985"/>
                </a:moveTo>
                <a:cubicBezTo>
                  <a:pt x="142014" y="118587"/>
                  <a:pt x="153041" y="129614"/>
                  <a:pt x="166642" y="129614"/>
                </a:cubicBezTo>
                <a:cubicBezTo>
                  <a:pt x="180244" y="129614"/>
                  <a:pt x="191271" y="118587"/>
                  <a:pt x="191269" y="104985"/>
                </a:cubicBezTo>
                <a:cubicBezTo>
                  <a:pt x="191271" y="91383"/>
                  <a:pt x="180244" y="80355"/>
                  <a:pt x="166642" y="80355"/>
                </a:cubicBezTo>
                <a:cubicBezTo>
                  <a:pt x="153041" y="80355"/>
                  <a:pt x="142014" y="91383"/>
                  <a:pt x="142016" y="104985"/>
                </a:cubicBezTo>
                <a:moveTo>
                  <a:pt x="222190" y="160532"/>
                </a:moveTo>
                <a:cubicBezTo>
                  <a:pt x="222188" y="174134"/>
                  <a:pt x="233214" y="185162"/>
                  <a:pt x="246816" y="185162"/>
                </a:cubicBezTo>
                <a:cubicBezTo>
                  <a:pt x="260418" y="185162"/>
                  <a:pt x="271444" y="174134"/>
                  <a:pt x="271442" y="160532"/>
                </a:cubicBezTo>
                <a:cubicBezTo>
                  <a:pt x="271444" y="146930"/>
                  <a:pt x="260418" y="135903"/>
                  <a:pt x="246816" y="135903"/>
                </a:cubicBezTo>
                <a:cubicBezTo>
                  <a:pt x="233214" y="135903"/>
                  <a:pt x="222188" y="146930"/>
                  <a:pt x="222190" y="160532"/>
                </a:cubicBezTo>
                <a:moveTo>
                  <a:pt x="0" y="0"/>
                </a:moveTo>
                <a:moveTo>
                  <a:pt x="144609" y="186454"/>
                </a:moveTo>
                <a:lnTo>
                  <a:pt x="122760" y="223486"/>
                </a:lnTo>
                <a:cubicBezTo>
                  <a:pt x="118896" y="231129"/>
                  <a:pt x="119281" y="240231"/>
                  <a:pt x="123776" y="247521"/>
                </a:cubicBezTo>
                <a:cubicBezTo>
                  <a:pt x="128270" y="254810"/>
                  <a:pt x="136230" y="259241"/>
                  <a:pt x="144794" y="259222"/>
                </a:cubicBezTo>
                <a:lnTo>
                  <a:pt x="188491" y="259222"/>
                </a:lnTo>
                <a:cubicBezTo>
                  <a:pt x="197055" y="259241"/>
                  <a:pt x="205014" y="254810"/>
                  <a:pt x="209509" y="247521"/>
                </a:cubicBezTo>
                <a:cubicBezTo>
                  <a:pt x="214004" y="240231"/>
                  <a:pt x="214389" y="231129"/>
                  <a:pt x="210525" y="223486"/>
                </a:cubicBezTo>
                <a:lnTo>
                  <a:pt x="188676" y="186454"/>
                </a:lnTo>
                <a:cubicBezTo>
                  <a:pt x="184508" y="178103"/>
                  <a:pt x="175976" y="172826"/>
                  <a:pt x="166642" y="172826"/>
                </a:cubicBezTo>
                <a:cubicBezTo>
                  <a:pt x="157309" y="172826"/>
                  <a:pt x="148777" y="178103"/>
                  <a:pt x="144609" y="186454"/>
                </a:cubicBezTo>
                <a:close/>
                <a:moveTo>
                  <a:pt x="286996" y="435123"/>
                </a:moveTo>
                <a:lnTo>
                  <a:pt x="46289" y="435123"/>
                </a:lnTo>
                <a:cubicBezTo>
                  <a:pt x="25837" y="435123"/>
                  <a:pt x="9257" y="418543"/>
                  <a:pt x="9257" y="398091"/>
                </a:cubicBezTo>
                <a:lnTo>
                  <a:pt x="9257" y="46289"/>
                </a:lnTo>
                <a:cubicBezTo>
                  <a:pt x="9257" y="25837"/>
                  <a:pt x="25837" y="9257"/>
                  <a:pt x="46289" y="9257"/>
                </a:cubicBezTo>
                <a:lnTo>
                  <a:pt x="286996" y="9257"/>
                </a:lnTo>
                <a:cubicBezTo>
                  <a:pt x="307448" y="9257"/>
                  <a:pt x="324028" y="25837"/>
                  <a:pt x="324028" y="46289"/>
                </a:cubicBezTo>
                <a:lnTo>
                  <a:pt x="324028" y="296254"/>
                </a:lnTo>
                <a:lnTo>
                  <a:pt x="282367" y="263851"/>
                </a:lnTo>
                <a:cubicBezTo>
                  <a:pt x="274659" y="256275"/>
                  <a:pt x="262301" y="256275"/>
                  <a:pt x="254593" y="263851"/>
                </a:cubicBezTo>
                <a:cubicBezTo>
                  <a:pt x="248421" y="272080"/>
                  <a:pt x="248421" y="283395"/>
                  <a:pt x="254593" y="291625"/>
                </a:cubicBezTo>
                <a:lnTo>
                  <a:pt x="305512" y="351801"/>
                </a:lnTo>
                <a:lnTo>
                  <a:pt x="305512" y="370317"/>
                </a:lnTo>
                <a:cubicBezTo>
                  <a:pt x="305512" y="388833"/>
                  <a:pt x="342543" y="435123"/>
                  <a:pt x="342543" y="435123"/>
                </a:cubicBezTo>
                <a:moveTo>
                  <a:pt x="9257" y="351801"/>
                </a:moveTo>
                <a:lnTo>
                  <a:pt x="253297" y="351801"/>
                </a:lnTo>
                <a:moveTo>
                  <a:pt x="171271" y="393462"/>
                </a:moveTo>
                <a:moveTo>
                  <a:pt x="166642" y="388833"/>
                </a:moveTo>
                <a:cubicBezTo>
                  <a:pt x="169199" y="388833"/>
                  <a:pt x="171271" y="390906"/>
                  <a:pt x="171271" y="393462"/>
                </a:cubicBezTo>
                <a:moveTo>
                  <a:pt x="162014" y="393462"/>
                </a:moveTo>
                <a:cubicBezTo>
                  <a:pt x="162014" y="390906"/>
                  <a:pt x="164086" y="388833"/>
                  <a:pt x="166642" y="388833"/>
                </a:cubicBezTo>
                <a:moveTo>
                  <a:pt x="162014" y="393462"/>
                </a:moveTo>
                <a:cubicBezTo>
                  <a:pt x="162014" y="396019"/>
                  <a:pt x="164086" y="398091"/>
                  <a:pt x="166642" y="398091"/>
                </a:cubicBezTo>
                <a:moveTo>
                  <a:pt x="166642" y="398091"/>
                </a:moveTo>
                <a:cubicBezTo>
                  <a:pt x="169199" y="398091"/>
                  <a:pt x="171271" y="396019"/>
                  <a:pt x="171271" y="393462"/>
                </a:cubicBezTo>
              </a:path>
            </a:pathLst>
          </a:custGeom>
          <a:noFill/>
          <a:ln w="13886">
            <a:solidFill>
              <a:srgbClr val="3CC583"/>
            </a:solidFill>
          </a:ln>
        </p:spPr>
        <p:txBody>
          <a:bodyPr rtlCol="0" anchor="ctr"/>
          <a:lstStyle/>
          <a:p>
            <a:pPr algn="ctr"/>
            <a:endParaRPr sz="2700"/>
          </a:p>
        </p:txBody>
      </p:sp>
      <p:sp>
        <p:nvSpPr>
          <p:cNvPr id="14" name="Rounded Rectangle 13"/>
          <p:cNvSpPr/>
          <p:nvPr/>
        </p:nvSpPr>
        <p:spPr>
          <a:xfrm>
            <a:off x="10791404" y="4418283"/>
            <a:ext cx="636672" cy="638253"/>
          </a:xfrm>
          <a:custGeom>
            <a:avLst/>
            <a:gdLst/>
            <a:ahLst/>
            <a:cxnLst/>
            <a:rect l="0" t="0" r="0" b="0"/>
            <a:pathLst>
              <a:path w="424448" h="425502">
                <a:moveTo>
                  <a:pt x="0" y="0"/>
                </a:moveTo>
                <a:moveTo>
                  <a:pt x="323037" y="18879"/>
                </a:moveTo>
                <a:lnTo>
                  <a:pt x="221929" y="69566"/>
                </a:lnTo>
                <a:lnTo>
                  <a:pt x="221929" y="191217"/>
                </a:lnTo>
                <a:lnTo>
                  <a:pt x="323037" y="241904"/>
                </a:lnTo>
                <a:lnTo>
                  <a:pt x="424147" y="191217"/>
                </a:lnTo>
                <a:lnTo>
                  <a:pt x="424147" y="69566"/>
                </a:lnTo>
                <a:close/>
                <a:moveTo>
                  <a:pt x="0" y="0"/>
                </a:moveTo>
                <a:moveTo>
                  <a:pt x="221833" y="71316"/>
                </a:moveTo>
                <a:lnTo>
                  <a:pt x="323385" y="123722"/>
                </a:lnTo>
                <a:lnTo>
                  <a:pt x="424448" y="71316"/>
                </a:lnTo>
                <a:moveTo>
                  <a:pt x="0" y="0"/>
                </a:moveTo>
                <a:moveTo>
                  <a:pt x="322909" y="241908"/>
                </a:moveTo>
                <a:lnTo>
                  <a:pt x="322909" y="123714"/>
                </a:lnTo>
                <a:moveTo>
                  <a:pt x="0" y="0"/>
                </a:moveTo>
                <a:moveTo>
                  <a:pt x="78002" y="196992"/>
                </a:moveTo>
                <a:lnTo>
                  <a:pt x="78002" y="425502"/>
                </a:lnTo>
                <a:moveTo>
                  <a:pt x="0" y="0"/>
                </a:moveTo>
                <a:moveTo>
                  <a:pt x="296889" y="292956"/>
                </a:moveTo>
                <a:lnTo>
                  <a:pt x="296889" y="425502"/>
                </a:lnTo>
                <a:moveTo>
                  <a:pt x="170481" y="196992"/>
                </a:moveTo>
                <a:lnTo>
                  <a:pt x="42783" y="196992"/>
                </a:lnTo>
                <a:cubicBezTo>
                  <a:pt x="30163" y="196992"/>
                  <a:pt x="19932" y="207224"/>
                  <a:pt x="19932" y="219844"/>
                </a:cubicBezTo>
                <a:lnTo>
                  <a:pt x="19932" y="402652"/>
                </a:lnTo>
                <a:cubicBezTo>
                  <a:pt x="19932" y="415272"/>
                  <a:pt x="30163" y="425502"/>
                  <a:pt x="42783" y="425502"/>
                </a:cubicBezTo>
                <a:lnTo>
                  <a:pt x="339846" y="425502"/>
                </a:lnTo>
                <a:cubicBezTo>
                  <a:pt x="352466" y="425502"/>
                  <a:pt x="362696" y="415272"/>
                  <a:pt x="362696" y="402652"/>
                </a:cubicBezTo>
                <a:lnTo>
                  <a:pt x="362696" y="292380"/>
                </a:lnTo>
              </a:path>
            </a:pathLst>
          </a:custGeom>
          <a:noFill/>
          <a:ln w="13886">
            <a:solidFill>
              <a:srgbClr val="92BD39"/>
            </a:solidFill>
          </a:ln>
        </p:spPr>
        <p:txBody>
          <a:bodyPr rtlCol="0" anchor="ctr"/>
          <a:lstStyle/>
          <a:p>
            <a:pPr algn="ctr"/>
            <a:endParaRPr sz="2700"/>
          </a:p>
        </p:txBody>
      </p:sp>
      <p:sp>
        <p:nvSpPr>
          <p:cNvPr id="15" name="TextBox 14"/>
          <p:cNvSpPr txBox="1"/>
          <p:nvPr/>
        </p:nvSpPr>
        <p:spPr>
          <a:xfrm>
            <a:off x="8207719" y="8295830"/>
            <a:ext cx="1284006" cy="646331"/>
          </a:xfrm>
          <a:prstGeom prst="rect">
            <a:avLst/>
          </a:prstGeom>
          <a:noFill/>
          <a:ln>
            <a:noFill/>
          </a:ln>
        </p:spPr>
        <p:txBody>
          <a:bodyPr wrap="none" lIns="0" tIns="0" rIns="0" bIns="0" anchor="t">
            <a:spAutoFit/>
          </a:bodyPr>
          <a:lstStyle/>
          <a:p>
            <a:pPr algn="ctr"/>
            <a:r>
              <a:rPr sz="2100">
                <a:solidFill>
                  <a:srgbClr val="484848"/>
                </a:solidFill>
                <a:latin typeface="Roboto"/>
              </a:rPr>
              <a:t>Paperwork
Reduction</a:t>
            </a:r>
          </a:p>
        </p:txBody>
      </p:sp>
      <p:sp>
        <p:nvSpPr>
          <p:cNvPr id="16" name="Rounded Rectangle 15"/>
          <p:cNvSpPr/>
          <p:nvPr/>
        </p:nvSpPr>
        <p:spPr>
          <a:xfrm>
            <a:off x="8391398" y="4789328"/>
            <a:ext cx="916536" cy="958197"/>
          </a:xfrm>
          <a:custGeom>
            <a:avLst/>
            <a:gdLst/>
            <a:ahLst/>
            <a:cxnLst/>
            <a:rect l="0" t="0" r="0" b="0"/>
            <a:pathLst>
              <a:path w="611024" h="638798">
                <a:moveTo>
                  <a:pt x="305567" y="0"/>
                </a:moveTo>
                <a:lnTo>
                  <a:pt x="305567" y="333285"/>
                </a:lnTo>
                <a:moveTo>
                  <a:pt x="152811" y="152756"/>
                </a:moveTo>
                <a:lnTo>
                  <a:pt x="305567" y="0"/>
                </a:lnTo>
                <a:lnTo>
                  <a:pt x="458323" y="152756"/>
                </a:lnTo>
                <a:moveTo>
                  <a:pt x="0" y="527702"/>
                </a:moveTo>
                <a:cubicBezTo>
                  <a:pt x="0" y="589059"/>
                  <a:pt x="49739" y="638798"/>
                  <a:pt x="111095" y="638798"/>
                </a:cubicBezTo>
                <a:lnTo>
                  <a:pt x="499928" y="638798"/>
                </a:lnTo>
                <a:cubicBezTo>
                  <a:pt x="561285" y="638798"/>
                  <a:pt x="611024" y="589059"/>
                  <a:pt x="611024" y="527702"/>
                </a:cubicBezTo>
                <a:cubicBezTo>
                  <a:pt x="611024" y="466346"/>
                  <a:pt x="561285" y="416607"/>
                  <a:pt x="499928" y="416607"/>
                </a:cubicBezTo>
                <a:lnTo>
                  <a:pt x="111095" y="416607"/>
                </a:lnTo>
                <a:cubicBezTo>
                  <a:pt x="49739" y="416607"/>
                  <a:pt x="0" y="466346"/>
                  <a:pt x="0" y="527702"/>
                </a:cubicBezTo>
                <a:close/>
                <a:moveTo>
                  <a:pt x="277738" y="527702"/>
                </a:moveTo>
                <a:lnTo>
                  <a:pt x="83321" y="527702"/>
                </a:lnTo>
                <a:moveTo>
                  <a:pt x="361059" y="527702"/>
                </a:moveTo>
                <a:cubicBezTo>
                  <a:pt x="361059" y="512363"/>
                  <a:pt x="373494" y="499928"/>
                  <a:pt x="388833" y="499928"/>
                </a:cubicBezTo>
                <a:cubicBezTo>
                  <a:pt x="404172" y="499928"/>
                  <a:pt x="416607" y="512363"/>
                  <a:pt x="416607" y="527702"/>
                </a:cubicBezTo>
                <a:cubicBezTo>
                  <a:pt x="416607" y="543041"/>
                  <a:pt x="404172" y="555476"/>
                  <a:pt x="388833" y="555476"/>
                </a:cubicBezTo>
                <a:cubicBezTo>
                  <a:pt x="373494" y="555476"/>
                  <a:pt x="361059" y="543041"/>
                  <a:pt x="361059" y="527702"/>
                </a:cubicBezTo>
                <a:close/>
                <a:moveTo>
                  <a:pt x="472155" y="527702"/>
                </a:moveTo>
                <a:cubicBezTo>
                  <a:pt x="472155" y="512363"/>
                  <a:pt x="484589" y="499928"/>
                  <a:pt x="499928" y="499928"/>
                </a:cubicBezTo>
                <a:cubicBezTo>
                  <a:pt x="515268" y="499928"/>
                  <a:pt x="527702" y="512363"/>
                  <a:pt x="527702" y="527702"/>
                </a:cubicBezTo>
                <a:cubicBezTo>
                  <a:pt x="527702" y="543041"/>
                  <a:pt x="515268" y="555476"/>
                  <a:pt x="499928" y="555476"/>
                </a:cubicBezTo>
                <a:cubicBezTo>
                  <a:pt x="484589" y="555476"/>
                  <a:pt x="472155" y="543041"/>
                  <a:pt x="472155" y="527702"/>
                </a:cubicBezTo>
                <a:close/>
              </a:path>
            </a:pathLst>
          </a:custGeom>
          <a:noFill/>
          <a:ln w="13886">
            <a:solidFill>
              <a:srgbClr val="484848"/>
            </a:solidFill>
          </a:ln>
        </p:spPr>
        <p:txBody>
          <a:bodyPr rtlCol="0" anchor="ctr"/>
          <a:lstStyle/>
          <a:p>
            <a:pPr algn="ctr"/>
            <a:endParaRPr sz="2700"/>
          </a:p>
        </p:txBody>
      </p:sp>
      <p:sp>
        <p:nvSpPr>
          <p:cNvPr id="17" name="TextBox 16"/>
          <p:cNvSpPr txBox="1"/>
          <p:nvPr/>
        </p:nvSpPr>
        <p:spPr>
          <a:xfrm>
            <a:off x="11793692" y="4296398"/>
            <a:ext cx="1731243" cy="646331"/>
          </a:xfrm>
          <a:prstGeom prst="rect">
            <a:avLst/>
          </a:prstGeom>
          <a:noFill/>
          <a:ln>
            <a:noFill/>
          </a:ln>
        </p:spPr>
        <p:txBody>
          <a:bodyPr wrap="none" lIns="0" tIns="0" rIns="0" bIns="0" anchor="t">
            <a:spAutoFit/>
          </a:bodyPr>
          <a:lstStyle/>
          <a:p>
            <a:pPr algn="l"/>
            <a:r>
              <a:rPr sz="2100">
                <a:solidFill>
                  <a:srgbClr val="484848"/>
                </a:solidFill>
                <a:latin typeface="Roboto"/>
              </a:rPr>
              <a:t>Drag-and-Drop
Components</a:t>
            </a:r>
          </a:p>
        </p:txBody>
      </p:sp>
      <p:sp>
        <p:nvSpPr>
          <p:cNvPr id="18" name="TextBox 17"/>
          <p:cNvSpPr txBox="1"/>
          <p:nvPr/>
        </p:nvSpPr>
        <p:spPr>
          <a:xfrm>
            <a:off x="5687083" y="2796611"/>
            <a:ext cx="1468351" cy="323165"/>
          </a:xfrm>
          <a:prstGeom prst="rect">
            <a:avLst/>
          </a:prstGeom>
          <a:noFill/>
          <a:ln>
            <a:noFill/>
          </a:ln>
        </p:spPr>
        <p:txBody>
          <a:bodyPr wrap="none" lIns="0" tIns="0" rIns="0" bIns="0" anchor="t">
            <a:spAutoFit/>
          </a:bodyPr>
          <a:lstStyle/>
          <a:p>
            <a:pPr algn="r"/>
            <a:r>
              <a:rPr sz="2100">
                <a:solidFill>
                  <a:srgbClr val="484848"/>
                </a:solidFill>
                <a:latin typeface="Roboto"/>
              </a:rPr>
              <a:t>Affordability</a:t>
            </a:r>
          </a:p>
        </p:txBody>
      </p:sp>
      <p:sp>
        <p:nvSpPr>
          <p:cNvPr id="19" name="Rounded Rectangle 18"/>
          <p:cNvSpPr/>
          <p:nvPr/>
        </p:nvSpPr>
        <p:spPr>
          <a:xfrm>
            <a:off x="7522202" y="2845679"/>
            <a:ext cx="638936" cy="636944"/>
          </a:xfrm>
          <a:custGeom>
            <a:avLst/>
            <a:gdLst/>
            <a:ahLst/>
            <a:cxnLst/>
            <a:rect l="0" t="0" r="0" b="0"/>
            <a:pathLst>
              <a:path w="425957" h="424629">
                <a:moveTo>
                  <a:pt x="74" y="183923"/>
                </a:moveTo>
                <a:cubicBezTo>
                  <a:pt x="74" y="194149"/>
                  <a:pt x="41523" y="202439"/>
                  <a:pt x="92653" y="202439"/>
                </a:cubicBezTo>
                <a:cubicBezTo>
                  <a:pt x="143783" y="202439"/>
                  <a:pt x="185232" y="194149"/>
                  <a:pt x="185232" y="183923"/>
                </a:cubicBezTo>
                <a:cubicBezTo>
                  <a:pt x="185232" y="173697"/>
                  <a:pt x="143783" y="165407"/>
                  <a:pt x="92653" y="165407"/>
                </a:cubicBezTo>
                <a:cubicBezTo>
                  <a:pt x="41523" y="165407"/>
                  <a:pt x="74" y="173697"/>
                  <a:pt x="74" y="183923"/>
                </a:cubicBezTo>
                <a:close/>
                <a:moveTo>
                  <a:pt x="185158" y="183923"/>
                </a:moveTo>
                <a:lnTo>
                  <a:pt x="185158" y="239471"/>
                </a:lnTo>
                <a:cubicBezTo>
                  <a:pt x="185158" y="249710"/>
                  <a:pt x="143720" y="257986"/>
                  <a:pt x="92579" y="257986"/>
                </a:cubicBezTo>
                <a:cubicBezTo>
                  <a:pt x="41438" y="257986"/>
                  <a:pt x="0" y="249710"/>
                  <a:pt x="0" y="239471"/>
                </a:cubicBezTo>
                <a:lnTo>
                  <a:pt x="0" y="183923"/>
                </a:lnTo>
                <a:moveTo>
                  <a:pt x="185158" y="239471"/>
                </a:moveTo>
                <a:lnTo>
                  <a:pt x="185158" y="295018"/>
                </a:lnTo>
                <a:cubicBezTo>
                  <a:pt x="185158" y="305257"/>
                  <a:pt x="143720" y="313534"/>
                  <a:pt x="92579" y="313534"/>
                </a:cubicBezTo>
                <a:cubicBezTo>
                  <a:pt x="41438" y="313534"/>
                  <a:pt x="0" y="305257"/>
                  <a:pt x="0" y="295018"/>
                </a:cubicBezTo>
                <a:lnTo>
                  <a:pt x="0" y="239471"/>
                </a:lnTo>
                <a:moveTo>
                  <a:pt x="185158" y="295018"/>
                </a:moveTo>
                <a:lnTo>
                  <a:pt x="185158" y="350566"/>
                </a:lnTo>
                <a:cubicBezTo>
                  <a:pt x="185158" y="360805"/>
                  <a:pt x="143720" y="369082"/>
                  <a:pt x="92579" y="369082"/>
                </a:cubicBezTo>
                <a:cubicBezTo>
                  <a:pt x="41438" y="369082"/>
                  <a:pt x="0" y="360805"/>
                  <a:pt x="0" y="350566"/>
                </a:cubicBezTo>
                <a:lnTo>
                  <a:pt x="0" y="295018"/>
                </a:lnTo>
                <a:moveTo>
                  <a:pt x="185158" y="350566"/>
                </a:moveTo>
                <a:lnTo>
                  <a:pt x="185158" y="406114"/>
                </a:lnTo>
                <a:cubicBezTo>
                  <a:pt x="185158" y="416353"/>
                  <a:pt x="143720" y="424629"/>
                  <a:pt x="92579" y="424629"/>
                </a:cubicBezTo>
                <a:cubicBezTo>
                  <a:pt x="41438" y="424629"/>
                  <a:pt x="0" y="416353"/>
                  <a:pt x="0" y="406114"/>
                </a:cubicBezTo>
                <a:lnTo>
                  <a:pt x="0" y="350566"/>
                </a:lnTo>
                <a:moveTo>
                  <a:pt x="71860" y="119099"/>
                </a:moveTo>
                <a:cubicBezTo>
                  <a:pt x="96726" y="65477"/>
                  <a:pt x="159236" y="27371"/>
                  <a:pt x="232355" y="27371"/>
                </a:cubicBezTo>
                <a:cubicBezTo>
                  <a:pt x="251142" y="27373"/>
                  <a:pt x="269838" y="29990"/>
                  <a:pt x="287903" y="35148"/>
                </a:cubicBezTo>
                <a:cubicBezTo>
                  <a:pt x="299440" y="18754"/>
                  <a:pt x="316103" y="6664"/>
                  <a:pt x="335267" y="782"/>
                </a:cubicBezTo>
                <a:cubicBezTo>
                  <a:pt x="338058" y="0"/>
                  <a:pt x="341055" y="569"/>
                  <a:pt x="343364" y="2322"/>
                </a:cubicBezTo>
                <a:cubicBezTo>
                  <a:pt x="345673" y="4075"/>
                  <a:pt x="347028" y="6808"/>
                  <a:pt x="347024" y="9707"/>
                </a:cubicBezTo>
                <a:lnTo>
                  <a:pt x="347024" y="64495"/>
                </a:lnTo>
                <a:cubicBezTo>
                  <a:pt x="366657" y="81696"/>
                  <a:pt x="381496" y="103692"/>
                  <a:pt x="390092" y="128338"/>
                </a:cubicBezTo>
                <a:lnTo>
                  <a:pt x="407442" y="128338"/>
                </a:lnTo>
                <a:cubicBezTo>
                  <a:pt x="417668" y="128338"/>
                  <a:pt x="425957" y="136628"/>
                  <a:pt x="425957" y="146854"/>
                </a:cubicBezTo>
                <a:lnTo>
                  <a:pt x="425957" y="202402"/>
                </a:lnTo>
                <a:cubicBezTo>
                  <a:pt x="425957" y="212628"/>
                  <a:pt x="417668" y="220918"/>
                  <a:pt x="407442" y="220918"/>
                </a:cubicBezTo>
                <a:lnTo>
                  <a:pt x="390111" y="220918"/>
                </a:lnTo>
                <a:cubicBezTo>
                  <a:pt x="380361" y="245190"/>
                  <a:pt x="363560" y="265983"/>
                  <a:pt x="341877" y="280613"/>
                </a:cubicBezTo>
                <a:lnTo>
                  <a:pt x="356838" y="321181"/>
                </a:lnTo>
                <a:cubicBezTo>
                  <a:pt x="362318" y="336036"/>
                  <a:pt x="354717" y="352520"/>
                  <a:pt x="339861" y="357997"/>
                </a:cubicBezTo>
                <a:cubicBezTo>
                  <a:pt x="325005" y="363474"/>
                  <a:pt x="308522" y="355869"/>
                  <a:pt x="303049" y="341012"/>
                </a:cubicBezTo>
                <a:lnTo>
                  <a:pt x="289958" y="305554"/>
                </a:lnTo>
                <a:cubicBezTo>
                  <a:pt x="271276" y="311161"/>
                  <a:pt x="251879" y="314024"/>
                  <a:pt x="232374" y="314053"/>
                </a:cubicBezTo>
                <a:moveTo>
                  <a:pt x="310215" y="119117"/>
                </a:moveTo>
                <a:cubicBezTo>
                  <a:pt x="307658" y="119117"/>
                  <a:pt x="305586" y="121190"/>
                  <a:pt x="305586" y="123746"/>
                </a:cubicBezTo>
                <a:cubicBezTo>
                  <a:pt x="305586" y="126303"/>
                  <a:pt x="307658" y="128375"/>
                  <a:pt x="310215" y="128375"/>
                </a:cubicBezTo>
                <a:cubicBezTo>
                  <a:pt x="312771" y="128375"/>
                  <a:pt x="314844" y="126303"/>
                  <a:pt x="314844" y="123746"/>
                </a:cubicBezTo>
                <a:cubicBezTo>
                  <a:pt x="314844" y="121190"/>
                  <a:pt x="312771" y="119117"/>
                  <a:pt x="310215" y="119117"/>
                </a:cubicBezTo>
                <a:moveTo>
                  <a:pt x="138869" y="100601"/>
                </a:moveTo>
                <a:cubicBezTo>
                  <a:pt x="158059" y="79433"/>
                  <a:pt x="184483" y="66221"/>
                  <a:pt x="212932" y="63570"/>
                </a:cubicBezTo>
              </a:path>
            </a:pathLst>
          </a:custGeom>
          <a:noFill/>
          <a:ln w="13886">
            <a:solidFill>
              <a:srgbClr val="E0CB15"/>
            </a:solidFill>
          </a:ln>
        </p:spPr>
        <p:txBody>
          <a:bodyPr rtlCol="0" anchor="ctr"/>
          <a:lstStyle/>
          <a:p>
            <a:pPr algn="ctr"/>
            <a:endParaRPr sz="2700"/>
          </a:p>
        </p:txBody>
      </p:sp>
      <p:sp>
        <p:nvSpPr>
          <p:cNvPr id="20" name="Rounded Rectangle 19"/>
          <p:cNvSpPr/>
          <p:nvPr/>
        </p:nvSpPr>
        <p:spPr>
          <a:xfrm>
            <a:off x="6701902" y="6398183"/>
            <a:ext cx="638798" cy="638798"/>
          </a:xfrm>
          <a:custGeom>
            <a:avLst/>
            <a:gdLst/>
            <a:ahLst/>
            <a:cxnLst/>
            <a:rect l="0" t="0" r="0" b="0"/>
            <a:pathLst>
              <a:path w="425865" h="425865">
                <a:moveTo>
                  <a:pt x="240706" y="120353"/>
                </a:moveTo>
                <a:cubicBezTo>
                  <a:pt x="240706" y="156144"/>
                  <a:pt x="269720" y="185158"/>
                  <a:pt x="305512" y="185158"/>
                </a:cubicBezTo>
                <a:cubicBezTo>
                  <a:pt x="341303" y="185158"/>
                  <a:pt x="370317" y="156144"/>
                  <a:pt x="370317" y="120353"/>
                </a:cubicBezTo>
                <a:cubicBezTo>
                  <a:pt x="370317" y="84562"/>
                  <a:pt x="341303" y="55547"/>
                  <a:pt x="305512" y="55547"/>
                </a:cubicBezTo>
                <a:cubicBezTo>
                  <a:pt x="269720" y="55547"/>
                  <a:pt x="240706" y="84562"/>
                  <a:pt x="240706" y="120353"/>
                </a:cubicBezTo>
                <a:moveTo>
                  <a:pt x="55547" y="370317"/>
                </a:moveTo>
                <a:lnTo>
                  <a:pt x="96282" y="313233"/>
                </a:lnTo>
                <a:cubicBezTo>
                  <a:pt x="97729" y="311207"/>
                  <a:pt x="99931" y="309850"/>
                  <a:pt x="102390" y="309467"/>
                </a:cubicBezTo>
                <a:cubicBezTo>
                  <a:pt x="104850" y="309083"/>
                  <a:pt x="107360" y="309707"/>
                  <a:pt x="109354" y="311196"/>
                </a:cubicBezTo>
                <a:lnTo>
                  <a:pt x="131462" y="327731"/>
                </a:lnTo>
                <a:cubicBezTo>
                  <a:pt x="135553" y="330798"/>
                  <a:pt x="141356" y="329969"/>
                  <a:pt x="144423" y="325879"/>
                </a:cubicBezTo>
                <a:lnTo>
                  <a:pt x="194416" y="259222"/>
                </a:lnTo>
                <a:moveTo>
                  <a:pt x="369836" y="112483"/>
                </a:moveTo>
                <a:lnTo>
                  <a:pt x="305512" y="120353"/>
                </a:lnTo>
                <a:lnTo>
                  <a:pt x="319417" y="57047"/>
                </a:lnTo>
                <a:moveTo>
                  <a:pt x="268480" y="240706"/>
                </a:moveTo>
                <a:cubicBezTo>
                  <a:pt x="259222" y="240706"/>
                  <a:pt x="259222" y="249964"/>
                  <a:pt x="259222" y="249964"/>
                </a:cubicBezTo>
                <a:lnTo>
                  <a:pt x="259222" y="361059"/>
                </a:lnTo>
                <a:cubicBezTo>
                  <a:pt x="259222" y="370317"/>
                  <a:pt x="268480" y="370317"/>
                  <a:pt x="268480" y="370317"/>
                </a:cubicBezTo>
                <a:lnTo>
                  <a:pt x="361059" y="370317"/>
                </a:lnTo>
                <a:cubicBezTo>
                  <a:pt x="370317" y="370317"/>
                  <a:pt x="370317" y="361059"/>
                  <a:pt x="370317" y="361059"/>
                </a:cubicBezTo>
                <a:lnTo>
                  <a:pt x="370317" y="249964"/>
                </a:lnTo>
                <a:cubicBezTo>
                  <a:pt x="370317" y="240706"/>
                  <a:pt x="361059" y="240706"/>
                  <a:pt x="361059" y="240706"/>
                </a:cubicBezTo>
                <a:lnTo>
                  <a:pt x="268480" y="240706"/>
                </a:lnTo>
                <a:moveTo>
                  <a:pt x="296254" y="296254"/>
                </a:moveTo>
                <a:lnTo>
                  <a:pt x="333285" y="296254"/>
                </a:lnTo>
                <a:moveTo>
                  <a:pt x="296254" y="333285"/>
                </a:moveTo>
                <a:lnTo>
                  <a:pt x="314769" y="333285"/>
                </a:lnTo>
                <a:moveTo>
                  <a:pt x="64805" y="55547"/>
                </a:moveTo>
                <a:cubicBezTo>
                  <a:pt x="55547" y="55547"/>
                  <a:pt x="55547" y="64805"/>
                  <a:pt x="55547" y="64805"/>
                </a:cubicBezTo>
                <a:lnTo>
                  <a:pt x="55547" y="175900"/>
                </a:lnTo>
                <a:cubicBezTo>
                  <a:pt x="55547" y="185158"/>
                  <a:pt x="64805" y="185158"/>
                  <a:pt x="64805" y="185158"/>
                </a:cubicBezTo>
                <a:lnTo>
                  <a:pt x="157384" y="185158"/>
                </a:lnTo>
                <a:cubicBezTo>
                  <a:pt x="166642" y="185158"/>
                  <a:pt x="166642" y="175900"/>
                  <a:pt x="166642" y="175900"/>
                </a:cubicBezTo>
                <a:lnTo>
                  <a:pt x="166642" y="64805"/>
                </a:lnTo>
                <a:cubicBezTo>
                  <a:pt x="166642" y="55547"/>
                  <a:pt x="157384" y="55547"/>
                  <a:pt x="157384" y="55547"/>
                </a:cubicBezTo>
                <a:lnTo>
                  <a:pt x="64805" y="55547"/>
                </a:lnTo>
                <a:moveTo>
                  <a:pt x="92579" y="92579"/>
                </a:moveTo>
                <a:lnTo>
                  <a:pt x="129611" y="92579"/>
                </a:lnTo>
                <a:moveTo>
                  <a:pt x="92579" y="129611"/>
                </a:moveTo>
                <a:lnTo>
                  <a:pt x="111095" y="129611"/>
                </a:lnTo>
                <a:moveTo>
                  <a:pt x="18515" y="0"/>
                </a:moveTo>
                <a:lnTo>
                  <a:pt x="407349" y="0"/>
                </a:lnTo>
                <a:cubicBezTo>
                  <a:pt x="407349" y="0"/>
                  <a:pt x="425865" y="0"/>
                  <a:pt x="425865" y="18515"/>
                </a:cubicBezTo>
                <a:lnTo>
                  <a:pt x="425865" y="407349"/>
                </a:lnTo>
                <a:cubicBezTo>
                  <a:pt x="425865" y="407349"/>
                  <a:pt x="425865" y="425865"/>
                  <a:pt x="407349" y="425865"/>
                </a:cubicBezTo>
                <a:lnTo>
                  <a:pt x="18515" y="425865"/>
                </a:lnTo>
                <a:cubicBezTo>
                  <a:pt x="18515" y="425865"/>
                  <a:pt x="0" y="425865"/>
                  <a:pt x="0" y="407349"/>
                </a:cubicBezTo>
                <a:lnTo>
                  <a:pt x="0" y="18515"/>
                </a:lnTo>
                <a:cubicBezTo>
                  <a:pt x="0" y="18515"/>
                  <a:pt x="0" y="0"/>
                  <a:pt x="18515" y="0"/>
                </a:cubicBezTo>
              </a:path>
            </a:pathLst>
          </a:custGeom>
          <a:noFill/>
          <a:ln w="13886">
            <a:solidFill>
              <a:srgbClr val="DE8431"/>
            </a:solidFill>
          </a:ln>
        </p:spPr>
        <p:txBody>
          <a:bodyPr rtlCol="0" anchor="ctr"/>
          <a:lstStyle/>
          <a:p>
            <a:pPr algn="ctr"/>
            <a:endParaRPr sz="2700"/>
          </a:p>
        </p:txBody>
      </p:sp>
      <p:sp>
        <p:nvSpPr>
          <p:cNvPr id="21" name="Rounded Rectangle 20"/>
          <p:cNvSpPr/>
          <p:nvPr/>
        </p:nvSpPr>
        <p:spPr>
          <a:xfrm>
            <a:off x="10360493" y="6407333"/>
            <a:ext cx="622449" cy="633243"/>
          </a:xfrm>
          <a:custGeom>
            <a:avLst/>
            <a:gdLst/>
            <a:ahLst/>
            <a:cxnLst/>
            <a:rect l="0" t="0" r="0" b="0"/>
            <a:pathLst>
              <a:path w="414966" h="422162">
                <a:moveTo>
                  <a:pt x="74063" y="183309"/>
                </a:moveTo>
                <a:cubicBezTo>
                  <a:pt x="114967" y="183309"/>
                  <a:pt x="148127" y="170046"/>
                  <a:pt x="148127" y="153684"/>
                </a:cubicBezTo>
                <a:cubicBezTo>
                  <a:pt x="148127" y="137323"/>
                  <a:pt x="114967" y="124059"/>
                  <a:pt x="74063" y="124059"/>
                </a:cubicBezTo>
                <a:cubicBezTo>
                  <a:pt x="33159" y="124059"/>
                  <a:pt x="0" y="137323"/>
                  <a:pt x="0" y="153684"/>
                </a:cubicBezTo>
                <a:cubicBezTo>
                  <a:pt x="0" y="170046"/>
                  <a:pt x="33159" y="183309"/>
                  <a:pt x="74063" y="183309"/>
                </a:cubicBezTo>
                <a:close/>
                <a:moveTo>
                  <a:pt x="0" y="153681"/>
                </a:moveTo>
                <a:lnTo>
                  <a:pt x="0" y="272183"/>
                </a:lnTo>
                <a:cubicBezTo>
                  <a:pt x="0" y="288848"/>
                  <a:pt x="33328" y="301809"/>
                  <a:pt x="74063" y="301809"/>
                </a:cubicBezTo>
                <a:cubicBezTo>
                  <a:pt x="114798" y="301809"/>
                  <a:pt x="148127" y="288848"/>
                  <a:pt x="148127" y="272183"/>
                </a:cubicBezTo>
                <a:lnTo>
                  <a:pt x="148127" y="153681"/>
                </a:lnTo>
                <a:moveTo>
                  <a:pt x="367566" y="51350"/>
                </a:moveTo>
                <a:cubicBezTo>
                  <a:pt x="393745" y="51350"/>
                  <a:pt x="414966" y="39855"/>
                  <a:pt x="414966" y="25675"/>
                </a:cubicBezTo>
                <a:cubicBezTo>
                  <a:pt x="414966" y="11495"/>
                  <a:pt x="393745" y="0"/>
                  <a:pt x="367566" y="0"/>
                </a:cubicBezTo>
                <a:cubicBezTo>
                  <a:pt x="341388" y="0"/>
                  <a:pt x="320165" y="11495"/>
                  <a:pt x="320165" y="25675"/>
                </a:cubicBezTo>
                <a:cubicBezTo>
                  <a:pt x="320165" y="39855"/>
                  <a:pt x="341388" y="51350"/>
                  <a:pt x="367566" y="51350"/>
                </a:cubicBezTo>
                <a:close/>
                <a:moveTo>
                  <a:pt x="320165" y="25676"/>
                </a:moveTo>
                <a:lnTo>
                  <a:pt x="320165" y="92827"/>
                </a:lnTo>
                <a:cubicBezTo>
                  <a:pt x="320165" y="106652"/>
                  <a:pt x="341891" y="118502"/>
                  <a:pt x="367566" y="118502"/>
                </a:cubicBezTo>
                <a:cubicBezTo>
                  <a:pt x="393242" y="118502"/>
                  <a:pt x="414966" y="106652"/>
                  <a:pt x="414966" y="92827"/>
                </a:cubicBezTo>
                <a:lnTo>
                  <a:pt x="414966" y="25676"/>
                </a:lnTo>
                <a:moveTo>
                  <a:pt x="367566" y="205158"/>
                </a:moveTo>
                <a:cubicBezTo>
                  <a:pt x="393745" y="205158"/>
                  <a:pt x="414966" y="193661"/>
                  <a:pt x="414966" y="179482"/>
                </a:cubicBezTo>
                <a:cubicBezTo>
                  <a:pt x="414966" y="165302"/>
                  <a:pt x="393745" y="153807"/>
                  <a:pt x="367566" y="153807"/>
                </a:cubicBezTo>
                <a:cubicBezTo>
                  <a:pt x="341388" y="153807"/>
                  <a:pt x="320165" y="165302"/>
                  <a:pt x="320165" y="179482"/>
                </a:cubicBezTo>
                <a:cubicBezTo>
                  <a:pt x="320165" y="193661"/>
                  <a:pt x="341388" y="205158"/>
                  <a:pt x="367566" y="205158"/>
                </a:cubicBezTo>
                <a:close/>
                <a:moveTo>
                  <a:pt x="320165" y="179484"/>
                </a:moveTo>
                <a:lnTo>
                  <a:pt x="320165" y="246633"/>
                </a:lnTo>
                <a:cubicBezTo>
                  <a:pt x="320165" y="260459"/>
                  <a:pt x="341891" y="272309"/>
                  <a:pt x="367566" y="272309"/>
                </a:cubicBezTo>
                <a:cubicBezTo>
                  <a:pt x="393242" y="272309"/>
                  <a:pt x="414966" y="260459"/>
                  <a:pt x="414966" y="246633"/>
                </a:cubicBezTo>
                <a:lnTo>
                  <a:pt x="414966" y="179484"/>
                </a:lnTo>
                <a:moveTo>
                  <a:pt x="367566" y="355011"/>
                </a:moveTo>
                <a:cubicBezTo>
                  <a:pt x="393745" y="355011"/>
                  <a:pt x="414966" y="343516"/>
                  <a:pt x="414966" y="329335"/>
                </a:cubicBezTo>
                <a:cubicBezTo>
                  <a:pt x="414966" y="315155"/>
                  <a:pt x="393745" y="303660"/>
                  <a:pt x="367566" y="303660"/>
                </a:cubicBezTo>
                <a:cubicBezTo>
                  <a:pt x="341388" y="303660"/>
                  <a:pt x="320165" y="315155"/>
                  <a:pt x="320165" y="329335"/>
                </a:cubicBezTo>
                <a:cubicBezTo>
                  <a:pt x="320165" y="343516"/>
                  <a:pt x="341388" y="355011"/>
                  <a:pt x="367566" y="355011"/>
                </a:cubicBezTo>
                <a:close/>
                <a:moveTo>
                  <a:pt x="320165" y="329336"/>
                </a:moveTo>
                <a:lnTo>
                  <a:pt x="320165" y="396488"/>
                </a:lnTo>
                <a:cubicBezTo>
                  <a:pt x="320165" y="410312"/>
                  <a:pt x="341891" y="422162"/>
                  <a:pt x="367566" y="422162"/>
                </a:cubicBezTo>
                <a:cubicBezTo>
                  <a:pt x="393242" y="422162"/>
                  <a:pt x="414966" y="410312"/>
                  <a:pt x="414966" y="396488"/>
                </a:cubicBezTo>
                <a:lnTo>
                  <a:pt x="414966" y="329336"/>
                </a:lnTo>
                <a:moveTo>
                  <a:pt x="275808" y="57399"/>
                </a:moveTo>
                <a:lnTo>
                  <a:pt x="238777" y="57399"/>
                </a:lnTo>
                <a:lnTo>
                  <a:pt x="238777" y="364763"/>
                </a:lnTo>
                <a:lnTo>
                  <a:pt x="275808" y="364763"/>
                </a:lnTo>
                <a:moveTo>
                  <a:pt x="275808" y="211081"/>
                </a:moveTo>
                <a:lnTo>
                  <a:pt x="192487" y="211081"/>
                </a:lnTo>
                <a:moveTo>
                  <a:pt x="0" y="213509"/>
                </a:moveTo>
                <a:cubicBezTo>
                  <a:pt x="0" y="229169"/>
                  <a:pt x="32027" y="241980"/>
                  <a:pt x="74063" y="241980"/>
                </a:cubicBezTo>
                <a:cubicBezTo>
                  <a:pt x="116100" y="241980"/>
                  <a:pt x="148127" y="229169"/>
                  <a:pt x="148127" y="213509"/>
                </a:cubicBezTo>
              </a:path>
            </a:pathLst>
          </a:custGeom>
          <a:noFill/>
          <a:ln w="13886">
            <a:solidFill>
              <a:srgbClr val="1EABDA"/>
            </a:solidFill>
          </a:ln>
        </p:spPr>
        <p:txBody>
          <a:bodyPr rtlCol="0" anchor="ctr"/>
          <a:lstStyle/>
          <a:p>
            <a:pPr algn="ctr"/>
            <a:endParaRPr sz="2700"/>
          </a:p>
        </p:txBody>
      </p:sp>
      <p:sp>
        <p:nvSpPr>
          <p:cNvPr id="22" name="TextBox 21"/>
          <p:cNvSpPr txBox="1"/>
          <p:nvPr/>
        </p:nvSpPr>
        <p:spPr>
          <a:xfrm>
            <a:off x="5278656" y="6796043"/>
            <a:ext cx="1126911" cy="646331"/>
          </a:xfrm>
          <a:prstGeom prst="rect">
            <a:avLst/>
          </a:prstGeom>
          <a:noFill/>
          <a:ln>
            <a:noFill/>
          </a:ln>
        </p:spPr>
        <p:txBody>
          <a:bodyPr wrap="none" lIns="0" tIns="0" rIns="0" bIns="0" anchor="t">
            <a:spAutoFit/>
          </a:bodyPr>
          <a:lstStyle/>
          <a:p>
            <a:pPr algn="r"/>
            <a:r>
              <a:rPr sz="2100">
                <a:solidFill>
                  <a:srgbClr val="484848"/>
                </a:solidFill>
                <a:latin typeface="Roboto"/>
              </a:rPr>
              <a:t>Real-time
Insights</a:t>
            </a:r>
          </a:p>
        </p:txBody>
      </p:sp>
      <p:sp>
        <p:nvSpPr>
          <p:cNvPr id="23" name="Rounded Rectangle 22"/>
          <p:cNvSpPr/>
          <p:nvPr/>
        </p:nvSpPr>
        <p:spPr>
          <a:xfrm>
            <a:off x="8516381" y="7268169"/>
            <a:ext cx="641997" cy="641238"/>
          </a:xfrm>
          <a:custGeom>
            <a:avLst/>
            <a:gdLst/>
            <a:ahLst/>
            <a:cxnLst/>
            <a:rect l="0" t="0" r="0" b="0"/>
            <a:pathLst>
              <a:path w="427998" h="427492">
                <a:moveTo>
                  <a:pt x="244287" y="286959"/>
                </a:moveTo>
                <a:lnTo>
                  <a:pt x="427998" y="286959"/>
                </a:lnTo>
                <a:moveTo>
                  <a:pt x="0" y="0"/>
                </a:moveTo>
                <a:moveTo>
                  <a:pt x="308619" y="286959"/>
                </a:moveTo>
                <a:lnTo>
                  <a:pt x="308619" y="264810"/>
                </a:lnTo>
                <a:cubicBezTo>
                  <a:pt x="308619" y="254584"/>
                  <a:pt x="316908" y="246294"/>
                  <a:pt x="327135" y="246294"/>
                </a:cubicBezTo>
                <a:lnTo>
                  <a:pt x="345147" y="246294"/>
                </a:lnTo>
                <a:cubicBezTo>
                  <a:pt x="355373" y="246294"/>
                  <a:pt x="363663" y="254584"/>
                  <a:pt x="363663" y="264810"/>
                </a:cubicBezTo>
                <a:lnTo>
                  <a:pt x="363663" y="286959"/>
                </a:lnTo>
                <a:moveTo>
                  <a:pt x="0" y="0"/>
                </a:moveTo>
                <a:moveTo>
                  <a:pt x="387893" y="427492"/>
                </a:moveTo>
                <a:lnTo>
                  <a:pt x="284392" y="427492"/>
                </a:lnTo>
                <a:lnTo>
                  <a:pt x="265877" y="286959"/>
                </a:lnTo>
                <a:lnTo>
                  <a:pt x="406408" y="286959"/>
                </a:lnTo>
                <a:close/>
                <a:moveTo>
                  <a:pt x="192637" y="322407"/>
                </a:moveTo>
                <a:lnTo>
                  <a:pt x="35515" y="322407"/>
                </a:lnTo>
                <a:cubicBezTo>
                  <a:pt x="24928" y="322407"/>
                  <a:pt x="16382" y="313862"/>
                  <a:pt x="16382" y="303275"/>
                </a:cubicBezTo>
                <a:lnTo>
                  <a:pt x="16382" y="36022"/>
                </a:lnTo>
                <a:cubicBezTo>
                  <a:pt x="16382" y="25434"/>
                  <a:pt x="24928" y="16888"/>
                  <a:pt x="35515" y="16888"/>
                </a:cubicBezTo>
                <a:lnTo>
                  <a:pt x="226851" y="16888"/>
                </a:lnTo>
                <a:cubicBezTo>
                  <a:pt x="231826" y="16888"/>
                  <a:pt x="236673" y="18801"/>
                  <a:pt x="240245" y="22373"/>
                </a:cubicBezTo>
                <a:lnTo>
                  <a:pt x="278512" y="59109"/>
                </a:lnTo>
                <a:cubicBezTo>
                  <a:pt x="282211" y="62681"/>
                  <a:pt x="284252" y="67656"/>
                  <a:pt x="284252" y="72758"/>
                </a:cubicBezTo>
                <a:lnTo>
                  <a:pt x="284252" y="198379"/>
                </a:lnTo>
                <a:moveTo>
                  <a:pt x="79198" y="82399"/>
                </a:moveTo>
                <a:lnTo>
                  <a:pt x="190522" y="82399"/>
                </a:lnTo>
                <a:moveTo>
                  <a:pt x="79198" y="160386"/>
                </a:moveTo>
                <a:lnTo>
                  <a:pt x="223384" y="160386"/>
                </a:lnTo>
              </a:path>
            </a:pathLst>
          </a:custGeom>
          <a:noFill/>
          <a:ln w="13886">
            <a:solidFill>
              <a:srgbClr val="E55753"/>
            </a:solidFill>
          </a:ln>
        </p:spPr>
        <p:txBody>
          <a:bodyPr rtlCol="0" anchor="ctr"/>
          <a:lstStyle/>
          <a:p>
            <a:pPr algn="ctr"/>
            <a:endParaRPr sz="2700"/>
          </a:p>
        </p:txBody>
      </p:sp>
      <p:sp>
        <p:nvSpPr>
          <p:cNvPr id="24" name="TextBox 23"/>
          <p:cNvSpPr txBox="1"/>
          <p:nvPr/>
        </p:nvSpPr>
        <p:spPr>
          <a:xfrm>
            <a:off x="11293763" y="6796043"/>
            <a:ext cx="1585370" cy="646331"/>
          </a:xfrm>
          <a:prstGeom prst="rect">
            <a:avLst/>
          </a:prstGeom>
          <a:noFill/>
          <a:ln>
            <a:noFill/>
          </a:ln>
        </p:spPr>
        <p:txBody>
          <a:bodyPr wrap="none" lIns="0" tIns="0" rIns="0" bIns="0" anchor="t">
            <a:spAutoFit/>
          </a:bodyPr>
          <a:lstStyle/>
          <a:p>
            <a:pPr algn="l"/>
            <a:r>
              <a:rPr sz="2100">
                <a:solidFill>
                  <a:srgbClr val="484848"/>
                </a:solidFill>
                <a:latin typeface="Roboto"/>
              </a:rPr>
              <a:t>Data
Management</a:t>
            </a:r>
          </a:p>
        </p:txBody>
      </p:sp>
      <p:sp>
        <p:nvSpPr>
          <p:cNvPr id="25" name="TextBox 24"/>
          <p:cNvSpPr txBox="1"/>
          <p:nvPr/>
        </p:nvSpPr>
        <p:spPr>
          <a:xfrm>
            <a:off x="6648124" y="9213117"/>
            <a:ext cx="4991751" cy="415498"/>
          </a:xfrm>
          <a:prstGeom prst="rect">
            <a:avLst/>
          </a:prstGeom>
          <a:noFill/>
          <a:ln>
            <a:noFill/>
          </a:ln>
        </p:spPr>
        <p:txBody>
          <a:bodyPr wrap="none" lIns="0" tIns="0" rIns="0" bIns="0" anchor="t">
            <a:spAutoFit/>
          </a:bodyPr>
          <a:lstStyle/>
          <a:p>
            <a:pPr algn="ctr"/>
            <a:r>
              <a:rPr sz="2700" b="1" dirty="0">
                <a:solidFill>
                  <a:srgbClr val="484848"/>
                </a:solidFill>
                <a:latin typeface="Roboto"/>
              </a:rPr>
              <a:t>Goals of the Low-Code Platform</a:t>
            </a:r>
          </a:p>
        </p:txBody>
      </p:sp>
      <p:sp>
        <p:nvSpPr>
          <p:cNvPr id="26" name="TextBox 25"/>
          <p:cNvSpPr txBox="1"/>
          <p:nvPr/>
        </p:nvSpPr>
        <p:spPr>
          <a:xfrm>
            <a:off x="4684153" y="4463041"/>
            <a:ext cx="1221488" cy="323165"/>
          </a:xfrm>
          <a:prstGeom prst="rect">
            <a:avLst/>
          </a:prstGeom>
          <a:noFill/>
          <a:ln>
            <a:noFill/>
          </a:ln>
        </p:spPr>
        <p:txBody>
          <a:bodyPr wrap="none" lIns="0" tIns="0" rIns="0" bIns="0" anchor="t">
            <a:spAutoFit/>
          </a:bodyPr>
          <a:lstStyle/>
          <a:p>
            <a:pPr algn="r"/>
            <a:r>
              <a:rPr sz="2100">
                <a:solidFill>
                  <a:srgbClr val="484848"/>
                </a:solidFill>
                <a:latin typeface="Roboto"/>
              </a:rPr>
              <a:t>Scalability</a:t>
            </a:r>
          </a:p>
        </p:txBody>
      </p:sp>
      <p:sp>
        <p:nvSpPr>
          <p:cNvPr id="29" name="TextBox 2">
            <a:extLst>
              <a:ext uri="{FF2B5EF4-FFF2-40B4-BE49-F238E27FC236}">
                <a16:creationId xmlns:a16="http://schemas.microsoft.com/office/drawing/2014/main" id="{0873E283-116B-C602-3DED-2561F1376029}"/>
              </a:ext>
            </a:extLst>
          </p:cNvPr>
          <p:cNvSpPr txBox="1"/>
          <p:nvPr/>
        </p:nvSpPr>
        <p:spPr>
          <a:xfrm>
            <a:off x="1295400" y="1769901"/>
            <a:ext cx="6226802" cy="951094"/>
          </a:xfrm>
          <a:prstGeom prst="rect">
            <a:avLst/>
          </a:prstGeom>
        </p:spPr>
        <p:txBody>
          <a:bodyPr wrap="square" lIns="0" tIns="0" rIns="0" bIns="0" rtlCol="0" anchor="t">
            <a:spAutoFit/>
          </a:bodyPr>
          <a:lstStyle/>
          <a:p>
            <a:pPr>
              <a:lnSpc>
                <a:spcPts val="8910"/>
              </a:lnSpc>
            </a:pPr>
            <a:r>
              <a:rPr lang="en-US" sz="3000" b="1" dirty="0">
                <a:solidFill>
                  <a:srgbClr val="28568A"/>
                </a:solidFill>
                <a:latin typeface="Montserrat Bold"/>
                <a:ea typeface="Montserrat Bold"/>
                <a:cs typeface="Montserrat Bold"/>
                <a:sym typeface="Montserrat Bold"/>
              </a:rPr>
              <a:t>Objectives</a:t>
            </a:r>
          </a:p>
        </p:txBody>
      </p:sp>
      <p:sp>
        <p:nvSpPr>
          <p:cNvPr id="28" name="Freeform 3">
            <a:extLst>
              <a:ext uri="{FF2B5EF4-FFF2-40B4-BE49-F238E27FC236}">
                <a16:creationId xmlns:a16="http://schemas.microsoft.com/office/drawing/2014/main" id="{42DCE3FD-7E6B-09E9-F912-CF1868E44C6E}"/>
              </a:ext>
            </a:extLst>
          </p:cNvPr>
          <p:cNvSpPr/>
          <p:nvPr/>
        </p:nvSpPr>
        <p:spPr>
          <a:xfrm>
            <a:off x="1028700" y="-38100"/>
            <a:ext cx="16320998" cy="1920289"/>
          </a:xfrm>
          <a:custGeom>
            <a:avLst/>
            <a:gdLst/>
            <a:ahLst/>
            <a:cxnLst/>
            <a:rect l="l" t="t" r="r" b="b"/>
            <a:pathLst>
              <a:path w="16320998" h="1920289">
                <a:moveTo>
                  <a:pt x="0" y="0"/>
                </a:moveTo>
                <a:lnTo>
                  <a:pt x="16320998" y="0"/>
                </a:lnTo>
                <a:lnTo>
                  <a:pt x="16320998" y="1920289"/>
                </a:lnTo>
                <a:lnTo>
                  <a:pt x="0" y="1920289"/>
                </a:lnTo>
                <a:lnTo>
                  <a:pt x="0" y="0"/>
                </a:lnTo>
                <a:close/>
              </a:path>
            </a:pathLst>
          </a:custGeom>
          <a:blipFill>
            <a:blip r:embed="rId2"/>
            <a:stretch>
              <a:fillRect t="-7883" b="-19605"/>
            </a:stretch>
          </a:blipFill>
        </p:spPr>
        <p:txBody>
          <a:bodyPr/>
          <a:lstStyle/>
          <a:p>
            <a:endParaRPr lang="en-IN"/>
          </a:p>
        </p:txBody>
      </p:sp>
      <p:sp>
        <p:nvSpPr>
          <p:cNvPr id="30" name="Freeform 2">
            <a:extLst>
              <a:ext uri="{FF2B5EF4-FFF2-40B4-BE49-F238E27FC236}">
                <a16:creationId xmlns:a16="http://schemas.microsoft.com/office/drawing/2014/main" id="{8C845D8E-2A6D-832A-7C70-65506A880B26}"/>
              </a:ext>
            </a:extLst>
          </p:cNvPr>
          <p:cNvSpPr/>
          <p:nvPr/>
        </p:nvSpPr>
        <p:spPr>
          <a:xfrm flipH="1">
            <a:off x="11895947" y="6126972"/>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028700" y="392073"/>
            <a:ext cx="16320998" cy="1965309"/>
          </a:xfrm>
          <a:custGeom>
            <a:avLst/>
            <a:gdLst/>
            <a:ahLst/>
            <a:cxnLst/>
            <a:rect l="l" t="t" r="r" b="b"/>
            <a:pathLst>
              <a:path w="16320998" h="1965309">
                <a:moveTo>
                  <a:pt x="0" y="0"/>
                </a:moveTo>
                <a:lnTo>
                  <a:pt x="16320998" y="0"/>
                </a:lnTo>
                <a:lnTo>
                  <a:pt x="16320998" y="1965309"/>
                </a:lnTo>
                <a:lnTo>
                  <a:pt x="0" y="1965309"/>
                </a:lnTo>
                <a:lnTo>
                  <a:pt x="0" y="0"/>
                </a:lnTo>
                <a:close/>
              </a:path>
            </a:pathLst>
          </a:custGeom>
          <a:blipFill>
            <a:blip r:embed="rId4"/>
            <a:stretch>
              <a:fillRect t="-5411" b="-19156"/>
            </a:stretch>
          </a:blipFill>
        </p:spPr>
        <p:txBody>
          <a:bodyPr/>
          <a:lstStyle/>
          <a:p>
            <a:endParaRPr lang="en-IN"/>
          </a:p>
        </p:txBody>
      </p:sp>
      <p:sp>
        <p:nvSpPr>
          <p:cNvPr id="4" name="TextBox 2">
            <a:extLst>
              <a:ext uri="{FF2B5EF4-FFF2-40B4-BE49-F238E27FC236}">
                <a16:creationId xmlns:a16="http://schemas.microsoft.com/office/drawing/2014/main" id="{2BDAF48B-75DE-17DB-2FCE-3378EB037A50}"/>
              </a:ext>
            </a:extLst>
          </p:cNvPr>
          <p:cNvSpPr txBox="1"/>
          <p:nvPr/>
        </p:nvSpPr>
        <p:spPr>
          <a:xfrm>
            <a:off x="609600" y="2628900"/>
            <a:ext cx="3679922" cy="668837"/>
          </a:xfrm>
          <a:prstGeom prst="rect">
            <a:avLst/>
          </a:prstGeom>
        </p:spPr>
        <p:txBody>
          <a:bodyPr wrap="square" lIns="0" tIns="0" rIns="0" bIns="0" rtlCol="0" anchor="t">
            <a:spAutoFit/>
          </a:bodyPr>
          <a:lstStyle/>
          <a:p>
            <a:pPr algn="l">
              <a:lnSpc>
                <a:spcPts val="5940"/>
              </a:lnSpc>
            </a:pPr>
            <a:r>
              <a:rPr lang="en-US" sz="3200" b="1" dirty="0">
                <a:solidFill>
                  <a:srgbClr val="28568A"/>
                </a:solidFill>
                <a:latin typeface="Montserrat Bold"/>
                <a:ea typeface="Montserrat Bold"/>
                <a:cs typeface="Montserrat Bold"/>
                <a:sym typeface="Montserrat Bold"/>
              </a:rPr>
              <a:t>Findings</a:t>
            </a:r>
          </a:p>
        </p:txBody>
      </p:sp>
      <p:sp>
        <p:nvSpPr>
          <p:cNvPr id="6" name="TextBox 5">
            <a:extLst>
              <a:ext uri="{FF2B5EF4-FFF2-40B4-BE49-F238E27FC236}">
                <a16:creationId xmlns:a16="http://schemas.microsoft.com/office/drawing/2014/main" id="{2E77FA72-B5A9-7B3C-3E21-AB424FFDB607}"/>
              </a:ext>
            </a:extLst>
          </p:cNvPr>
          <p:cNvSpPr txBox="1"/>
          <p:nvPr/>
        </p:nvSpPr>
        <p:spPr>
          <a:xfrm>
            <a:off x="609600" y="3572942"/>
            <a:ext cx="15163800" cy="3785652"/>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research, it was observed that many MSMEs face difficulties in using complex business software due to lack of technical skills and high implementation costs. Most small business owners prefer solutions that are easy to use, low-cost, and time-saving.</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Studies and surveys show that digital tools can increase productivity, improve record management, and support better decision-making. A low-code platform significantly reduces development time and allows non-technical users to create customized applications based on their business needs.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analysis indicates that features like simple UI, mobile accessibility, and automation can greatly improve operational efficiency in small businesses.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94E5-9161-362C-B71F-641C0D0C7606}"/>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105808D3-6192-F318-B172-90D2A6A9396B}"/>
              </a:ext>
            </a:extLst>
          </p:cNvPr>
          <p:cNvSpPr/>
          <p:nvPr/>
        </p:nvSpPr>
        <p:spPr>
          <a:xfrm>
            <a:off x="1028700" y="392073"/>
            <a:ext cx="16320998" cy="1965309"/>
          </a:xfrm>
          <a:custGeom>
            <a:avLst/>
            <a:gdLst/>
            <a:ahLst/>
            <a:cxnLst/>
            <a:rect l="l" t="t" r="r" b="b"/>
            <a:pathLst>
              <a:path w="16320998" h="1965309">
                <a:moveTo>
                  <a:pt x="0" y="0"/>
                </a:moveTo>
                <a:lnTo>
                  <a:pt x="16320998" y="0"/>
                </a:lnTo>
                <a:lnTo>
                  <a:pt x="16320998" y="1965309"/>
                </a:lnTo>
                <a:lnTo>
                  <a:pt x="0" y="1965309"/>
                </a:lnTo>
                <a:lnTo>
                  <a:pt x="0" y="0"/>
                </a:lnTo>
                <a:close/>
              </a:path>
            </a:pathLst>
          </a:custGeom>
          <a:blipFill>
            <a:blip r:embed="rId2"/>
            <a:stretch>
              <a:fillRect t="-5411" b="-19156"/>
            </a:stretch>
          </a:blipFill>
        </p:spPr>
        <p:txBody>
          <a:bodyPr/>
          <a:lstStyle/>
          <a:p>
            <a:endParaRPr lang="en-IN"/>
          </a:p>
        </p:txBody>
      </p:sp>
      <p:pic>
        <p:nvPicPr>
          <p:cNvPr id="7" name="Picture 2">
            <a:extLst>
              <a:ext uri="{FF2B5EF4-FFF2-40B4-BE49-F238E27FC236}">
                <a16:creationId xmlns:a16="http://schemas.microsoft.com/office/drawing/2014/main" id="{B2C6CAD0-1AD5-45FA-F94A-2E3A02630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57400"/>
            <a:ext cx="17038320" cy="82296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3151BED-C815-755D-D88E-555BE8752D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06600" y="9747269"/>
            <a:ext cx="1267002" cy="295316"/>
          </a:xfrm>
          <a:prstGeom prst="rect">
            <a:avLst/>
          </a:prstGeom>
        </p:spPr>
      </p:pic>
      <p:sp>
        <p:nvSpPr>
          <p:cNvPr id="8" name="Freeform 2">
            <a:extLst>
              <a:ext uri="{FF2B5EF4-FFF2-40B4-BE49-F238E27FC236}">
                <a16:creationId xmlns:a16="http://schemas.microsoft.com/office/drawing/2014/main" id="{2D475DC2-8223-640F-6AF9-210EA34137F2}"/>
              </a:ext>
            </a:extLst>
          </p:cNvPr>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Tree>
    <p:extLst>
      <p:ext uri="{BB962C8B-B14F-4D97-AF65-F5344CB8AC3E}">
        <p14:creationId xmlns:p14="http://schemas.microsoft.com/office/powerpoint/2010/main" val="216709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1507A-730C-F4EC-BB34-14FE7790580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2E20878-2A17-C856-2ABA-B5F8FB748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57355" y="8953500"/>
            <a:ext cx="2286000" cy="532826"/>
          </a:xfrm>
          <a:prstGeom prst="rect">
            <a:avLst/>
          </a:prstGeom>
        </p:spPr>
      </p:pic>
      <p:sp>
        <p:nvSpPr>
          <p:cNvPr id="15" name="TextBox 2">
            <a:extLst>
              <a:ext uri="{FF2B5EF4-FFF2-40B4-BE49-F238E27FC236}">
                <a16:creationId xmlns:a16="http://schemas.microsoft.com/office/drawing/2014/main" id="{08ECD91E-702D-BC13-C90D-6232362D6B75}"/>
              </a:ext>
            </a:extLst>
          </p:cNvPr>
          <p:cNvSpPr txBox="1"/>
          <p:nvPr/>
        </p:nvSpPr>
        <p:spPr>
          <a:xfrm>
            <a:off x="1050823" y="2533443"/>
            <a:ext cx="4834617" cy="668837"/>
          </a:xfrm>
          <a:prstGeom prst="rect">
            <a:avLst/>
          </a:prstGeom>
        </p:spPr>
        <p:txBody>
          <a:bodyPr wrap="square" lIns="0" tIns="0" rIns="0" bIns="0" rtlCol="0" anchor="t">
            <a:spAutoFit/>
          </a:bodyPr>
          <a:lstStyle/>
          <a:p>
            <a:pPr algn="l">
              <a:lnSpc>
                <a:spcPts val="5940"/>
              </a:lnSpc>
            </a:pPr>
            <a:r>
              <a:rPr lang="en-US" sz="3200" b="1" dirty="0">
                <a:solidFill>
                  <a:srgbClr val="28568A"/>
                </a:solidFill>
                <a:latin typeface="Montserrat Bold"/>
                <a:ea typeface="Montserrat Bold"/>
                <a:cs typeface="Montserrat Bold"/>
                <a:sym typeface="Montserrat Bold"/>
              </a:rPr>
              <a:t>Project Technology</a:t>
            </a:r>
          </a:p>
        </p:txBody>
      </p:sp>
      <p:pic>
        <p:nvPicPr>
          <p:cNvPr id="16" name="Picture 2">
            <a:extLst>
              <a:ext uri="{FF2B5EF4-FFF2-40B4-BE49-F238E27FC236}">
                <a16:creationId xmlns:a16="http://schemas.microsoft.com/office/drawing/2014/main" id="{BB1AF6ED-58D1-21B1-0023-5A37242F45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078262"/>
            <a:ext cx="13716000" cy="5875238"/>
          </a:xfrm>
          <a:prstGeom prst="rect">
            <a:avLst/>
          </a:prstGeom>
          <a:noFill/>
          <a:extLst>
            <a:ext uri="{909E8E84-426E-40DD-AFC4-6F175D3DCCD1}">
              <a14:hiddenFill xmlns:a14="http://schemas.microsoft.com/office/drawing/2010/main">
                <a:solidFill>
                  <a:srgbClr val="FFFFFF"/>
                </a:solidFill>
              </a14:hiddenFill>
            </a:ext>
          </a:extLst>
        </p:spPr>
      </p:pic>
      <p:sp>
        <p:nvSpPr>
          <p:cNvPr id="17" name="Freeform 2">
            <a:extLst>
              <a:ext uri="{FF2B5EF4-FFF2-40B4-BE49-F238E27FC236}">
                <a16:creationId xmlns:a16="http://schemas.microsoft.com/office/drawing/2014/main" id="{8F802131-C6A0-416A-02CD-5CC28051B539}"/>
              </a:ext>
            </a:extLst>
          </p:cNvPr>
          <p:cNvSpPr/>
          <p:nvPr/>
        </p:nvSpPr>
        <p:spPr>
          <a:xfrm flipH="1">
            <a:off x="11895947" y="6126972"/>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9" name="Freeform 3">
            <a:extLst>
              <a:ext uri="{FF2B5EF4-FFF2-40B4-BE49-F238E27FC236}">
                <a16:creationId xmlns:a16="http://schemas.microsoft.com/office/drawing/2014/main" id="{4D8627C8-2079-31FE-DAB4-57FCF86F7859}"/>
              </a:ext>
            </a:extLst>
          </p:cNvPr>
          <p:cNvSpPr/>
          <p:nvPr/>
        </p:nvSpPr>
        <p:spPr>
          <a:xfrm>
            <a:off x="1028700" y="392073"/>
            <a:ext cx="16320998" cy="1965309"/>
          </a:xfrm>
          <a:custGeom>
            <a:avLst/>
            <a:gdLst/>
            <a:ahLst/>
            <a:cxnLst/>
            <a:rect l="l" t="t" r="r" b="b"/>
            <a:pathLst>
              <a:path w="16320998" h="1965309">
                <a:moveTo>
                  <a:pt x="0" y="0"/>
                </a:moveTo>
                <a:lnTo>
                  <a:pt x="16320998" y="0"/>
                </a:lnTo>
                <a:lnTo>
                  <a:pt x="16320998" y="1965309"/>
                </a:lnTo>
                <a:lnTo>
                  <a:pt x="0" y="1965309"/>
                </a:lnTo>
                <a:lnTo>
                  <a:pt x="0" y="0"/>
                </a:lnTo>
                <a:close/>
              </a:path>
            </a:pathLst>
          </a:custGeom>
          <a:blipFill>
            <a:blip r:embed="rId6"/>
            <a:stretch>
              <a:fillRect t="-5411" b="-19156"/>
            </a:stretch>
          </a:blipFill>
        </p:spPr>
        <p:txBody>
          <a:bodyPr/>
          <a:lstStyle/>
          <a:p>
            <a:endParaRPr lang="en-IN"/>
          </a:p>
        </p:txBody>
      </p:sp>
      <p:pic>
        <p:nvPicPr>
          <p:cNvPr id="21" name="Picture 20">
            <a:extLst>
              <a:ext uri="{FF2B5EF4-FFF2-40B4-BE49-F238E27FC236}">
                <a16:creationId xmlns:a16="http://schemas.microsoft.com/office/drawing/2014/main" id="{14D8085D-C79D-2E71-6D31-984F499F2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06832" y="8360897"/>
            <a:ext cx="1873045" cy="436574"/>
          </a:xfrm>
          <a:prstGeom prst="rect">
            <a:avLst/>
          </a:prstGeom>
        </p:spPr>
      </p:pic>
    </p:spTree>
    <p:extLst>
      <p:ext uri="{BB962C8B-B14F-4D97-AF65-F5344CB8AC3E}">
        <p14:creationId xmlns:p14="http://schemas.microsoft.com/office/powerpoint/2010/main" val="4057392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3679-D0D8-7BE9-2ED0-2DA6BD4CDFDC}"/>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328A71A7-EFE3-5A6E-1F20-4938464AE6EC}"/>
              </a:ext>
            </a:extLst>
          </p:cNvPr>
          <p:cNvSpPr/>
          <p:nvPr/>
        </p:nvSpPr>
        <p:spPr>
          <a:xfrm>
            <a:off x="2796544" y="176734"/>
            <a:ext cx="12459329" cy="1303016"/>
          </a:xfrm>
          <a:custGeom>
            <a:avLst/>
            <a:gdLst/>
            <a:ahLst/>
            <a:cxnLst/>
            <a:rect l="l" t="t" r="r" b="b"/>
            <a:pathLst>
              <a:path w="16320998" h="1897779">
                <a:moveTo>
                  <a:pt x="0" y="0"/>
                </a:moveTo>
                <a:lnTo>
                  <a:pt x="16320998" y="0"/>
                </a:lnTo>
                <a:lnTo>
                  <a:pt x="16320998" y="1897779"/>
                </a:lnTo>
                <a:lnTo>
                  <a:pt x="0" y="1897779"/>
                </a:lnTo>
                <a:lnTo>
                  <a:pt x="0" y="0"/>
                </a:lnTo>
                <a:close/>
              </a:path>
            </a:pathLst>
          </a:custGeom>
          <a:blipFill>
            <a:blip r:embed="rId2"/>
            <a:stretch>
              <a:fillRect t="-9162" b="-19837"/>
            </a:stretch>
          </a:blipFill>
        </p:spPr>
        <p:txBody>
          <a:bodyPr/>
          <a:lstStyle/>
          <a:p>
            <a:pPr algn="ctr"/>
            <a:endParaRPr lang="en-IN" sz="2700" dirty="0"/>
          </a:p>
        </p:txBody>
      </p:sp>
      <p:pic>
        <p:nvPicPr>
          <p:cNvPr id="4" name="Picture 3">
            <a:extLst>
              <a:ext uri="{FF2B5EF4-FFF2-40B4-BE49-F238E27FC236}">
                <a16:creationId xmlns:a16="http://schemas.microsoft.com/office/drawing/2014/main" id="{904E4AD4-FD0C-5416-0C8F-B43B4F9DC9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7800" y="9029700"/>
            <a:ext cx="1829055" cy="390580"/>
          </a:xfrm>
          <a:prstGeom prst="rect">
            <a:avLst/>
          </a:prstGeom>
        </p:spPr>
      </p:pic>
      <p:pic>
        <p:nvPicPr>
          <p:cNvPr id="9" name="Picture 8">
            <a:extLst>
              <a:ext uri="{FF2B5EF4-FFF2-40B4-BE49-F238E27FC236}">
                <a16:creationId xmlns:a16="http://schemas.microsoft.com/office/drawing/2014/main" id="{56B337C8-CDE3-C354-E23C-CF7B734EBA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9155" y="4549039"/>
            <a:ext cx="9525000" cy="4904425"/>
          </a:xfrm>
          <a:prstGeom prst="rect">
            <a:avLst/>
          </a:prstGeom>
        </p:spPr>
      </p:pic>
      <p:pic>
        <p:nvPicPr>
          <p:cNvPr id="11" name="Picture 10">
            <a:extLst>
              <a:ext uri="{FF2B5EF4-FFF2-40B4-BE49-F238E27FC236}">
                <a16:creationId xmlns:a16="http://schemas.microsoft.com/office/drawing/2014/main" id="{62C3F175-3309-C380-0125-676B45AD4C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800" y="2691287"/>
            <a:ext cx="9525000" cy="4904426"/>
          </a:xfrm>
          <a:prstGeom prst="rect">
            <a:avLst/>
          </a:prstGeom>
        </p:spPr>
      </p:pic>
      <p:sp>
        <p:nvSpPr>
          <p:cNvPr id="12" name="TextBox 2">
            <a:extLst>
              <a:ext uri="{FF2B5EF4-FFF2-40B4-BE49-F238E27FC236}">
                <a16:creationId xmlns:a16="http://schemas.microsoft.com/office/drawing/2014/main" id="{DC82D482-C1CB-75F8-5C83-155FD71983A3}"/>
              </a:ext>
            </a:extLst>
          </p:cNvPr>
          <p:cNvSpPr txBox="1"/>
          <p:nvPr/>
        </p:nvSpPr>
        <p:spPr>
          <a:xfrm>
            <a:off x="680884" y="1744752"/>
            <a:ext cx="5753309" cy="681533"/>
          </a:xfrm>
          <a:prstGeom prst="rect">
            <a:avLst/>
          </a:prstGeom>
        </p:spPr>
        <p:txBody>
          <a:bodyPr wrap="square" lIns="0" tIns="0" rIns="0" bIns="0" rtlCol="0" anchor="t">
            <a:spAutoFit/>
          </a:bodyPr>
          <a:lstStyle/>
          <a:p>
            <a:pPr algn="l">
              <a:lnSpc>
                <a:spcPts val="5940"/>
              </a:lnSpc>
            </a:pPr>
            <a:r>
              <a:rPr lang="en-US" sz="3600" b="1" dirty="0">
                <a:solidFill>
                  <a:srgbClr val="28568A"/>
                </a:solidFill>
                <a:latin typeface="Montserrat Bold"/>
                <a:ea typeface="Montserrat Bold"/>
                <a:cs typeface="Montserrat Bold"/>
                <a:sym typeface="Montserrat Bold"/>
              </a:rPr>
              <a:t>Business Dashboard</a:t>
            </a:r>
          </a:p>
        </p:txBody>
      </p:sp>
    </p:spTree>
    <p:extLst>
      <p:ext uri="{BB962C8B-B14F-4D97-AF65-F5344CB8AC3E}">
        <p14:creationId xmlns:p14="http://schemas.microsoft.com/office/powerpoint/2010/main" val="1203683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AD913A56-A336-6454-6A72-46C24FF01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9505" y="1937841"/>
            <a:ext cx="12039599" cy="7153275"/>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4">
            <a:extLst>
              <a:ext uri="{FF2B5EF4-FFF2-40B4-BE49-F238E27FC236}">
                <a16:creationId xmlns:a16="http://schemas.microsoft.com/office/drawing/2014/main" id="{8CDB24D6-BC17-E9FE-9AEB-DE534772B1A3}"/>
              </a:ext>
            </a:extLst>
          </p:cNvPr>
          <p:cNvSpPr/>
          <p:nvPr/>
        </p:nvSpPr>
        <p:spPr>
          <a:xfrm>
            <a:off x="2796544" y="176734"/>
            <a:ext cx="12459329" cy="1303016"/>
          </a:xfrm>
          <a:custGeom>
            <a:avLst/>
            <a:gdLst/>
            <a:ahLst/>
            <a:cxnLst/>
            <a:rect l="l" t="t" r="r" b="b"/>
            <a:pathLst>
              <a:path w="16320998" h="1897779">
                <a:moveTo>
                  <a:pt x="0" y="0"/>
                </a:moveTo>
                <a:lnTo>
                  <a:pt x="16320998" y="0"/>
                </a:lnTo>
                <a:lnTo>
                  <a:pt x="16320998" y="1897779"/>
                </a:lnTo>
                <a:lnTo>
                  <a:pt x="0" y="1897779"/>
                </a:lnTo>
                <a:lnTo>
                  <a:pt x="0" y="0"/>
                </a:lnTo>
                <a:close/>
              </a:path>
            </a:pathLst>
          </a:custGeom>
          <a:blipFill>
            <a:blip r:embed="rId3"/>
            <a:stretch>
              <a:fillRect t="-9162" b="-19837"/>
            </a:stretch>
          </a:blipFill>
        </p:spPr>
        <p:txBody>
          <a:bodyPr/>
          <a:lstStyle/>
          <a:p>
            <a:pPr algn="ctr"/>
            <a:endParaRPr lang="en-IN" sz="2700" dirty="0"/>
          </a:p>
        </p:txBody>
      </p:sp>
      <p:sp>
        <p:nvSpPr>
          <p:cNvPr id="5" name="Freeform 2">
            <a:extLst>
              <a:ext uri="{FF2B5EF4-FFF2-40B4-BE49-F238E27FC236}">
                <a16:creationId xmlns:a16="http://schemas.microsoft.com/office/drawing/2014/main" id="{77469B11-D0DF-57ED-8971-F20869D8A8B1}"/>
              </a:ext>
            </a:extLst>
          </p:cNvPr>
          <p:cNvSpPr/>
          <p:nvPr/>
        </p:nvSpPr>
        <p:spPr>
          <a:xfrm flipH="1">
            <a:off x="11895947" y="6126972"/>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pic>
        <p:nvPicPr>
          <p:cNvPr id="6" name="Picture 5">
            <a:extLst>
              <a:ext uri="{FF2B5EF4-FFF2-40B4-BE49-F238E27FC236}">
                <a16:creationId xmlns:a16="http://schemas.microsoft.com/office/drawing/2014/main" id="{EC0F9C3B-1445-E493-D68C-A0386D905F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420600" y="8558290"/>
            <a:ext cx="2286000" cy="532826"/>
          </a:xfrm>
          <a:prstGeom prst="rect">
            <a:avLst/>
          </a:prstGeom>
        </p:spPr>
      </p:pic>
    </p:spTree>
    <p:extLst>
      <p:ext uri="{BB962C8B-B14F-4D97-AF65-F5344CB8AC3E}">
        <p14:creationId xmlns:p14="http://schemas.microsoft.com/office/powerpoint/2010/main" val="1754713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00" y="2400300"/>
            <a:ext cx="5431631" cy="668837"/>
          </a:xfrm>
          <a:prstGeom prst="rect">
            <a:avLst/>
          </a:prstGeom>
        </p:spPr>
        <p:txBody>
          <a:bodyPr lIns="0" tIns="0" rIns="0" bIns="0" rtlCol="0" anchor="t">
            <a:spAutoFit/>
          </a:bodyPr>
          <a:lstStyle/>
          <a:p>
            <a:pPr algn="l">
              <a:lnSpc>
                <a:spcPts val="5940"/>
              </a:lnSpc>
            </a:pPr>
            <a:r>
              <a:rPr lang="en-US" sz="3200" b="1" dirty="0">
                <a:solidFill>
                  <a:srgbClr val="28568A"/>
                </a:solidFill>
                <a:latin typeface="Montserrat Bold"/>
                <a:ea typeface="Montserrat Bold"/>
                <a:cs typeface="Montserrat Bold"/>
                <a:sym typeface="Montserrat Bold"/>
              </a:rPr>
              <a:t>Conclusion</a:t>
            </a:r>
          </a:p>
        </p:txBody>
      </p:sp>
      <p:sp>
        <p:nvSpPr>
          <p:cNvPr id="3" name="Freeform 3"/>
          <p:cNvSpPr/>
          <p:nvPr/>
        </p:nvSpPr>
        <p:spPr>
          <a:xfrm flipH="1">
            <a:off x="11657709" y="6644975"/>
            <a:ext cx="7663164" cy="4904425"/>
          </a:xfrm>
          <a:custGeom>
            <a:avLst/>
            <a:gdLst/>
            <a:ahLst/>
            <a:cxnLst/>
            <a:rect l="l" t="t" r="r" b="b"/>
            <a:pathLst>
              <a:path w="7663164" h="4904425">
                <a:moveTo>
                  <a:pt x="7663164" y="0"/>
                </a:moveTo>
                <a:lnTo>
                  <a:pt x="0" y="0"/>
                </a:lnTo>
                <a:lnTo>
                  <a:pt x="0" y="4904425"/>
                </a:lnTo>
                <a:lnTo>
                  <a:pt x="7663164" y="4904425"/>
                </a:lnTo>
                <a:lnTo>
                  <a:pt x="766316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028700" y="345905"/>
            <a:ext cx="16320998" cy="1852759"/>
          </a:xfrm>
          <a:custGeom>
            <a:avLst/>
            <a:gdLst/>
            <a:ahLst/>
            <a:cxnLst/>
            <a:rect l="l" t="t" r="r" b="b"/>
            <a:pathLst>
              <a:path w="16320998" h="1852759">
                <a:moveTo>
                  <a:pt x="0" y="0"/>
                </a:moveTo>
                <a:lnTo>
                  <a:pt x="16320998" y="0"/>
                </a:lnTo>
                <a:lnTo>
                  <a:pt x="16320998" y="1852759"/>
                </a:lnTo>
                <a:lnTo>
                  <a:pt x="0" y="1852759"/>
                </a:lnTo>
                <a:lnTo>
                  <a:pt x="0" y="0"/>
                </a:lnTo>
                <a:close/>
              </a:path>
            </a:pathLst>
          </a:custGeom>
          <a:blipFill>
            <a:blip r:embed="rId4"/>
            <a:stretch>
              <a:fillRect t="-11815" b="-20319"/>
            </a:stretch>
          </a:blipFill>
        </p:spPr>
        <p:txBody>
          <a:bodyPr/>
          <a:lstStyle/>
          <a:p>
            <a:endParaRPr lang="en-IN"/>
          </a:p>
        </p:txBody>
      </p:sp>
      <p:sp>
        <p:nvSpPr>
          <p:cNvPr id="6" name="TextBox 5">
            <a:extLst>
              <a:ext uri="{FF2B5EF4-FFF2-40B4-BE49-F238E27FC236}">
                <a16:creationId xmlns:a16="http://schemas.microsoft.com/office/drawing/2014/main" id="{EE3E5131-BDAD-CD81-339E-3B4E149C02A6}"/>
              </a:ext>
            </a:extLst>
          </p:cNvPr>
          <p:cNvSpPr txBox="1"/>
          <p:nvPr/>
        </p:nvSpPr>
        <p:spPr>
          <a:xfrm>
            <a:off x="762000" y="3247421"/>
            <a:ext cx="14492748" cy="2677656"/>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MSME Builder is an innovative, scalable, and cost-effective low-code platform that empowers small businesses to digitize their operations with ease. By eliminating the need for advanced coding skills, the platform enables MSMEs to create customized business applications quickly and efficiently.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solution enhances productivity, improves data management, and supports sustainable growth of small enterprises. It also aligns with the vision of digital transformation and economic empowerment of MSMEs, making it highly impactful for industrial and societal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537</TotalTime>
  <Words>523</Words>
  <Application>Microsoft Office PowerPoint</Application>
  <PresentationFormat>Custom</PresentationFormat>
  <Paragraphs>54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Times New Roman</vt:lpstr>
      <vt:lpstr>Roboto</vt:lpstr>
      <vt:lpstr>Montserrat Bold</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TN-IMPACT_2026_PPT_TEMPLATE.pptx</dc:title>
  <dc:creator>Dr Sivagnanamani GS</dc:creator>
  <cp:lastModifiedBy>Nupz 29</cp:lastModifiedBy>
  <cp:revision>6</cp:revision>
  <dcterms:created xsi:type="dcterms:W3CDTF">2006-08-16T00:00:00Z</dcterms:created>
  <dcterms:modified xsi:type="dcterms:W3CDTF">2026-02-22T09:35:16Z</dcterms:modified>
  <dc:identifier>DAG9zesFr8A</dc:identifier>
</cp:coreProperties>
</file>